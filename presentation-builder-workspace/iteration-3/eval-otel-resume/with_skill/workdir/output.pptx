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"Good [morning/afternoon]. I'm going to talk about something I wish someone had told us before we started."
• "Eighteen months ago, our Datadog bill hit $720,000 a year. That's not a typo. Seven hundred twenty thousand dollars."
• "So we built an exit plan. Today I'm going to tell you how that went — the good parts, the painful parts, and the three traps we ran into that nobody warned us about."
• [PAUSE for effect]
PACING:
[~45 sec. Let the $720k number land. Don't rush through it. This is the hook.]
TRANSITION:
"But first — let me show you how we got there."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"Here's the road map for the next 25 minutes."
• "We'll start with the why — the cost story. Then the decision process. Then the migration itself, act by act."
• "The most valuable section for most of you will probably be section 4 — the three traps. Things we wish we'd known before we started."
• "And we'll close with what we'd do differently — which is the part I'd steal if I were you."
• [FOR PMs/MANAGERS:] "Even if you're not involved in the technical details, stay with us through section 4. The headcount and timeline implications are significant."
PACING:
[~30 sec. This is a quick orientation, not a sales pitch. Move through it.]
TRANSITION:
"Let's start with the invoice."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"Three years ago we were paying Datadog $180,000 a year."
• "Reasonable for the size of our platform. We knew what we were getting."
• [PAUSE] "Then something changed. Or rather — nothing changed. That's the problem."
PACING:
[~20 sec. Let this land as a mystery. The audience should be wondering: what happened?]
TRANSITION:
"Here's the moment we realized we had a problem."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"Q3 2025. Finance pulled up the infrastructure costs slide."
• "The Datadog line was $590,000. For the year. And trending upward."
• "I remember the room going quiet. Someone said: 'I thought we had a Datadog contract.' We did. We'd blown through the committed spend."
• "That afternoon we started actually looking at what we were paying for."
• [PAUSE — let the audience picture that meeting]
• "And what we found was embarrassing. We'd done it to ourselves."
PACING:
[~45 sec. This is the most personal moment in the talk. Slow down here. The pause is critical.]
TRANSITION:
"Here's the actual number."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"2023: $180k. Reasonable."
• "2024: $380k. Concerning."
• "2025: $590k. Now we're in a meeting with Finance."
• "2026 projected: $720k. And here's the kicker — nothing changed. Same services. Same traffic. Same team."
• [Point to sidebar:] "None of these grew. What grew was our metric cardinality — specifically, three tags we added in 2024: user_id, tenant_id, and request_id."
• "We added those tags for a debugging push and never removed them. Each one multiplied our time-series count. Custom metrics is priced per tag combination. You can do the math."
• [FOR MANAGERS:] "This is a billing model trap, not an OTel argument. We'll come back to this in section 4."
PACING:
[~60 sec. Walk through each bar. Pause at 2026 projected. The "nothing changed" beat is important.]
TRANSITION:
"So here's what we decided the number had to look like instead."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"Here's the headline. 10 months, not 6. 14-month payback from when we started."
• "We're not claiming this is a slam dunk. It requires headcount — real platform engineering time."
• [Point to the 65% reduction:] "That's the exit velocity. Once you're off Datadog custom metrics pricing, the cost curve inverts."
• [FOR ENGINEERING LEADERS:] "The question to ask your finance team isn't 'what does OTel cost' — it's 'what is our current vendor's cost trajectory in 24 months?' Model that out. If the line keeps going up at this angle, the math changes."
• [FOR PMs:] "I want to set expectations: this is not a low-effort project. If your platform team is under-resourced, this will slip. We slipped 4 months."
PACING:
[~75 sec. This is the business case slide. Engineering leaders need to see numbers early. Don't rush.]
TRANSITION:
"So we had the 'why.' Now we needed to figure out the 'what.' And that started with a decision: which vendor do we replace Datadog with?"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"When we decided to leave Datadog, we didn't automatically go to OTel."
• "We ran an actual evaluation. Three finalists."
• [PAUSE] "This section is short — 3 minutes — because the decision turned out not to be close."
PACING:
[~20 sec. Set the frame: this was a real evaluation, not an ideological choice.]
TRANSITION:
"New Relic almost won."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"New Relic was the runner-up. And honestly, if our only goal was 'get off Datadog fast,' we would have picked it."
• "The migration would have been maybe 3 months. The UI is familiar. The feature set is comparable."
• "But look at the right side of the cons list for New Relic: still per-ingestion pricing, still proprietary lock-in."
• "We were going to rewrite our agent instrumentation anyway — Datadog's APM tracing is non-standard. If you're doing that work, you might as well instrument to the open standard."
• [FOR MANAGERS:] "The OTel path costs more upfront but the exit ramp is cheap. If Grafana Cloud prices us out in 3 years, we can move to any OTel-compatible backend. With New Relic, we'd be having this conversation again."
PACING:
[~60 sec. Walk the comparison. Don't linger — this is context, not the main story.]
TRANSITION:
"The decision came down to three things."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"Three things. Not a long list."
• [Point to Portability:] "We were tired of instrumentation rewrites. Switching from Datadog APM to anything meant a rewrite. OTLP means we only do it once."
• [Point to Cost model:] "This was the big one. Per-sample pricing means our cost is predictable. We can add a high-cardinality label and the worst case is some extra compute — not a $100k surprise on the next invoice."
• [Point to Community:] "Three years ago this would have been a risk. Not today. The ecosystem has arrived."
• [FOR DEVS:] "The portability argument will matter to you directly — your instrumentation code won't be ripped out again in 3 years."
PACING:
[~60 sec. These three cards are the intellectual core of section 2. Give each one 15 seconds.]
TRANSITION:
"So the decision was OTel. Now we had to figure out how to actually do it."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"The decision: OTel Collector as the universal ingestion layer, Grafana Stack for storage and visualization."
• "Three backends: Tempo for traces, Mimir for metrics, Loki for logs. The same Grafana UI across all three."
• "Traces to Grafana Cloud because the volume is manageable there. Metrics to self-hosted because that's where the cost pressure was."
• "Logs to self-hosted Loki because we were already using it for Kubernetes logs — the incremental cost was minimal."
• "Simple in theory. Here's how it went in practice."
PACING:
[~45 sec. This is a transition slide. Don't over-explain — the audience will see the details in section 3.]
TRANSITION:
"The migration. Four acts. Ten months."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"The migration had four phases. We ran them sequentially — each one unlocked the next."
• "We planned 6 months. It took 10."
• [PAUSE] "I'm going to tell you exactly where the time went."
PACING:
[~20 sec.]
TRANSITION:
"Here's the timeline."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"The hollow bars are what we planned. The filled bars are what actually happened."
• "Act 1 — collector: on time. This is the easy win. DaemonSet deployment, one sprint."
• "Act 2 — traces: one month slip. Service teams had to rewrite trace instrumentation that was Datadog-APM-specific. About 3 weeks per team."
• "Act 3 — metrics: three month slip. This is where the alerting rewrite ambushed us."
• "Act 4 — logs and alerts: four month slip total. Logs were actually easy. Alerts were not."
• [FOR MANAGERS:] "The 4-month slip on logs/alerts isn't because logs are hard. It's because we got there burned out, and we hadn't budgeted the alerting rewrite."
PACING:
[~75 sec. Walk the chart row by row. The slips are the story — don't gloss over them.]
TRANSITION:
"Let's look at the collector architecture we landed on, then we'll walk each act."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"Here's the architecture we landed on. Two tiers."
• "Agent tier: a DaemonSet on every node. It receives telemetry from your services, enriches it with Kubernetes metadata, and forwards it."
• "Gateway tier: a Deployment that handles tail-based sampling and fan-out to three backends."
• [Point to backends:] "Tempo for traces, Mimir for metrics, Loki for logs. Three separate stores, one unified Grafana frontend."
• [FOR DEVS:] "The key decision here was gateway-level tail sampling. This is what allows us to keep 100% of error traces while sampling normal traffic at 1%. But it has a scaling constraint — all spans for a trace have to hit the same gateway instance."
• "You'll see that constraint again in section 4."
PACING:
[~60 sec. Walk left to right. Don't over-explain — the architecture is the setup for the per-act lessons.]
TRANSITION:
"Act 1: the collector."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"Act 1 was the good news. The collector deployed on time."
• "The Helm chart deployment was clean. We ran Datadog agent alongside the OTel collector for 6 weeks — both receiving the same telemetry — before we cut over anything."
• [Good side:] "The parallel running period was invaluable. We caught three signal differences in metric labels before we made metrics the source of truth."
• [Didn't side:] "Config sprawl was immediate. We had 6 cluster types — dev, staging, three prod tiers, and a customer-dedicated cluster. Six configs. Four of them drifted within two months."
• [FOR DEVS:] "The tail-based sampling pinning problem is real. We still don't have a clean solution. If you have a horizontally-scaled gateway and a multi-span trace, every span needs to reach the same instance. Our current answer is sticky session routing, which works but doesn't scale elegantly."
PACING:
[~90 sec. Two columns — walk left then right. The tail sampling pin problem is worth 15 seconds on its own.]
TRANSITION:
"Act 2: traces."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"Traces was the act where we realized the migration was bigger than we thought."
• "Datadog APM is not just an agent — it injects proprietary trace context. You can't just swap it out."
• [Didn't side:] "Every service team had to rewrite trace instrumentation. That's 3 weeks per team, and we had teams doing it in parallel. But it still added a month."
• [Good side:] "The silver lining: once teams were on OTLP, they loved TraceQL. It's better than Datadog's trace search for complex queries."
• [FOR DEVS:] "The B3 vs W3C headers issue caught us by surprise. If you have services using older OpenTracing SDKs, they default to B3. OTLP uses W3C. You need a conversion layer in the collector or broken distributed traces."
• "Lesson: budget 3 weeks per service team for the trace rewrite. Don't assume auto-instrumentation covers it."
PACING:
[~90 sec.]
TRANSITION:
"Act 3: metrics. This is where the real pain lived."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"Metrics was the big slip. Three months."
• "Here's the root cause: 120 Datadog monitors. We assumed they'd translate 1:1 to Prometheus alert rules. They don't."
• [Didn't side:] "The behavioral model is different. Datadog monitors have 'no data' behavior, 'as count' vs 'as rate' semantics, and threshold recovery conditions that don't map cleanly to Prometheus rules. We rebuilt them by hand and still got 15 wrong — all caught in staging, thankfully."
• [Good side:] "The cost curve flattening was real and immediate. Week 1 on Mimir, our custom metric cost went to near-zero."
• [FOR DEVS:] "Budget the alerting rewrite separately. It's 30% of the total metrics migration effort. We didn't. That's where the 3 months went."
• [FOR MANAGERS:] "The 30% alerting rewrite figure will come up again in section 4. Plan for it explicitly."
PACING:
[~90 sec.]
TRANSITION:
"Act 4: logs. This one was supposed to be hard."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"Logs were supposed to be the hardest act. They turned out to be the easiest."
• "We were already using Loki for Kubernetes system logs. Migrating OTel log records into it was essentially a config change in the collector — a Loki exporter."
• "The actual migration took 3 weeks. The 4-month slip on the overall timeline was cumulative — we got to Act 4 burned out from Acts 2 and 3."
• [Point to pipeline:] "The log collection path: fluent-bit parses log files from pods, forwards to the OTel collector agent, which forwards to the gateway, which exports to Loki. One-way flow."
• [FOR DEVS:] "The Loki label discipline is critical. We kept labels to three: namespace, app, severity. Everything else is an indexed field. If you add high-cardinality labels to Loki, you recreate the Datadog cost problem in your log store."
• "The lesson from Act 4 is about sequencing: logs should probably go before metrics. Logs are fast, metrics are slow. Reversing the order would have let us get a win earlier and reduce burnout."
PACING:
[~90 sec.]
TRANSITION:
"So the migration took 10 months. What would we have done differently if we'd known? Let me show you the three traps."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"The summary of the migration: 6 months planned, 10 actual."
• "120 alert rules rewritten by hand. That alone was 30% of the total effort."
• [Point to the dark box:] "If you take nothing else from section 3, take this: the alerting rewrite is not a migration task. It's a system rebuild. Treat it as a separate project with its own timeline and owner."
• "We did not do that. We treated it as 'a few days of work.' It was 8 weeks."
• [FOR MANAGERS:] "When you scope your migration, ask your team: 'how many alert rules do you have?' If the answer is more than 50, add 6-8 weeks to your estimate."
PACING:
[~60 sec. This is the section wrap-up. Let the dark box land. Then transition.]
TRANSITION:
"Which brings me to the three things we wish we'd known before we started."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"This section is the one I most wish existed before we started."
• "Three traps. Not theoretical — we hit every one."
• [PAUSE] "If you remember nothing else from this talk, remember this section."
PACING:
[~15 sec. Short, punchy setup.]
TRANSITION:
"Trap 1: cardinality."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"Day 14. We thought we were done with the cardinality problem. We were wrong."
• "A new service joined post-migration. Their developer added user_id as a metric label — same mistake we made with Datadog in 2024."
• [Point to code block:] "user_id times tenant count times method times status code. On a high-frequency counter, that's 765 million potential time-series. Mimir hit its cardinality limit and started dropping metrics."
• "We caught it because the alerting fired 4,000 times. But those alerts were wrong — they were firing on missing data, not real problems."
• [Point to card:] "Here's the OTel difference: it's not that OTel solves cardinality. It's that with OTel, cardinality mistakes cost compute instead of money. That's a meaningful improvement. But it's not a free pass."
• "The lesson: set per-service cardinality budgets during onboarding. Don't wait for incidents."
PACING:
[~75 sec. The story beat sets up the lesson. Walk through the code example briefly — devs will understand it, managers just need to see the scale.]
TRANSITION:
"Trap 2: sampling is harder than you think."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"Sampling sounds simple: 'just keep 10% of traces.' It's not."
• [Point to decision tree:] "Start with one question: what's your backend retention cost? Grafana Cloud charges per trace stored. If your volume is high and your service is high-frequency, tail-based sampling is the only practical option."
• [Left branch:] "Tail-based: the gateway sees the full trace before deciding whether to keep it. You can keep 100% of error traces, 100% of slow requests, and sample everything else at 1%. Powerful."
• [Right branch:] "Head-based: the decision is made at the agent — before the trace is complete. Simpler, but you're sampling blind. You'll drop some errors."
• [Point to callout card:] "Here's the trap. Tail-based sampling requires all spans of a trace to hit the same gateway instance. That means sticky routing. That means your gateway can't scale horizontally the simple way."
• [FOR DEVS:] "We use sticky routing based on trace ID hash. It works, but gateway deploys cause ~30 seconds of partial trace loss. Plan for this in your SLI definitions."
PACING:
[~75 sec. Walk the decision tree. The scaling constraint callout is the key insight.]
TRANSITION:
"And trap 3 — the one that cost us 8 weeks we didn't budget."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"We planned 3 days for the alerting migration. It took 8 weeks."
• "The reason: Datadog monitors are not Prometheus alert rules with different syntax. They're a different behavioral model."
• [Point to card items:] "The 'no data' behavior was the biggest gotcha. When a metric disappears from Datadog, monitors behave differently than when a metric stops appearing in Prometheus. We had 12 monitors that silently changed behavior."
• [Point to stats:] "15 alerts wrong in staging. We found them because we ran a semantic test: replay 2 weeks of production metric data through all 120 rules and verify the fire/no-fire behavior matched the Datadog history."
• "Budget this as a separate project. Assign an owner. The semantic test is mandatory — don't trust a mechanical translation."
• [FOR MANAGERS:] "120 rules is the number we had. Your number might be higher. The 30% figure is a ratio: if your metrics migration is X weeks, add 0.3X weeks for the alerting rewrite."
PACING:
[~75 sec. The stats hit first, then the card explains why. Don't read the card — summarize it.]
TRANSITION:
"So three traps. And now the question: what would we actually do differently?"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"One sentence. This is the thing to put in your notes if you're taking notes."
• [Pause on the thesis slide]
• "OTel doesn't eliminate observability debt. It moves it. From your vendor's invoice to your platform team's capacity."
• "That's a trade worth making if you have the team. It's not a free lunch."
• [Point to the bottom card:] "Three implications. Cardinality is still your problem — just differently expensive. Sampling architecture needs to be decided before you're in production. And budget the alerting rewrite as a project."
• "We're going to come back to this thesis in the final section."
PACING:
[~45 sec. The thesis lands better with silence. Let it sit for 3-4 seconds after you say it.]
TRANSITION:
"Let's close with what we'd do if we were starting today."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"Final section. Three minutes."
• "I'm going to close with the question I most wanted answered before we started."
• "If you knew then what you know now, what would you do differently?"
PACING:
[~15 sec.]
TRANSITION:
"Let's start with the cost curve."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"Remember slide 5? The cost curve going up and to the right?"
• [Gesture at the chart] "Here's slide 5 extended by one more year."
• "2026: $210,000. That's observability spend including OTel infrastructure, platform engineering time, and Grafana Cloud fees."
• "That's a 65% reduction from the $590k we were paying Datadog in 2025."
• [Point to the thesis box:] "OTel moves the debt. This is what that looks like when it moves."
• "The debt is still there — it's in platform engineering headcount, in the operational discipline of cardinality limits and sampling configs."
• "But it's predictable. It's ours. And it doesn't have surprise invoices."
• [PAUSE — let the callback land]
PACING:
[~45 sec. This is the emotional payoff of the talk. The callback from slide 5 should feel like a loop closing.]
TRANSITION:
"So what would we actually do differently?"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"Three things. You can steal all three."
• [Card 1 — Traces first:] "Start with traces. Only traces. Get them stable, run them for two weeks, do your post-mortem. Then move to metrics. The order matters."
• [Card 2 — Sampling:] "Week 2 of the project — before anything is in production — sit down and make the sampling decision. It takes 3 days. Avoiding the re-architecture later is worth it."
• [Card 3 — Alerting:] "And the alerting rewrite. If you have more than 30 alert rules, this is a project with its own owner, its own timeline, and its own semantic testing phase."
• [Bottom quote:] "The debt is moving. Here's how to control where it lands."
• [FOR DEVS:] "The 'traces first' order also has a developer experience benefit — trace sampling in OTel is intuitive. Metric cardinality limits are not. Start where it's easier."
PACING:
[~60 sec. Walk each card briskly. The audience should be writing notes at this point.]
TRANSITION:
"And here's what that means for each of you specifically."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"Two columns. One for the people who approve roadmaps. One for the people who build them."
• [FOR ENGINEERING LEADERS — point to left column:] "Your first step: do the cost audit this week. Not later. Your instinct on your current bill might be wrong. Pull the number."
• "Second: the headcount math. One platform engineer for 10 months. At your loaded cost. Does the 18-month payback hold? If yes, the business case exists. Run the pilot."
• [FOR PLATFORM ICs — point to right column:] "Your first step: one service, traces only, to Tempo. Helm chart. Two weeks stable. Write the runbook."
• "Step 2: the sampling decision. Don't skip it. It's 3 days of design."
• "Step 3: count your alert rules before you start on metrics. Just count them. Tell your lead."
• [PAUSE] "We had 120. It took 8 weeks. We thought it would take 3 days."
PACING:
[~60 sec. Walk left column first, then right. Pause on the last line — the 120 alerts callback ties to section 3.]
TRANSITION:
"That's the talk. Thank you. I'll take questions."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 "Thank you. That's 25 minutes."
• "Before I take questions — one sentence to leave you with."
• [Gesture at the quote:] "OTel doesn't eliminate observability debt. It moves it. Plan for where you want it to land."
• "I'm happy to go deep on any of the three traps, the collector architecture, or the sampling model. What would you like to dig into?"
PACING:
[Soft landing. Breathe. Let the audience settle.]
ANTICIPATED QUESTIONS:
• "What was your OTel Collector version?" — We're on v0.97, currently evaluating v1.0.
• "How do you handle multi-cluster tracing?" — Each cluster has its own gateway; cross-cluster traces require OTLP export at the gateway level.
• "What about the team that didn't want to rewrite instrumentation?" — We gave them a 6-month window with the Datadog agent still running. Eventually mandatory. Two teams pushed back; both are on OTel now.
• "Would you open-source your Helm chart configs?" — We're evaluating this. If leadership signs off, likely Q3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2A4A"/>
          </a:solidFill>
          <a:ln w="12700">
            <a:solidFill>
              <a:srgbClr val="1B2A4A"/>
            </a:solidFill>
            <a:prstDash val="solid"/>
          </a:ln>
        </p:spPr>
      </p:sp>
      <p:sp>
        <p:nvSpPr>
          <p:cNvPr id="3" name="Shape 1"/>
          <p:cNvSpPr/>
          <p:nvPr/>
        </p:nvSpPr>
        <p:spPr>
          <a:xfrm>
            <a:off x="0" y="0"/>
            <a:ext cx="12192000" cy="54864"/>
          </a:xfrm>
          <a:prstGeom prst="rect">
            <a:avLst/>
          </a:prstGeom>
          <a:solidFill>
            <a:srgbClr val="00B4D8"/>
          </a:solidFill>
          <a:ln w="12700">
            <a:solidFill>
              <a:srgbClr val="00B4D8"/>
            </a:solidFill>
            <a:prstDash val="solid"/>
          </a:ln>
        </p:spPr>
      </p:sp>
      <p:sp>
        <p:nvSpPr>
          <p:cNvPr id="4" name="Text 2"/>
          <p:cNvSpPr/>
          <p:nvPr/>
        </p:nvSpPr>
        <p:spPr>
          <a:xfrm>
            <a:off x="457200" y="1645920"/>
            <a:ext cx="8229600" cy="777240"/>
          </a:xfrm>
          <a:prstGeom prst="rect">
            <a:avLst/>
          </a:prstGeom>
          <a:noFill/>
          <a:ln/>
          <a:effectLst>
            <a:outerShdw sx="100000" sy="100000" kx="0" ky="0" algn="bl" rotWithShape="0" blurRad="76200" dist="38100" dir="2700000">
              <a:srgbClr val="00000040">
                <a:alpha val="25000"/>
              </a:srgbClr>
            </a:outerShdw>
          </a:effectLst>
        </p:spPr>
        <p:txBody>
          <a:bodyPr wrap="square" rtlCol="0" anchor="ctr"/>
          <a:lstStyle/>
          <a:p>
            <a:pPr algn="l" indent="0" marL="0">
              <a:buNone/>
            </a:pPr>
            <a:r>
              <a:rPr lang="en-US" sz="3800" b="1" dirty="0">
                <a:solidFill>
                  <a:srgbClr val="E8F4FD"/>
                </a:solidFill>
                <a:latin typeface="Calibri" pitchFamily="34" charset="0"/>
                <a:ea typeface="Calibri" pitchFamily="34" charset="-122"/>
                <a:cs typeface="Calibri" pitchFamily="34" charset="-120"/>
              </a:rPr>
              <a:t>From $720k/yr to OTel:</a:t>
            </a:r>
            <a:endParaRPr lang="en-US" sz="3800" dirty="0"/>
          </a:p>
        </p:txBody>
      </p:sp>
      <p:sp>
        <p:nvSpPr>
          <p:cNvPr id="5" name="Text 3"/>
          <p:cNvSpPr/>
          <p:nvPr/>
        </p:nvSpPr>
        <p:spPr>
          <a:xfrm>
            <a:off x="457200" y="2423160"/>
            <a:ext cx="8229600" cy="685800"/>
          </a:xfrm>
          <a:prstGeom prst="rect">
            <a:avLst/>
          </a:prstGeom>
          <a:noFill/>
          <a:ln/>
          <a:effectLst>
            <a:outerShdw sx="100000" sy="100000" kx="0" ky="0" algn="bl" rotWithShape="0" blurRad="76200" dist="38100" dir="2700000">
              <a:srgbClr val="00000040">
                <a:alpha val="25000"/>
              </a:srgbClr>
            </a:outerShdw>
          </a:effectLst>
        </p:spPr>
        <p:txBody>
          <a:bodyPr wrap="square" rtlCol="0" anchor="ctr"/>
          <a:lstStyle/>
          <a:p>
            <a:pPr algn="l" indent="0" marL="0">
              <a:buNone/>
            </a:pPr>
            <a:r>
              <a:rPr lang="en-US" sz="3400" b="1" dirty="0">
                <a:solidFill>
                  <a:srgbClr val="00B4D8"/>
                </a:solidFill>
                <a:latin typeface="Calibri" pitchFamily="34" charset="0"/>
                <a:ea typeface="Calibri" pitchFamily="34" charset="-122"/>
                <a:cs typeface="Calibri" pitchFamily="34" charset="-120"/>
              </a:rPr>
              <a:t>A Migration Story</a:t>
            </a:r>
            <a:endParaRPr lang="en-US" sz="3400" dirty="0"/>
          </a:p>
        </p:txBody>
      </p:sp>
      <p:sp>
        <p:nvSpPr>
          <p:cNvPr id="6" name="Text 4"/>
          <p:cNvSpPr/>
          <p:nvPr/>
        </p:nvSpPr>
        <p:spPr>
          <a:xfrm>
            <a:off x="457200" y="3246120"/>
            <a:ext cx="8229600" cy="502920"/>
          </a:xfrm>
          <a:prstGeom prst="rect">
            <a:avLst/>
          </a:prstGeom>
          <a:noFill/>
          <a:ln/>
        </p:spPr>
        <p:txBody>
          <a:bodyPr wrap="square" rtlCol="0" anchor="ctr"/>
          <a:lstStyle/>
          <a:p>
            <a:pPr algn="l" indent="0" marL="0">
              <a:buNone/>
            </a:pPr>
            <a:r>
              <a:rPr lang="en-US" sz="1700" dirty="0">
                <a:solidFill>
                  <a:srgbClr val="E8F4FD"/>
                </a:solidFill>
                <a:latin typeface="Calibri" pitchFamily="34" charset="0"/>
                <a:ea typeface="Calibri" pitchFamily="34" charset="-122"/>
                <a:cs typeface="Calibri" pitchFamily="34" charset="-120"/>
              </a:rPr>
              <a:t>How we replaced Datadog, what went wrong, and what we'd do differently</a:t>
            </a:r>
            <a:endParaRPr lang="en-US" sz="1700" dirty="0"/>
          </a:p>
        </p:txBody>
      </p:sp>
      <p:sp>
        <p:nvSpPr>
          <p:cNvPr id="7" name="Text 5"/>
          <p:cNvSpPr/>
          <p:nvPr/>
        </p:nvSpPr>
        <p:spPr>
          <a:xfrm>
            <a:off x="457200" y="6217920"/>
            <a:ext cx="8229600" cy="320040"/>
          </a:xfrm>
          <a:prstGeom prst="rect">
            <a:avLst/>
          </a:prstGeom>
          <a:noFill/>
          <a:ln/>
        </p:spPr>
        <p:txBody>
          <a:bodyPr wrap="square" rtlCol="0" anchor="ctr"/>
          <a:lstStyle/>
          <a:p>
            <a:pPr algn="l" indent="0" marL="0">
              <a:buNone/>
            </a:pPr>
            <a:r>
              <a:rPr lang="en-US" sz="1300" dirty="0">
                <a:solidFill>
                  <a:srgbClr val="2D6A9F"/>
                </a:solidFill>
                <a:latin typeface="Calibri" pitchFamily="34" charset="0"/>
                <a:ea typeface="Calibri" pitchFamily="34" charset="-122"/>
                <a:cs typeface="Calibri" pitchFamily="34" charset="-120"/>
              </a:rPr>
              <a:t>Platform Team — Internal Platform Summit, April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800" b="1" dirty="0">
                <a:solidFill>
                  <a:srgbClr val="1E3A5F"/>
                </a:solidFill>
                <a:latin typeface="Calibri" pitchFamily="34" charset="0"/>
                <a:ea typeface="Calibri" pitchFamily="34" charset="-122"/>
                <a:cs typeface="Calibri" pitchFamily="34" charset="-120"/>
              </a:rPr>
              <a:t>Agenda</a:t>
            </a:r>
            <a:endParaRPr lang="en-US" sz="2800" dirty="0"/>
          </a:p>
        </p:txBody>
      </p:sp>
      <p:sp>
        <p:nvSpPr>
          <p:cNvPr id="5" name="Shape 3"/>
          <p:cNvSpPr/>
          <p:nvPr/>
        </p:nvSpPr>
        <p:spPr>
          <a:xfrm>
            <a:off x="365760" y="1005840"/>
            <a:ext cx="502920" cy="502920"/>
          </a:xfrm>
          <a:prstGeom prst="ellipse">
            <a:avLst/>
          </a:prstGeom>
          <a:solidFill>
            <a:srgbClr val="00B4D8"/>
          </a:solidFill>
          <a:ln w="12700">
            <a:solidFill>
              <a:srgbClr val="00B4D8"/>
            </a:solidFill>
            <a:prstDash val="solid"/>
          </a:ln>
        </p:spPr>
      </p:sp>
      <p:sp>
        <p:nvSpPr>
          <p:cNvPr id="6" name="Text 4"/>
          <p:cNvSpPr/>
          <p:nvPr/>
        </p:nvSpPr>
        <p:spPr>
          <a:xfrm>
            <a:off x="365760" y="100584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005840" y="1042416"/>
            <a:ext cx="6858000" cy="320040"/>
          </a:xfrm>
          <a:prstGeom prst="rect">
            <a:avLst/>
          </a:prstGeom>
          <a:noFill/>
          <a:ln/>
        </p:spPr>
        <p:txBody>
          <a:bodyPr wrap="square" rtlCol="0" anchor="ctr"/>
          <a:lstStyle/>
          <a:p>
            <a:pPr algn="l" indent="0" marL="0">
              <a:buNone/>
            </a:pPr>
            <a:r>
              <a:rPr lang="en-US" sz="1500" b="1" dirty="0">
                <a:solidFill>
                  <a:srgbClr val="1E3A5F"/>
                </a:solidFill>
                <a:latin typeface="Calibri" pitchFamily="34" charset="0"/>
                <a:ea typeface="Calibri" pitchFamily="34" charset="-122"/>
                <a:cs typeface="Calibri" pitchFamily="34" charset="-120"/>
              </a:rPr>
              <a:t>The Datadog invoice that broke our brain</a:t>
            </a:r>
            <a:endParaRPr lang="en-US" sz="1500" dirty="0"/>
          </a:p>
        </p:txBody>
      </p:sp>
      <p:sp>
        <p:nvSpPr>
          <p:cNvPr id="8" name="Text 6"/>
          <p:cNvSpPr/>
          <p:nvPr/>
        </p:nvSpPr>
        <p:spPr>
          <a:xfrm>
            <a:off x="8046720" y="1042416"/>
            <a:ext cx="731520" cy="320040"/>
          </a:xfrm>
          <a:prstGeom prst="rect">
            <a:avLst/>
          </a:prstGeom>
          <a:noFill/>
          <a:ln/>
        </p:spPr>
        <p:txBody>
          <a:bodyPr wrap="square" rtlCol="0" anchor="ctr"/>
          <a:lstStyle/>
          <a:p>
            <a:pPr algn="r" indent="0" marL="0">
              <a:buNone/>
            </a:pPr>
            <a:r>
              <a:rPr lang="en-US" sz="1200" dirty="0">
                <a:solidFill>
                  <a:srgbClr val="2D6A9F"/>
                </a:solidFill>
                <a:latin typeface="Calibri" pitchFamily="34" charset="0"/>
                <a:ea typeface="Calibri" pitchFamily="34" charset="-122"/>
                <a:cs typeface="Calibri" pitchFamily="34" charset="-120"/>
              </a:rPr>
              <a:t>3 min</a:t>
            </a:r>
            <a:endParaRPr lang="en-US" sz="1200" dirty="0"/>
          </a:p>
        </p:txBody>
      </p:sp>
      <p:sp>
        <p:nvSpPr>
          <p:cNvPr id="9" name="Shape 7"/>
          <p:cNvSpPr/>
          <p:nvPr/>
        </p:nvSpPr>
        <p:spPr>
          <a:xfrm>
            <a:off x="1005840" y="1572768"/>
            <a:ext cx="7772400" cy="0"/>
          </a:xfrm>
          <a:prstGeom prst="line">
            <a:avLst/>
          </a:prstGeom>
          <a:noFill/>
          <a:ln w="6350">
            <a:solidFill>
              <a:srgbClr val="E2E8F0"/>
            </a:solidFill>
            <a:prstDash val="solid"/>
          </a:ln>
        </p:spPr>
      </p:sp>
      <p:sp>
        <p:nvSpPr>
          <p:cNvPr id="10" name="Shape 8"/>
          <p:cNvSpPr/>
          <p:nvPr/>
        </p:nvSpPr>
        <p:spPr>
          <a:xfrm>
            <a:off x="365760" y="2011680"/>
            <a:ext cx="502920" cy="502920"/>
          </a:xfrm>
          <a:prstGeom prst="ellipse">
            <a:avLst/>
          </a:prstGeom>
          <a:solidFill>
            <a:srgbClr val="00B4D8"/>
          </a:solidFill>
          <a:ln w="12700">
            <a:solidFill>
              <a:srgbClr val="00B4D8"/>
            </a:solidFill>
            <a:prstDash val="solid"/>
          </a:ln>
        </p:spPr>
      </p:sp>
      <p:sp>
        <p:nvSpPr>
          <p:cNvPr id="11" name="Text 9"/>
          <p:cNvSpPr/>
          <p:nvPr/>
        </p:nvSpPr>
        <p:spPr>
          <a:xfrm>
            <a:off x="365760" y="201168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2" name="Text 10"/>
          <p:cNvSpPr/>
          <p:nvPr/>
        </p:nvSpPr>
        <p:spPr>
          <a:xfrm>
            <a:off x="1005840" y="2048256"/>
            <a:ext cx="6858000" cy="320040"/>
          </a:xfrm>
          <a:prstGeom prst="rect">
            <a:avLst/>
          </a:prstGeom>
          <a:noFill/>
          <a:ln/>
        </p:spPr>
        <p:txBody>
          <a:bodyPr wrap="square" rtlCol="0" anchor="ctr"/>
          <a:lstStyle/>
          <a:p>
            <a:pPr algn="l" indent="0" marL="0">
              <a:buNone/>
            </a:pPr>
            <a:r>
              <a:rPr lang="en-US" sz="1500" b="1" dirty="0">
                <a:solidFill>
                  <a:srgbClr val="1E3A5F"/>
                </a:solidFill>
                <a:latin typeface="Calibri" pitchFamily="34" charset="0"/>
                <a:ea typeface="Calibri" pitchFamily="34" charset="-122"/>
                <a:cs typeface="Calibri" pitchFamily="34" charset="-120"/>
              </a:rPr>
              <a:t>Why OTel (and why we rejected the alternatives)</a:t>
            </a:r>
            <a:endParaRPr lang="en-US" sz="1500" dirty="0"/>
          </a:p>
        </p:txBody>
      </p:sp>
      <p:sp>
        <p:nvSpPr>
          <p:cNvPr id="13" name="Text 11"/>
          <p:cNvSpPr/>
          <p:nvPr/>
        </p:nvSpPr>
        <p:spPr>
          <a:xfrm>
            <a:off x="8046720" y="2048256"/>
            <a:ext cx="731520" cy="320040"/>
          </a:xfrm>
          <a:prstGeom prst="rect">
            <a:avLst/>
          </a:prstGeom>
          <a:noFill/>
          <a:ln/>
        </p:spPr>
        <p:txBody>
          <a:bodyPr wrap="square" rtlCol="0" anchor="ctr"/>
          <a:lstStyle/>
          <a:p>
            <a:pPr algn="r" indent="0" marL="0">
              <a:buNone/>
            </a:pPr>
            <a:r>
              <a:rPr lang="en-US" sz="1200" dirty="0">
                <a:solidFill>
                  <a:srgbClr val="2D6A9F"/>
                </a:solidFill>
                <a:latin typeface="Calibri" pitchFamily="34" charset="0"/>
                <a:ea typeface="Calibri" pitchFamily="34" charset="-122"/>
                <a:cs typeface="Calibri" pitchFamily="34" charset="-120"/>
              </a:rPr>
              <a:t>3 min</a:t>
            </a:r>
            <a:endParaRPr lang="en-US" sz="1200" dirty="0"/>
          </a:p>
        </p:txBody>
      </p:sp>
      <p:sp>
        <p:nvSpPr>
          <p:cNvPr id="14" name="Shape 12"/>
          <p:cNvSpPr/>
          <p:nvPr/>
        </p:nvSpPr>
        <p:spPr>
          <a:xfrm>
            <a:off x="1005840" y="2578608"/>
            <a:ext cx="7772400" cy="0"/>
          </a:xfrm>
          <a:prstGeom prst="line">
            <a:avLst/>
          </a:prstGeom>
          <a:noFill/>
          <a:ln w="6350">
            <a:solidFill>
              <a:srgbClr val="E2E8F0"/>
            </a:solidFill>
            <a:prstDash val="solid"/>
          </a:ln>
        </p:spPr>
      </p:sp>
      <p:sp>
        <p:nvSpPr>
          <p:cNvPr id="15" name="Shape 13"/>
          <p:cNvSpPr/>
          <p:nvPr/>
        </p:nvSpPr>
        <p:spPr>
          <a:xfrm>
            <a:off x="365760" y="3017520"/>
            <a:ext cx="502920" cy="502920"/>
          </a:xfrm>
          <a:prstGeom prst="ellipse">
            <a:avLst/>
          </a:prstGeom>
          <a:solidFill>
            <a:srgbClr val="00B4D8"/>
          </a:solidFill>
          <a:ln w="12700">
            <a:solidFill>
              <a:srgbClr val="00B4D8"/>
            </a:solidFill>
            <a:prstDash val="solid"/>
          </a:ln>
        </p:spPr>
      </p:sp>
      <p:sp>
        <p:nvSpPr>
          <p:cNvPr id="16" name="Text 14"/>
          <p:cNvSpPr/>
          <p:nvPr/>
        </p:nvSpPr>
        <p:spPr>
          <a:xfrm>
            <a:off x="365760" y="301752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7" name="Text 15"/>
          <p:cNvSpPr/>
          <p:nvPr/>
        </p:nvSpPr>
        <p:spPr>
          <a:xfrm>
            <a:off x="1005840" y="3054096"/>
            <a:ext cx="6858000" cy="320040"/>
          </a:xfrm>
          <a:prstGeom prst="rect">
            <a:avLst/>
          </a:prstGeom>
          <a:noFill/>
          <a:ln/>
        </p:spPr>
        <p:txBody>
          <a:bodyPr wrap="square" rtlCol="0" anchor="ctr"/>
          <a:lstStyle/>
          <a:p>
            <a:pPr algn="l" indent="0" marL="0">
              <a:buNone/>
            </a:pPr>
            <a:r>
              <a:rPr lang="en-US" sz="1500" b="1" dirty="0">
                <a:solidFill>
                  <a:srgbClr val="1E3A5F"/>
                </a:solidFill>
                <a:latin typeface="Calibri" pitchFamily="34" charset="0"/>
                <a:ea typeface="Calibri" pitchFamily="34" charset="-122"/>
                <a:cs typeface="Calibri" pitchFamily="34" charset="-120"/>
              </a:rPr>
              <a:t>The migration in four acts</a:t>
            </a:r>
            <a:endParaRPr lang="en-US" sz="1500" dirty="0"/>
          </a:p>
        </p:txBody>
      </p:sp>
      <p:sp>
        <p:nvSpPr>
          <p:cNvPr id="18" name="Text 16"/>
          <p:cNvSpPr/>
          <p:nvPr/>
        </p:nvSpPr>
        <p:spPr>
          <a:xfrm>
            <a:off x="8046720" y="3054096"/>
            <a:ext cx="731520" cy="320040"/>
          </a:xfrm>
          <a:prstGeom prst="rect">
            <a:avLst/>
          </a:prstGeom>
          <a:noFill/>
          <a:ln/>
        </p:spPr>
        <p:txBody>
          <a:bodyPr wrap="square" rtlCol="0" anchor="ctr"/>
          <a:lstStyle/>
          <a:p>
            <a:pPr algn="r" indent="0" marL="0">
              <a:buNone/>
            </a:pPr>
            <a:r>
              <a:rPr lang="en-US" sz="1200" dirty="0">
                <a:solidFill>
                  <a:srgbClr val="2D6A9F"/>
                </a:solidFill>
                <a:latin typeface="Calibri" pitchFamily="34" charset="0"/>
                <a:ea typeface="Calibri" pitchFamily="34" charset="-122"/>
                <a:cs typeface="Calibri" pitchFamily="34" charset="-120"/>
              </a:rPr>
              <a:t>9 min</a:t>
            </a:r>
            <a:endParaRPr lang="en-US" sz="1200" dirty="0"/>
          </a:p>
        </p:txBody>
      </p:sp>
      <p:sp>
        <p:nvSpPr>
          <p:cNvPr id="19" name="Shape 17"/>
          <p:cNvSpPr/>
          <p:nvPr/>
        </p:nvSpPr>
        <p:spPr>
          <a:xfrm>
            <a:off x="1005840" y="3584448"/>
            <a:ext cx="7772400" cy="0"/>
          </a:xfrm>
          <a:prstGeom prst="line">
            <a:avLst/>
          </a:prstGeom>
          <a:noFill/>
          <a:ln w="6350">
            <a:solidFill>
              <a:srgbClr val="E2E8F0"/>
            </a:solidFill>
            <a:prstDash val="solid"/>
          </a:ln>
        </p:spPr>
      </p:sp>
      <p:sp>
        <p:nvSpPr>
          <p:cNvPr id="20" name="Shape 18"/>
          <p:cNvSpPr/>
          <p:nvPr/>
        </p:nvSpPr>
        <p:spPr>
          <a:xfrm>
            <a:off x="365760" y="4023360"/>
            <a:ext cx="502920" cy="502920"/>
          </a:xfrm>
          <a:prstGeom prst="ellipse">
            <a:avLst/>
          </a:prstGeom>
          <a:solidFill>
            <a:srgbClr val="00B4D8"/>
          </a:solidFill>
          <a:ln w="12700">
            <a:solidFill>
              <a:srgbClr val="00B4D8"/>
            </a:solidFill>
            <a:prstDash val="solid"/>
          </a:ln>
        </p:spPr>
      </p:sp>
      <p:sp>
        <p:nvSpPr>
          <p:cNvPr id="21" name="Text 19"/>
          <p:cNvSpPr/>
          <p:nvPr/>
        </p:nvSpPr>
        <p:spPr>
          <a:xfrm>
            <a:off x="365760" y="402336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2" name="Text 20"/>
          <p:cNvSpPr/>
          <p:nvPr/>
        </p:nvSpPr>
        <p:spPr>
          <a:xfrm>
            <a:off x="1005840" y="4059936"/>
            <a:ext cx="6858000" cy="320040"/>
          </a:xfrm>
          <a:prstGeom prst="rect">
            <a:avLst/>
          </a:prstGeom>
          <a:noFill/>
          <a:ln/>
        </p:spPr>
        <p:txBody>
          <a:bodyPr wrap="square" rtlCol="0" anchor="ctr"/>
          <a:lstStyle/>
          <a:p>
            <a:pPr algn="l" indent="0" marL="0">
              <a:buNone/>
            </a:pPr>
            <a:r>
              <a:rPr lang="en-US" sz="1500" b="1" dirty="0">
                <a:solidFill>
                  <a:srgbClr val="1E3A5F"/>
                </a:solidFill>
                <a:latin typeface="Calibri" pitchFamily="34" charset="0"/>
                <a:ea typeface="Calibri" pitchFamily="34" charset="-122"/>
                <a:cs typeface="Calibri" pitchFamily="34" charset="-120"/>
              </a:rPr>
              <a:t>The three traps we didn't see coming</a:t>
            </a:r>
            <a:endParaRPr lang="en-US" sz="1500" dirty="0"/>
          </a:p>
        </p:txBody>
      </p:sp>
      <p:sp>
        <p:nvSpPr>
          <p:cNvPr id="23" name="Text 21"/>
          <p:cNvSpPr/>
          <p:nvPr/>
        </p:nvSpPr>
        <p:spPr>
          <a:xfrm>
            <a:off x="8046720" y="4059936"/>
            <a:ext cx="731520" cy="320040"/>
          </a:xfrm>
          <a:prstGeom prst="rect">
            <a:avLst/>
          </a:prstGeom>
          <a:noFill/>
          <a:ln/>
        </p:spPr>
        <p:txBody>
          <a:bodyPr wrap="square" rtlCol="0" anchor="ctr"/>
          <a:lstStyle/>
          <a:p>
            <a:pPr algn="r" indent="0" marL="0">
              <a:buNone/>
            </a:pPr>
            <a:r>
              <a:rPr lang="en-US" sz="1200" dirty="0">
                <a:solidFill>
                  <a:srgbClr val="2D6A9F"/>
                </a:solidFill>
                <a:latin typeface="Calibri" pitchFamily="34" charset="0"/>
                <a:ea typeface="Calibri" pitchFamily="34" charset="-122"/>
                <a:cs typeface="Calibri" pitchFamily="34" charset="-120"/>
              </a:rPr>
              <a:t>4 min</a:t>
            </a:r>
            <a:endParaRPr lang="en-US" sz="1200" dirty="0"/>
          </a:p>
        </p:txBody>
      </p:sp>
      <p:sp>
        <p:nvSpPr>
          <p:cNvPr id="24" name="Shape 22"/>
          <p:cNvSpPr/>
          <p:nvPr/>
        </p:nvSpPr>
        <p:spPr>
          <a:xfrm>
            <a:off x="1005840" y="4590288"/>
            <a:ext cx="7772400" cy="0"/>
          </a:xfrm>
          <a:prstGeom prst="line">
            <a:avLst/>
          </a:prstGeom>
          <a:noFill/>
          <a:ln w="6350">
            <a:solidFill>
              <a:srgbClr val="E2E8F0"/>
            </a:solidFill>
            <a:prstDash val="solid"/>
          </a:ln>
        </p:spPr>
      </p:sp>
      <p:sp>
        <p:nvSpPr>
          <p:cNvPr id="25" name="Shape 23"/>
          <p:cNvSpPr/>
          <p:nvPr/>
        </p:nvSpPr>
        <p:spPr>
          <a:xfrm>
            <a:off x="365760" y="5029200"/>
            <a:ext cx="502920" cy="502920"/>
          </a:xfrm>
          <a:prstGeom prst="ellipse">
            <a:avLst/>
          </a:prstGeom>
          <a:solidFill>
            <a:srgbClr val="00B4D8"/>
          </a:solidFill>
          <a:ln w="12700">
            <a:solidFill>
              <a:srgbClr val="00B4D8"/>
            </a:solidFill>
            <a:prstDash val="solid"/>
          </a:ln>
        </p:spPr>
      </p:sp>
      <p:sp>
        <p:nvSpPr>
          <p:cNvPr id="26" name="Text 24"/>
          <p:cNvSpPr/>
          <p:nvPr/>
        </p:nvSpPr>
        <p:spPr>
          <a:xfrm>
            <a:off x="365760" y="502920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7" name="Text 25"/>
          <p:cNvSpPr/>
          <p:nvPr/>
        </p:nvSpPr>
        <p:spPr>
          <a:xfrm>
            <a:off x="1005840" y="5065776"/>
            <a:ext cx="6858000" cy="320040"/>
          </a:xfrm>
          <a:prstGeom prst="rect">
            <a:avLst/>
          </a:prstGeom>
          <a:noFill/>
          <a:ln/>
        </p:spPr>
        <p:txBody>
          <a:bodyPr wrap="square" rtlCol="0" anchor="ctr"/>
          <a:lstStyle/>
          <a:p>
            <a:pPr algn="l" indent="0" marL="0">
              <a:buNone/>
            </a:pPr>
            <a:r>
              <a:rPr lang="en-US" sz="1500" b="1" dirty="0">
                <a:solidFill>
                  <a:srgbClr val="1E3A5F"/>
                </a:solidFill>
                <a:latin typeface="Calibri" pitchFamily="34" charset="0"/>
                <a:ea typeface="Calibri" pitchFamily="34" charset="-122"/>
                <a:cs typeface="Calibri" pitchFamily="34" charset="-120"/>
              </a:rPr>
              <a:t>What we'd do differently</a:t>
            </a:r>
            <a:endParaRPr lang="en-US" sz="1500" dirty="0"/>
          </a:p>
        </p:txBody>
      </p:sp>
      <p:sp>
        <p:nvSpPr>
          <p:cNvPr id="28" name="Text 26"/>
          <p:cNvSpPr/>
          <p:nvPr/>
        </p:nvSpPr>
        <p:spPr>
          <a:xfrm>
            <a:off x="8046720" y="5065776"/>
            <a:ext cx="731520" cy="320040"/>
          </a:xfrm>
          <a:prstGeom prst="rect">
            <a:avLst/>
          </a:prstGeom>
          <a:noFill/>
          <a:ln/>
        </p:spPr>
        <p:txBody>
          <a:bodyPr wrap="square" rtlCol="0" anchor="ctr"/>
          <a:lstStyle/>
          <a:p>
            <a:pPr algn="r" indent="0" marL="0">
              <a:buNone/>
            </a:pPr>
            <a:r>
              <a:rPr lang="en-US" sz="1200" dirty="0">
                <a:solidFill>
                  <a:srgbClr val="2D6A9F"/>
                </a:solidFill>
                <a:latin typeface="Calibri" pitchFamily="34" charset="0"/>
                <a:ea typeface="Calibri" pitchFamily="34" charset="-122"/>
                <a:cs typeface="Calibri" pitchFamily="34" charset="-120"/>
              </a:rPr>
              <a:t>2 min</a:t>
            </a:r>
            <a:endParaRPr lang="en-US" sz="1200" dirty="0"/>
          </a:p>
        </p:txBody>
      </p:sp>
      <p:sp>
        <p:nvSpPr>
          <p:cNvPr id="29" name="Text 27"/>
          <p:cNvSpPr/>
          <p:nvPr/>
        </p:nvSpPr>
        <p:spPr>
          <a:xfrm>
            <a:off x="365760" y="6217920"/>
            <a:ext cx="8229600" cy="320040"/>
          </a:xfrm>
          <a:prstGeom prst="rect">
            <a:avLst/>
          </a:prstGeom>
          <a:noFill/>
          <a:ln/>
        </p:spPr>
        <p:txBody>
          <a:bodyPr wrap="square" rtlCol="0" anchor="ctr"/>
          <a:lstStyle/>
          <a:p>
            <a:pPr algn="r" indent="0" marL="0">
              <a:buNone/>
            </a:pPr>
            <a:r>
              <a:rPr lang="en-US" sz="1100" i="1" dirty="0">
                <a:solidFill>
                  <a:srgbClr val="2D6A9F"/>
                </a:solidFill>
                <a:latin typeface="Calibri" pitchFamily="34" charset="0"/>
                <a:ea typeface="Calibri" pitchFamily="34" charset="-122"/>
                <a:cs typeface="Calibri" pitchFamily="34" charset="-120"/>
              </a:rPr>
              <a:t>25 min + 10 min Q&amp;A</a:t>
            </a:r>
            <a:endParaRPr lang="en-US" sz="1100" dirty="0"/>
          </a:p>
        </p:txBody>
      </p:sp>
      <p:sp>
        <p:nvSpPr>
          <p:cNvPr id="30" name="Shape 28"/>
          <p:cNvSpPr/>
          <p:nvPr/>
        </p:nvSpPr>
        <p:spPr>
          <a:xfrm>
            <a:off x="0" y="6583680"/>
            <a:ext cx="12192000" cy="274320"/>
          </a:xfrm>
          <a:prstGeom prst="rect">
            <a:avLst/>
          </a:prstGeom>
          <a:solidFill>
            <a:srgbClr val="1B2A4A"/>
          </a:solidFill>
          <a:ln w="12700">
            <a:solidFill>
              <a:srgbClr val="1B2A4A"/>
            </a:solidFill>
            <a:prstDash val="solid"/>
          </a:ln>
        </p:spPr>
      </p:sp>
      <p:sp>
        <p:nvSpPr>
          <p:cNvPr id="31" name="Text 29"/>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OTEL MIGRATION — INTERNAL PLATFORM SUMMIT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2A4A"/>
          </a:solidFill>
          <a:ln w="12700">
            <a:solidFill>
              <a:srgbClr val="1B2A4A"/>
            </a:solidFill>
            <a:prstDash val="solid"/>
          </a:ln>
        </p:spPr>
      </p:sp>
      <p:sp>
        <p:nvSpPr>
          <p:cNvPr id="3" name="Text 1"/>
          <p:cNvSpPr/>
          <p:nvPr/>
        </p:nvSpPr>
        <p:spPr>
          <a:xfrm>
            <a:off x="365760" y="274320"/>
            <a:ext cx="1645920" cy="320040"/>
          </a:xfrm>
          <a:prstGeom prst="rect">
            <a:avLst/>
          </a:prstGeom>
          <a:noFill/>
          <a:ln/>
        </p:spPr>
        <p:txBody>
          <a:bodyPr wrap="square" rtlCol="0" anchor="ctr"/>
          <a:lstStyle/>
          <a:p>
            <a:pPr algn="l" indent="0" marL="0">
              <a:buNone/>
            </a:pPr>
            <a:r>
              <a:rPr lang="en-US" sz="1100" b="1" dirty="0">
                <a:solidFill>
                  <a:srgbClr val="00B4D8"/>
                </a:solidFill>
                <a:latin typeface="Calibri" pitchFamily="34" charset="0"/>
                <a:ea typeface="Calibri" pitchFamily="34" charset="-122"/>
                <a:cs typeface="Calibri" pitchFamily="34" charset="-120"/>
              </a:rPr>
              <a:t>SECTION 1</a:t>
            </a:r>
            <a:endParaRPr lang="en-US" sz="1100" dirty="0"/>
          </a:p>
        </p:txBody>
      </p:sp>
      <p:sp>
        <p:nvSpPr>
          <p:cNvPr id="4" name="Text 2"/>
          <p:cNvSpPr/>
          <p:nvPr/>
        </p:nvSpPr>
        <p:spPr>
          <a:xfrm>
            <a:off x="365760" y="2560320"/>
            <a:ext cx="8229600" cy="1645920"/>
          </a:xfrm>
          <a:prstGeom prst="rect">
            <a:avLst/>
          </a:prstGeom>
          <a:noFill/>
          <a:ln/>
          <a:effectLst>
            <a:outerShdw sx="100000" sy="100000" kx="0" ky="0" algn="bl" rotWithShape="0" blurRad="76200" dist="38100" dir="2700000">
              <a:srgbClr val="00000040">
                <a:alpha val="25000"/>
              </a:srgbClr>
            </a:outerShdw>
          </a:effectLst>
        </p:spPr>
        <p:txBody>
          <a:bodyPr wrap="square" rtlCol="0" anchor="ctr"/>
          <a:lstStyle/>
          <a:p>
            <a:pPr algn="l" indent="0" marL="0">
              <a:buNone/>
            </a:pPr>
            <a:r>
              <a:rPr lang="en-US" sz="4000" b="1" dirty="0">
                <a:solidFill>
                  <a:srgbClr val="E8F4FD"/>
                </a:solidFill>
                <a:latin typeface="Calibri" pitchFamily="34" charset="0"/>
                <a:ea typeface="Calibri" pitchFamily="34" charset="-122"/>
                <a:cs typeface="Calibri" pitchFamily="34" charset="-120"/>
              </a:rPr>
              <a:t>The Datadog invoice</a:t>
            </a:r>
            <a:endParaRPr lang="en-US" sz="4000" dirty="0"/>
          </a:p>
          <a:p>
            <a:pPr algn="l" indent="0" marL="0">
              <a:buNone/>
            </a:pPr>
            <a:r>
              <a:rPr lang="en-US" sz="4000" b="1" dirty="0">
                <a:solidFill>
                  <a:srgbClr val="E8F4FD"/>
                </a:solidFill>
                <a:latin typeface="Calibri" pitchFamily="34" charset="0"/>
                <a:ea typeface="Calibri" pitchFamily="34" charset="-122"/>
                <a:cs typeface="Calibri" pitchFamily="34" charset="-120"/>
              </a:rPr>
              <a:t>that broke our brain</a:t>
            </a:r>
            <a:endParaRPr lang="en-US" sz="4000" dirty="0"/>
          </a:p>
        </p:txBody>
      </p:sp>
      <p:sp>
        <p:nvSpPr>
          <p:cNvPr id="5" name="Text 3"/>
          <p:cNvSpPr/>
          <p:nvPr/>
        </p:nvSpPr>
        <p:spPr>
          <a:xfrm>
            <a:off x="365760" y="4297680"/>
            <a:ext cx="8229600" cy="457200"/>
          </a:xfrm>
          <a:prstGeom prst="rect">
            <a:avLst/>
          </a:prstGeom>
          <a:noFill/>
          <a:ln/>
        </p:spPr>
        <p:txBody>
          <a:bodyPr wrap="square" rtlCol="0" anchor="ctr"/>
          <a:lstStyle/>
          <a:p>
            <a:pPr algn="l" indent="0" marL="0">
              <a:buNone/>
            </a:pPr>
            <a:r>
              <a:rPr lang="en-US" sz="1800" dirty="0">
                <a:solidFill>
                  <a:srgbClr val="00B4D8"/>
                </a:solidFill>
                <a:latin typeface="Calibri" pitchFamily="34" charset="0"/>
                <a:ea typeface="Calibri" pitchFamily="34" charset="-122"/>
                <a:cs typeface="Calibri" pitchFamily="34" charset="-120"/>
              </a:rPr>
              <a:t>How a $180k bill became $720k without changing what we measured</a:t>
            </a:r>
            <a:endParaRPr lang="en-US" sz="1800" dirty="0"/>
          </a:p>
        </p:txBody>
      </p:sp>
      <p:sp>
        <p:nvSpPr>
          <p:cNvPr id="6" name="Shape 4"/>
          <p:cNvSpPr/>
          <p:nvPr/>
        </p:nvSpPr>
        <p:spPr>
          <a:xfrm>
            <a:off x="7406640" y="6400800"/>
            <a:ext cx="109728" cy="109728"/>
          </a:xfrm>
          <a:prstGeom prst="ellipse">
            <a:avLst/>
          </a:prstGeom>
          <a:solidFill>
            <a:srgbClr val="00B4D8"/>
          </a:solidFill>
          <a:ln w="12700">
            <a:solidFill>
              <a:srgbClr val="00B4D8"/>
            </a:solidFill>
            <a:prstDash val="solid"/>
          </a:ln>
        </p:spPr>
      </p:sp>
      <p:sp>
        <p:nvSpPr>
          <p:cNvPr id="7" name="Shape 5"/>
          <p:cNvSpPr/>
          <p:nvPr/>
        </p:nvSpPr>
        <p:spPr>
          <a:xfrm>
            <a:off x="7607808" y="6400800"/>
            <a:ext cx="109728" cy="109728"/>
          </a:xfrm>
          <a:prstGeom prst="ellipse">
            <a:avLst/>
          </a:prstGeom>
          <a:ln w="12700">
            <a:solidFill>
              <a:srgbClr val="E8F4FD"/>
            </a:solidFill>
            <a:prstDash val="solid"/>
          </a:ln>
        </p:spPr>
      </p:sp>
      <p:sp>
        <p:nvSpPr>
          <p:cNvPr id="8" name="Shape 6"/>
          <p:cNvSpPr/>
          <p:nvPr/>
        </p:nvSpPr>
        <p:spPr>
          <a:xfrm>
            <a:off x="7808976" y="6400800"/>
            <a:ext cx="109728" cy="109728"/>
          </a:xfrm>
          <a:prstGeom prst="ellipse">
            <a:avLst/>
          </a:prstGeom>
          <a:ln w="12700">
            <a:solidFill>
              <a:srgbClr val="E8F4FD"/>
            </a:solidFill>
            <a:prstDash val="solid"/>
          </a:ln>
        </p:spPr>
      </p:sp>
      <p:sp>
        <p:nvSpPr>
          <p:cNvPr id="9" name="Shape 7"/>
          <p:cNvSpPr/>
          <p:nvPr/>
        </p:nvSpPr>
        <p:spPr>
          <a:xfrm>
            <a:off x="8010144" y="6400800"/>
            <a:ext cx="109728" cy="109728"/>
          </a:xfrm>
          <a:prstGeom prst="ellipse">
            <a:avLst/>
          </a:prstGeom>
          <a:ln w="12700">
            <a:solidFill>
              <a:srgbClr val="E8F4FD"/>
            </a:solidFill>
            <a:prstDash val="solid"/>
          </a:ln>
        </p:spPr>
      </p:sp>
      <p:sp>
        <p:nvSpPr>
          <p:cNvPr id="10" name="Shape 8"/>
          <p:cNvSpPr/>
          <p:nvPr/>
        </p:nvSpPr>
        <p:spPr>
          <a:xfrm>
            <a:off x="8211312" y="6400800"/>
            <a:ext cx="109728" cy="109728"/>
          </a:xfrm>
          <a:prstGeom prst="ellipse">
            <a:avLst/>
          </a:prstGeom>
          <a:ln w="12700">
            <a:solidFill>
              <a:srgbClr val="E8F4FD"/>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731520" y="1097280"/>
            <a:ext cx="7498080" cy="4114800"/>
          </a:xfrm>
          <a:prstGeom prst="rect">
            <a:avLst/>
          </a:prstGeom>
          <a:noFill/>
          <a:ln/>
        </p:spPr>
        <p:txBody>
          <a:bodyPr wrap="square" rtlCol="0" anchor="ctr"/>
          <a:lstStyle/>
          <a:p>
            <a:pPr algn="ctr" indent="0" marL="0">
              <a:buNone/>
            </a:pPr>
            <a:r>
              <a:rPr lang="en-US" sz="2600" i="1" dirty="0">
                <a:solidFill>
                  <a:srgbClr val="1E3A5F"/>
                </a:solidFill>
                <a:latin typeface="Calibri" pitchFamily="34" charset="0"/>
                <a:ea typeface="Calibri" pitchFamily="34" charset="-122"/>
                <a:cs typeface="Calibri" pitchFamily="34" charset="-120"/>
              </a:rPr>
              <a:t>"Finance put the Datadog line</a:t>
            </a:r>
            <a:endParaRPr lang="en-US" sz="2600" dirty="0"/>
          </a:p>
          <a:p>
            <a:pPr algn="ctr" indent="0" marL="0">
              <a:buNone/>
            </a:pPr>
            <a:r>
              <a:rPr lang="en-US" sz="2600" i="1" dirty="0">
                <a:solidFill>
                  <a:srgbClr val="1E3A5F"/>
                </a:solidFill>
                <a:latin typeface="Calibri" pitchFamily="34" charset="0"/>
                <a:ea typeface="Calibri" pitchFamily="34" charset="-122"/>
                <a:cs typeface="Calibri" pitchFamily="34" charset="-120"/>
              </a:rPr>
              <a:t>item on the projector.</a:t>
            </a:r>
            <a:endParaRPr lang="en-US" sz="2600" dirty="0"/>
          </a:p>
          <a:p>
            <a:pPr algn="ctr" indent="0" marL="0">
              <a:buNone/>
            </a:pPr>
            <a:endParaRPr lang="en-US" sz="2600" dirty="0"/>
          </a:p>
          <a:p>
            <a:pPr algn="ctr" indent="0" marL="0">
              <a:buNone/>
            </a:pPr>
            <a:r>
              <a:rPr lang="en-US" sz="2600" i="1" dirty="0">
                <a:solidFill>
                  <a:srgbClr val="1E3A5F"/>
                </a:solidFill>
                <a:latin typeface="Calibri" pitchFamily="34" charset="0"/>
                <a:ea typeface="Calibri" pitchFamily="34" charset="-122"/>
                <a:cs typeface="Calibri" pitchFamily="34" charset="-120"/>
              </a:rPr>
              <a:t>Q3 2025 budget review.</a:t>
            </a:r>
            <a:endParaRPr lang="en-US" sz="2600" dirty="0"/>
          </a:p>
          <a:p>
            <a:pPr algn="ctr" indent="0" marL="0">
              <a:buNone/>
            </a:pPr>
            <a:r>
              <a:rPr lang="en-US" sz="2600" i="1" dirty="0">
                <a:solidFill>
                  <a:srgbClr val="1E3A5F"/>
                </a:solidFill>
                <a:latin typeface="Calibri" pitchFamily="34" charset="0"/>
                <a:ea typeface="Calibri" pitchFamily="34" charset="-122"/>
                <a:cs typeface="Calibri" pitchFamily="34" charset="-120"/>
              </a:rPr>
              <a:t>That's when we started looking."</a:t>
            </a:r>
            <a:endParaRPr lang="en-US" sz="2600" dirty="0"/>
          </a:p>
        </p:txBody>
      </p:sp>
      <p:sp>
        <p:nvSpPr>
          <p:cNvPr id="5" name="Text 3"/>
          <p:cNvSpPr/>
          <p:nvPr/>
        </p:nvSpPr>
        <p:spPr>
          <a:xfrm>
            <a:off x="731520" y="5303520"/>
            <a:ext cx="7498080" cy="365760"/>
          </a:xfrm>
          <a:prstGeom prst="rect">
            <a:avLst/>
          </a:prstGeom>
          <a:noFill/>
          <a:ln/>
        </p:spPr>
        <p:txBody>
          <a:bodyPr wrap="square" rtlCol="0" anchor="ctr"/>
          <a:lstStyle/>
          <a:p>
            <a:pPr algn="ctr" indent="0" marL="0">
              <a:buNone/>
            </a:pPr>
            <a:r>
              <a:rPr lang="en-US" sz="1400" i="1" dirty="0">
                <a:solidFill>
                  <a:srgbClr val="2D6A9F"/>
                </a:solidFill>
                <a:latin typeface="Calibri" pitchFamily="34" charset="0"/>
                <a:ea typeface="Calibri" pitchFamily="34" charset="-122"/>
                <a:cs typeface="Calibri" pitchFamily="34" charset="-120"/>
              </a:rPr>
              <a:t>— Platform Lead, Q3 2025 budget review</a:t>
            </a:r>
            <a:endParaRPr lang="en-US" sz="1400" dirty="0"/>
          </a:p>
        </p:txBody>
      </p:sp>
      <p:sp>
        <p:nvSpPr>
          <p:cNvPr id="6" name="Shape 4"/>
          <p:cNvSpPr/>
          <p:nvPr/>
        </p:nvSpPr>
        <p:spPr>
          <a:xfrm>
            <a:off x="0" y="6583680"/>
            <a:ext cx="12192000" cy="274320"/>
          </a:xfrm>
          <a:prstGeom prst="rect">
            <a:avLst/>
          </a:prstGeom>
          <a:solidFill>
            <a:srgbClr val="1B2A4A"/>
          </a:solidFill>
          <a:ln w="12700">
            <a:solidFill>
              <a:srgbClr val="1B2A4A"/>
            </a:solidFill>
            <a:prstDash val="solid"/>
          </a:ln>
        </p:spPr>
      </p:sp>
      <p:sp>
        <p:nvSpPr>
          <p:cNvPr id="7" name="Text 5"/>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1 — THE DATADOG INVOICE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800" b="1" dirty="0">
                <a:solidFill>
                  <a:srgbClr val="1E3A5F"/>
                </a:solidFill>
                <a:latin typeface="Calibri" pitchFamily="34" charset="0"/>
                <a:ea typeface="Calibri" pitchFamily="34" charset="-122"/>
                <a:cs typeface="Calibri" pitchFamily="34" charset="-120"/>
              </a:rPr>
              <a:t>The cost curve</a:t>
            </a:r>
            <a:endParaRPr lang="en-US" sz="2800" dirty="0"/>
          </a:p>
        </p:txBody>
      </p:sp>
      <p:sp>
        <p:nvSpPr>
          <p:cNvPr id="5" name="Text 3"/>
          <p:cNvSpPr/>
          <p:nvPr/>
        </p:nvSpPr>
        <p:spPr>
          <a:xfrm>
            <a:off x="91440" y="1143000"/>
            <a:ext cx="1188720" cy="365760"/>
          </a:xfrm>
          <a:prstGeom prst="rect">
            <a:avLst/>
          </a:prstGeom>
          <a:noFill/>
          <a:ln/>
        </p:spPr>
        <p:txBody>
          <a:bodyPr wrap="square" rtlCol="0" anchor="ctr"/>
          <a:lstStyle/>
          <a:p>
            <a:pPr algn="r" indent="0" marL="0">
              <a:buNone/>
            </a:pPr>
            <a:r>
              <a:rPr lang="en-US" sz="1300" b="1" dirty="0">
                <a:solidFill>
                  <a:srgbClr val="1E3A5F"/>
                </a:solidFill>
                <a:latin typeface="Calibri" pitchFamily="34" charset="0"/>
                <a:ea typeface="Calibri" pitchFamily="34" charset="-122"/>
                <a:cs typeface="Calibri" pitchFamily="34" charset="-120"/>
              </a:rPr>
              <a:t>2023</a:t>
            </a:r>
            <a:endParaRPr lang="en-US" sz="1300" dirty="0"/>
          </a:p>
        </p:txBody>
      </p:sp>
      <p:sp>
        <p:nvSpPr>
          <p:cNvPr id="6" name="Shape 4"/>
          <p:cNvSpPr/>
          <p:nvPr/>
        </p:nvSpPr>
        <p:spPr>
          <a:xfrm>
            <a:off x="1371600" y="1097280"/>
            <a:ext cx="1143000" cy="411480"/>
          </a:xfrm>
          <a:prstGeom prst="rect">
            <a:avLst/>
          </a:prstGeom>
          <a:solidFill>
            <a:srgbClr val="00B4D8"/>
          </a:solidFill>
          <a:ln w="12700">
            <a:solidFill>
              <a:srgbClr val="00B4D8"/>
            </a:solidFill>
            <a:prstDash val="solid"/>
          </a:ln>
        </p:spPr>
      </p:sp>
      <p:sp>
        <p:nvSpPr>
          <p:cNvPr id="7" name="Text 5"/>
          <p:cNvSpPr/>
          <p:nvPr/>
        </p:nvSpPr>
        <p:spPr>
          <a:xfrm>
            <a:off x="1463040" y="1170432"/>
            <a:ext cx="1097280" cy="27432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$180k</a:t>
            </a:r>
            <a:endParaRPr lang="en-US" sz="1300" dirty="0"/>
          </a:p>
        </p:txBody>
      </p:sp>
      <p:sp>
        <p:nvSpPr>
          <p:cNvPr id="8" name="Text 6"/>
          <p:cNvSpPr/>
          <p:nvPr/>
        </p:nvSpPr>
        <p:spPr>
          <a:xfrm>
            <a:off x="2606040" y="1170432"/>
            <a:ext cx="1645920" cy="274320"/>
          </a:xfrm>
          <a:prstGeom prst="rect">
            <a:avLst/>
          </a:prstGeom>
          <a:noFill/>
          <a:ln/>
        </p:spPr>
        <p:txBody>
          <a:bodyPr wrap="square" rtlCol="0" anchor="ctr"/>
          <a:lstStyle/>
          <a:p>
            <a:pPr algn="l" indent="0" marL="0">
              <a:buNone/>
            </a:pPr>
            <a:r>
              <a:rPr lang="en-US" sz="1100" dirty="0">
                <a:solidFill>
                  <a:srgbClr val="2D6A9F"/>
                </a:solidFill>
                <a:latin typeface="Calibri" pitchFamily="34" charset="0"/>
                <a:ea typeface="Calibri" pitchFamily="34" charset="-122"/>
                <a:cs typeface="Calibri" pitchFamily="34" charset="-120"/>
              </a:rPr>
              <a:t>2.1M series</a:t>
            </a:r>
            <a:endParaRPr lang="en-US" sz="1100" dirty="0"/>
          </a:p>
        </p:txBody>
      </p:sp>
      <p:sp>
        <p:nvSpPr>
          <p:cNvPr id="9" name="Text 7"/>
          <p:cNvSpPr/>
          <p:nvPr/>
        </p:nvSpPr>
        <p:spPr>
          <a:xfrm>
            <a:off x="91440" y="2057400"/>
            <a:ext cx="1188720" cy="365760"/>
          </a:xfrm>
          <a:prstGeom prst="rect">
            <a:avLst/>
          </a:prstGeom>
          <a:noFill/>
          <a:ln/>
        </p:spPr>
        <p:txBody>
          <a:bodyPr wrap="square" rtlCol="0" anchor="ctr"/>
          <a:lstStyle/>
          <a:p>
            <a:pPr algn="r" indent="0" marL="0">
              <a:buNone/>
            </a:pPr>
            <a:r>
              <a:rPr lang="en-US" sz="1300" b="1" dirty="0">
                <a:solidFill>
                  <a:srgbClr val="1E3A5F"/>
                </a:solidFill>
                <a:latin typeface="Calibri" pitchFamily="34" charset="0"/>
                <a:ea typeface="Calibri" pitchFamily="34" charset="-122"/>
                <a:cs typeface="Calibri" pitchFamily="34" charset="-120"/>
              </a:rPr>
              <a:t>2024</a:t>
            </a:r>
            <a:endParaRPr lang="en-US" sz="1300" dirty="0"/>
          </a:p>
        </p:txBody>
      </p:sp>
      <p:sp>
        <p:nvSpPr>
          <p:cNvPr id="10" name="Shape 8"/>
          <p:cNvSpPr/>
          <p:nvPr/>
        </p:nvSpPr>
        <p:spPr>
          <a:xfrm>
            <a:off x="1371600" y="2011680"/>
            <a:ext cx="2423160" cy="411480"/>
          </a:xfrm>
          <a:prstGeom prst="rect">
            <a:avLst/>
          </a:prstGeom>
          <a:solidFill>
            <a:srgbClr val="00B4D8"/>
          </a:solidFill>
          <a:ln w="12700">
            <a:solidFill>
              <a:srgbClr val="00B4D8"/>
            </a:solidFill>
            <a:prstDash val="solid"/>
          </a:ln>
        </p:spPr>
      </p:sp>
      <p:sp>
        <p:nvSpPr>
          <p:cNvPr id="11" name="Text 9"/>
          <p:cNvSpPr/>
          <p:nvPr/>
        </p:nvSpPr>
        <p:spPr>
          <a:xfrm>
            <a:off x="1463040" y="2084832"/>
            <a:ext cx="1097280" cy="27432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$380k</a:t>
            </a:r>
            <a:endParaRPr lang="en-US" sz="1300" dirty="0"/>
          </a:p>
        </p:txBody>
      </p:sp>
      <p:sp>
        <p:nvSpPr>
          <p:cNvPr id="12" name="Text 10"/>
          <p:cNvSpPr/>
          <p:nvPr/>
        </p:nvSpPr>
        <p:spPr>
          <a:xfrm>
            <a:off x="3886200" y="2084832"/>
            <a:ext cx="1645920" cy="274320"/>
          </a:xfrm>
          <a:prstGeom prst="rect">
            <a:avLst/>
          </a:prstGeom>
          <a:noFill/>
          <a:ln/>
        </p:spPr>
        <p:txBody>
          <a:bodyPr wrap="square" rtlCol="0" anchor="ctr"/>
          <a:lstStyle/>
          <a:p>
            <a:pPr algn="l" indent="0" marL="0">
              <a:buNone/>
            </a:pPr>
            <a:r>
              <a:rPr lang="en-US" sz="1100" dirty="0">
                <a:solidFill>
                  <a:srgbClr val="2D6A9F"/>
                </a:solidFill>
                <a:latin typeface="Calibri" pitchFamily="34" charset="0"/>
                <a:ea typeface="Calibri" pitchFamily="34" charset="-122"/>
                <a:cs typeface="Calibri" pitchFamily="34" charset="-120"/>
              </a:rPr>
              <a:t>6.8M series</a:t>
            </a:r>
            <a:endParaRPr lang="en-US" sz="1100" dirty="0"/>
          </a:p>
        </p:txBody>
      </p:sp>
      <p:sp>
        <p:nvSpPr>
          <p:cNvPr id="13" name="Text 11"/>
          <p:cNvSpPr/>
          <p:nvPr/>
        </p:nvSpPr>
        <p:spPr>
          <a:xfrm>
            <a:off x="91440" y="2971800"/>
            <a:ext cx="1188720" cy="365760"/>
          </a:xfrm>
          <a:prstGeom prst="rect">
            <a:avLst/>
          </a:prstGeom>
          <a:noFill/>
          <a:ln/>
        </p:spPr>
        <p:txBody>
          <a:bodyPr wrap="square" rtlCol="0" anchor="ctr"/>
          <a:lstStyle/>
          <a:p>
            <a:pPr algn="r" indent="0" marL="0">
              <a:buNone/>
            </a:pPr>
            <a:r>
              <a:rPr lang="en-US" sz="1300" b="1" dirty="0">
                <a:solidFill>
                  <a:srgbClr val="1E3A5F"/>
                </a:solidFill>
                <a:latin typeface="Calibri" pitchFamily="34" charset="0"/>
                <a:ea typeface="Calibri" pitchFamily="34" charset="-122"/>
                <a:cs typeface="Calibri" pitchFamily="34" charset="-120"/>
              </a:rPr>
              <a:t>2025</a:t>
            </a:r>
            <a:endParaRPr lang="en-US" sz="1300" dirty="0"/>
          </a:p>
        </p:txBody>
      </p:sp>
      <p:sp>
        <p:nvSpPr>
          <p:cNvPr id="14" name="Shape 12"/>
          <p:cNvSpPr/>
          <p:nvPr/>
        </p:nvSpPr>
        <p:spPr>
          <a:xfrm>
            <a:off x="1371600" y="2926080"/>
            <a:ext cx="3749040" cy="411480"/>
          </a:xfrm>
          <a:prstGeom prst="rect">
            <a:avLst/>
          </a:prstGeom>
          <a:solidFill>
            <a:srgbClr val="00B4D8"/>
          </a:solidFill>
          <a:ln w="12700">
            <a:solidFill>
              <a:srgbClr val="00B4D8"/>
            </a:solidFill>
            <a:prstDash val="solid"/>
          </a:ln>
        </p:spPr>
      </p:sp>
      <p:sp>
        <p:nvSpPr>
          <p:cNvPr id="15" name="Text 13"/>
          <p:cNvSpPr/>
          <p:nvPr/>
        </p:nvSpPr>
        <p:spPr>
          <a:xfrm>
            <a:off x="1463040" y="2999232"/>
            <a:ext cx="1097280" cy="27432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$590k</a:t>
            </a:r>
            <a:endParaRPr lang="en-US" sz="1300" dirty="0"/>
          </a:p>
        </p:txBody>
      </p:sp>
      <p:sp>
        <p:nvSpPr>
          <p:cNvPr id="16" name="Text 14"/>
          <p:cNvSpPr/>
          <p:nvPr/>
        </p:nvSpPr>
        <p:spPr>
          <a:xfrm>
            <a:off x="5212080" y="2999232"/>
            <a:ext cx="1645920" cy="274320"/>
          </a:xfrm>
          <a:prstGeom prst="rect">
            <a:avLst/>
          </a:prstGeom>
          <a:noFill/>
          <a:ln/>
        </p:spPr>
        <p:txBody>
          <a:bodyPr wrap="square" rtlCol="0" anchor="ctr"/>
          <a:lstStyle/>
          <a:p>
            <a:pPr algn="l" indent="0" marL="0">
              <a:buNone/>
            </a:pPr>
            <a:r>
              <a:rPr lang="en-US" sz="1100" dirty="0">
                <a:solidFill>
                  <a:srgbClr val="2D6A9F"/>
                </a:solidFill>
                <a:latin typeface="Calibri" pitchFamily="34" charset="0"/>
                <a:ea typeface="Calibri" pitchFamily="34" charset="-122"/>
                <a:cs typeface="Calibri" pitchFamily="34" charset="-120"/>
              </a:rPr>
              <a:t>14.2M series</a:t>
            </a:r>
            <a:endParaRPr lang="en-US" sz="1100" dirty="0"/>
          </a:p>
        </p:txBody>
      </p:sp>
      <p:sp>
        <p:nvSpPr>
          <p:cNvPr id="17" name="Text 15"/>
          <p:cNvSpPr/>
          <p:nvPr/>
        </p:nvSpPr>
        <p:spPr>
          <a:xfrm>
            <a:off x="91440" y="3886200"/>
            <a:ext cx="1188720" cy="365760"/>
          </a:xfrm>
          <a:prstGeom prst="rect">
            <a:avLst/>
          </a:prstGeom>
          <a:noFill/>
          <a:ln/>
        </p:spPr>
        <p:txBody>
          <a:bodyPr wrap="square" rtlCol="0" anchor="ctr"/>
          <a:lstStyle/>
          <a:p>
            <a:pPr algn="r" indent="0" marL="0">
              <a:buNone/>
            </a:pPr>
            <a:r>
              <a:rPr lang="en-US" sz="1300" b="1" dirty="0">
                <a:solidFill>
                  <a:srgbClr val="1E3A5F"/>
                </a:solidFill>
                <a:latin typeface="Calibri" pitchFamily="34" charset="0"/>
                <a:ea typeface="Calibri" pitchFamily="34" charset="-122"/>
                <a:cs typeface="Calibri" pitchFamily="34" charset="-120"/>
              </a:rPr>
              <a:t>2026</a:t>
            </a:r>
            <a:endParaRPr lang="en-US" sz="1300" dirty="0"/>
          </a:p>
          <a:p>
            <a:pPr algn="r" indent="0" marL="0">
              <a:buNone/>
            </a:pPr>
            <a:r>
              <a:rPr lang="en-US" sz="1300" b="1" dirty="0">
                <a:solidFill>
                  <a:srgbClr val="1E3A5F"/>
                </a:solidFill>
                <a:latin typeface="Calibri" pitchFamily="34" charset="0"/>
                <a:ea typeface="Calibri" pitchFamily="34" charset="-122"/>
                <a:cs typeface="Calibri" pitchFamily="34" charset="-120"/>
              </a:rPr>
              <a:t>(proj)</a:t>
            </a:r>
            <a:endParaRPr lang="en-US" sz="1300" dirty="0"/>
          </a:p>
        </p:txBody>
      </p:sp>
      <p:sp>
        <p:nvSpPr>
          <p:cNvPr id="18" name="Shape 16"/>
          <p:cNvSpPr/>
          <p:nvPr/>
        </p:nvSpPr>
        <p:spPr>
          <a:xfrm>
            <a:off x="1371600" y="3840480"/>
            <a:ext cx="4572000" cy="411480"/>
          </a:xfrm>
          <a:prstGeom prst="rect">
            <a:avLst/>
          </a:prstGeom>
          <a:solidFill>
            <a:srgbClr val="2D6A9F"/>
          </a:solidFill>
          <a:ln w="12700">
            <a:solidFill>
              <a:srgbClr val="2D6A9F"/>
            </a:solidFill>
            <a:prstDash val="solid"/>
          </a:ln>
        </p:spPr>
      </p:sp>
      <p:sp>
        <p:nvSpPr>
          <p:cNvPr id="19" name="Text 17"/>
          <p:cNvSpPr/>
          <p:nvPr/>
        </p:nvSpPr>
        <p:spPr>
          <a:xfrm>
            <a:off x="1463040" y="3913632"/>
            <a:ext cx="1097280" cy="27432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$720k</a:t>
            </a:r>
            <a:endParaRPr lang="en-US" sz="1300" dirty="0"/>
          </a:p>
        </p:txBody>
      </p:sp>
      <p:sp>
        <p:nvSpPr>
          <p:cNvPr id="20" name="Text 18"/>
          <p:cNvSpPr/>
          <p:nvPr/>
        </p:nvSpPr>
        <p:spPr>
          <a:xfrm>
            <a:off x="6035040" y="3913632"/>
            <a:ext cx="1645920" cy="274320"/>
          </a:xfrm>
          <a:prstGeom prst="rect">
            <a:avLst/>
          </a:prstGeom>
          <a:noFill/>
          <a:ln/>
        </p:spPr>
        <p:txBody>
          <a:bodyPr wrap="square" rtlCol="0" anchor="ctr"/>
          <a:lstStyle/>
          <a:p>
            <a:pPr algn="l" indent="0" marL="0">
              <a:buNone/>
            </a:pPr>
            <a:r>
              <a:rPr lang="en-US" sz="1100" dirty="0">
                <a:solidFill>
                  <a:srgbClr val="2D6A9F"/>
                </a:solidFill>
                <a:latin typeface="Calibri" pitchFamily="34" charset="0"/>
                <a:ea typeface="Calibri" pitchFamily="34" charset="-122"/>
                <a:cs typeface="Calibri" pitchFamily="34" charset="-120"/>
              </a:rPr>
              <a:t>19M series</a:t>
            </a:r>
            <a:endParaRPr lang="en-US" sz="1100" dirty="0"/>
          </a:p>
        </p:txBody>
      </p:sp>
      <p:sp>
        <p:nvSpPr>
          <p:cNvPr id="21" name="Text 19"/>
          <p:cNvSpPr/>
          <p:nvPr/>
        </p:nvSpPr>
        <p:spPr>
          <a:xfrm>
            <a:off x="1371600" y="4846320"/>
            <a:ext cx="5029200" cy="365760"/>
          </a:xfrm>
          <a:prstGeom prst="rect">
            <a:avLst/>
          </a:prstGeom>
          <a:noFill/>
          <a:ln/>
        </p:spPr>
        <p:txBody>
          <a:bodyPr wrap="square" rtlCol="0" anchor="ctr"/>
          <a:lstStyle/>
          <a:p>
            <a:pPr algn="l" indent="0" marL="0">
              <a:buNone/>
            </a:pPr>
            <a:r>
              <a:rPr lang="en-US" sz="1200" b="1" i="1" dirty="0">
                <a:solidFill>
                  <a:srgbClr val="D97706"/>
                </a:solidFill>
                <a:latin typeface="Calibri" pitchFamily="34" charset="0"/>
                <a:ea typeface="Calibri" pitchFamily="34" charset="-122"/>
                <a:cs typeface="Calibri" pitchFamily="34" charset="-120"/>
              </a:rPr>
              <a:t>Custom metrics SKU = 72% of total cost</a:t>
            </a:r>
            <a:endParaRPr lang="en-US" sz="1200" dirty="0"/>
          </a:p>
        </p:txBody>
      </p:sp>
      <p:sp>
        <p:nvSpPr>
          <p:cNvPr id="22" name="Shape 20"/>
          <p:cNvSpPr/>
          <p:nvPr/>
        </p:nvSpPr>
        <p:spPr>
          <a:xfrm>
            <a:off x="6217920" y="1005840"/>
            <a:ext cx="2560320" cy="219456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23" name="Shape 21"/>
          <p:cNvSpPr/>
          <p:nvPr/>
        </p:nvSpPr>
        <p:spPr>
          <a:xfrm>
            <a:off x="6217920" y="1005840"/>
            <a:ext cx="54864" cy="2194560"/>
          </a:xfrm>
          <a:prstGeom prst="rect">
            <a:avLst/>
          </a:prstGeom>
          <a:solidFill>
            <a:srgbClr val="DC3545"/>
          </a:solidFill>
          <a:ln w="12700">
            <a:solidFill>
              <a:srgbClr val="DC3545"/>
            </a:solidFill>
            <a:prstDash val="solid"/>
          </a:ln>
        </p:spPr>
      </p:sp>
      <p:sp>
        <p:nvSpPr>
          <p:cNvPr id="24" name="Text 22"/>
          <p:cNvSpPr/>
          <p:nvPr/>
        </p:nvSpPr>
        <p:spPr>
          <a:xfrm>
            <a:off x="6400800" y="1097280"/>
            <a:ext cx="2286000" cy="274320"/>
          </a:xfrm>
          <a:prstGeom prst="rect">
            <a:avLst/>
          </a:prstGeom>
          <a:noFill/>
          <a:ln/>
        </p:spPr>
        <p:txBody>
          <a:bodyPr wrap="square"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What didn't change:</a:t>
            </a:r>
            <a:endParaRPr lang="en-US" sz="1200" dirty="0"/>
          </a:p>
        </p:txBody>
      </p:sp>
      <p:sp>
        <p:nvSpPr>
          <p:cNvPr id="25" name="Text 23"/>
          <p:cNvSpPr/>
          <p:nvPr/>
        </p:nvSpPr>
        <p:spPr>
          <a:xfrm>
            <a:off x="6400800" y="1417320"/>
            <a:ext cx="2286000" cy="1371600"/>
          </a:xfrm>
          <a:prstGeom prst="rect">
            <a:avLst/>
          </a:prstGeom>
          <a:noFill/>
          <a:ln/>
        </p:spPr>
        <p:txBody>
          <a:bodyPr wrap="square" rtlCol="0" anchor="ctr"/>
          <a:lstStyle/>
          <a:p>
            <a:pPr algn="l" indent="0" marL="0">
              <a:buNone/>
            </a:pPr>
            <a:r>
              <a:rPr lang="en-US" sz="1100" dirty="0">
                <a:solidFill>
                  <a:srgbClr val="1E3A5F"/>
                </a:solidFill>
                <a:latin typeface="Calibri" pitchFamily="34" charset="0"/>
                <a:ea typeface="Calibri" pitchFamily="34" charset="-122"/>
                <a:cs typeface="Calibri" pitchFamily="34" charset="-120"/>
              </a:rPr>
              <a:t>• Number of services</a:t>
            </a:r>
            <a:endParaRPr lang="en-US" sz="1100" dirty="0"/>
          </a:p>
          <a:p>
            <a:pPr algn="l" indent="0" marL="0">
              <a:buNone/>
            </a:pPr>
            <a:r>
              <a:rPr lang="en-US" sz="1100" dirty="0">
                <a:solidFill>
                  <a:srgbClr val="1E3A5F"/>
                </a:solidFill>
                <a:latin typeface="Calibri" pitchFamily="34" charset="0"/>
                <a:ea typeface="Calibri" pitchFamily="34" charset="-122"/>
                <a:cs typeface="Calibri" pitchFamily="34" charset="-120"/>
              </a:rPr>
              <a:t>• Traffic volume</a:t>
            </a:r>
            <a:endParaRPr lang="en-US" sz="1100" dirty="0"/>
          </a:p>
          <a:p>
            <a:pPr algn="l" indent="0" marL="0">
              <a:buNone/>
            </a:pPr>
            <a:r>
              <a:rPr lang="en-US" sz="1100" dirty="0">
                <a:solidFill>
                  <a:srgbClr val="1E3A5F"/>
                </a:solidFill>
                <a:latin typeface="Calibri" pitchFamily="34" charset="0"/>
                <a:ea typeface="Calibri" pitchFamily="34" charset="-122"/>
                <a:cs typeface="Calibri" pitchFamily="34" charset="-120"/>
              </a:rPr>
              <a:t>• Engineering headcount</a:t>
            </a:r>
            <a:endParaRPr lang="en-US" sz="1100" dirty="0"/>
          </a:p>
          <a:p>
            <a:pPr algn="l" indent="0" marL="0">
              <a:buNone/>
            </a:pPr>
            <a:r>
              <a:rPr lang="en-US" sz="1100" dirty="0">
                <a:solidFill>
                  <a:srgbClr val="1E3A5F"/>
                </a:solidFill>
                <a:latin typeface="Calibri" pitchFamily="34" charset="0"/>
                <a:ea typeface="Calibri" pitchFamily="34" charset="-122"/>
                <a:cs typeface="Calibri" pitchFamily="34" charset="-120"/>
              </a:rPr>
              <a:t>• Product features</a:t>
            </a:r>
            <a:endParaRPr lang="en-US" sz="1100" dirty="0"/>
          </a:p>
        </p:txBody>
      </p:sp>
      <p:sp>
        <p:nvSpPr>
          <p:cNvPr id="26" name="Shape 24"/>
          <p:cNvSpPr/>
          <p:nvPr/>
        </p:nvSpPr>
        <p:spPr>
          <a:xfrm>
            <a:off x="0" y="6583680"/>
            <a:ext cx="12192000" cy="274320"/>
          </a:xfrm>
          <a:prstGeom prst="rect">
            <a:avLst/>
          </a:prstGeom>
          <a:solidFill>
            <a:srgbClr val="1B2A4A"/>
          </a:solidFill>
          <a:ln w="12700">
            <a:solidFill>
              <a:srgbClr val="1B2A4A"/>
            </a:solidFill>
            <a:prstDash val="solid"/>
          </a:ln>
        </p:spPr>
      </p:sp>
      <p:sp>
        <p:nvSpPr>
          <p:cNvPr id="27" name="Text 25"/>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1 — THE DATADOG INVOICE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94360"/>
          </a:xfrm>
          <a:prstGeom prst="rect">
            <a:avLst/>
          </a:prstGeom>
          <a:noFill/>
          <a:ln/>
        </p:spPr>
        <p:txBody>
          <a:bodyPr wrap="square" rtlCol="0" anchor="ctr"/>
          <a:lstStyle/>
          <a:p>
            <a:pPr algn="l" indent="0" marL="0">
              <a:buNone/>
            </a:pPr>
            <a:r>
              <a:rPr lang="en-US" sz="2400" b="1" dirty="0">
                <a:solidFill>
                  <a:srgbClr val="1E3A5F"/>
                </a:solidFill>
                <a:latin typeface="Calibri" pitchFamily="34" charset="0"/>
                <a:ea typeface="Calibri" pitchFamily="34" charset="-122"/>
                <a:cs typeface="Calibri" pitchFamily="34" charset="-120"/>
              </a:rPr>
              <a:t>If you're paying $400k+/yr, here's the case:</a:t>
            </a:r>
            <a:endParaRPr lang="en-US" sz="2400" dirty="0"/>
          </a:p>
        </p:txBody>
      </p:sp>
      <p:sp>
        <p:nvSpPr>
          <p:cNvPr id="5" name="Text 3"/>
          <p:cNvSpPr/>
          <p:nvPr/>
        </p:nvSpPr>
        <p:spPr>
          <a:xfrm>
            <a:off x="365760" y="1188720"/>
            <a:ext cx="2560320" cy="822960"/>
          </a:xfrm>
          <a:prstGeom prst="rect">
            <a:avLst/>
          </a:prstGeom>
          <a:noFill/>
          <a:ln/>
        </p:spPr>
        <p:txBody>
          <a:bodyPr wrap="square" rtlCol="0" anchor="ctr"/>
          <a:lstStyle/>
          <a:p>
            <a:pPr algn="ctr" indent="0" marL="0">
              <a:buNone/>
            </a:pPr>
            <a:r>
              <a:rPr lang="en-US" sz="5400" b="1" dirty="0">
                <a:solidFill>
                  <a:srgbClr val="00B4D8"/>
                </a:solidFill>
                <a:latin typeface="Calibri" pitchFamily="34" charset="0"/>
                <a:ea typeface="Calibri" pitchFamily="34" charset="-122"/>
                <a:cs typeface="Calibri" pitchFamily="34" charset="-120"/>
              </a:rPr>
              <a:t>10 mo</a:t>
            </a:r>
            <a:endParaRPr lang="en-US" sz="5400" dirty="0"/>
          </a:p>
        </p:txBody>
      </p:sp>
      <p:sp>
        <p:nvSpPr>
          <p:cNvPr id="6" name="Text 4"/>
          <p:cNvSpPr/>
          <p:nvPr/>
        </p:nvSpPr>
        <p:spPr>
          <a:xfrm>
            <a:off x="365760" y="1965960"/>
            <a:ext cx="2560320" cy="320040"/>
          </a:xfrm>
          <a:prstGeom prst="rect">
            <a:avLst/>
          </a:prstGeom>
          <a:noFill/>
          <a:ln/>
        </p:spPr>
        <p:txBody>
          <a:bodyPr wrap="square" rtlCol="0" anchor="ctr"/>
          <a:lstStyle/>
          <a:p>
            <a:pPr algn="ctr" indent="0" marL="0">
              <a:buNone/>
            </a:pPr>
            <a:r>
              <a:rPr lang="en-US" sz="1300" b="1" dirty="0">
                <a:solidFill>
                  <a:srgbClr val="2D6A9F"/>
                </a:solidFill>
                <a:latin typeface="Calibri" pitchFamily="34" charset="0"/>
                <a:ea typeface="Calibri" pitchFamily="34" charset="-122"/>
                <a:cs typeface="Calibri" pitchFamily="34" charset="-120"/>
              </a:rPr>
              <a:t>Actual migration time</a:t>
            </a:r>
            <a:endParaRPr lang="en-US" sz="1300" dirty="0"/>
          </a:p>
        </p:txBody>
      </p:sp>
      <p:sp>
        <p:nvSpPr>
          <p:cNvPr id="7" name="Text 5"/>
          <p:cNvSpPr/>
          <p:nvPr/>
        </p:nvSpPr>
        <p:spPr>
          <a:xfrm>
            <a:off x="365760" y="2304288"/>
            <a:ext cx="2560320" cy="365760"/>
          </a:xfrm>
          <a:prstGeom prst="rect">
            <a:avLst/>
          </a:prstGeom>
          <a:noFill/>
          <a:ln/>
        </p:spPr>
        <p:txBody>
          <a:bodyPr wrap="square" rtlCol="0" anchor="ctr"/>
          <a:lstStyle/>
          <a:p>
            <a:pPr algn="ctr" indent="0" marL="0">
              <a:buNone/>
            </a:pPr>
            <a:r>
              <a:rPr lang="en-US" sz="1000" i="1" dirty="0">
                <a:solidFill>
                  <a:srgbClr val="1E3A5F"/>
                </a:solidFill>
                <a:latin typeface="Calibri" pitchFamily="34" charset="0"/>
                <a:ea typeface="Calibri" pitchFamily="34" charset="-122"/>
                <a:cs typeface="Calibri" pitchFamily="34" charset="-120"/>
              </a:rPr>
              <a:t>Planned: 6 months</a:t>
            </a:r>
            <a:endParaRPr lang="en-US" sz="1000" dirty="0"/>
          </a:p>
        </p:txBody>
      </p:sp>
      <p:sp>
        <p:nvSpPr>
          <p:cNvPr id="8" name="Text 6"/>
          <p:cNvSpPr/>
          <p:nvPr/>
        </p:nvSpPr>
        <p:spPr>
          <a:xfrm>
            <a:off x="3200400" y="1188720"/>
            <a:ext cx="2560320" cy="822960"/>
          </a:xfrm>
          <a:prstGeom prst="rect">
            <a:avLst/>
          </a:prstGeom>
          <a:noFill/>
          <a:ln/>
        </p:spPr>
        <p:txBody>
          <a:bodyPr wrap="square" rtlCol="0" anchor="ctr"/>
          <a:lstStyle/>
          <a:p>
            <a:pPr algn="ctr" indent="0" marL="0">
              <a:buNone/>
            </a:pPr>
            <a:r>
              <a:rPr lang="en-US" sz="5400" b="1" dirty="0">
                <a:solidFill>
                  <a:srgbClr val="2D6A9F"/>
                </a:solidFill>
                <a:latin typeface="Calibri" pitchFamily="34" charset="0"/>
                <a:ea typeface="Calibri" pitchFamily="34" charset="-122"/>
                <a:cs typeface="Calibri" pitchFamily="34" charset="-120"/>
              </a:rPr>
              <a:t>14 mo</a:t>
            </a:r>
            <a:endParaRPr lang="en-US" sz="5400" dirty="0"/>
          </a:p>
        </p:txBody>
      </p:sp>
      <p:sp>
        <p:nvSpPr>
          <p:cNvPr id="9" name="Text 7"/>
          <p:cNvSpPr/>
          <p:nvPr/>
        </p:nvSpPr>
        <p:spPr>
          <a:xfrm>
            <a:off x="3200400" y="1965960"/>
            <a:ext cx="2560320" cy="320040"/>
          </a:xfrm>
          <a:prstGeom prst="rect">
            <a:avLst/>
          </a:prstGeom>
          <a:noFill/>
          <a:ln/>
        </p:spPr>
        <p:txBody>
          <a:bodyPr wrap="square" rtlCol="0" anchor="ctr"/>
          <a:lstStyle/>
          <a:p>
            <a:pPr algn="ctr" indent="0" marL="0">
              <a:buNone/>
            </a:pPr>
            <a:r>
              <a:rPr lang="en-US" sz="1300" b="1" dirty="0">
                <a:solidFill>
                  <a:srgbClr val="2D6A9F"/>
                </a:solidFill>
                <a:latin typeface="Calibri" pitchFamily="34" charset="0"/>
                <a:ea typeface="Calibri" pitchFamily="34" charset="-122"/>
                <a:cs typeface="Calibri" pitchFamily="34" charset="-120"/>
              </a:rPr>
              <a:t>Payback period</a:t>
            </a:r>
            <a:endParaRPr lang="en-US" sz="1300" dirty="0"/>
          </a:p>
        </p:txBody>
      </p:sp>
      <p:sp>
        <p:nvSpPr>
          <p:cNvPr id="10" name="Text 8"/>
          <p:cNvSpPr/>
          <p:nvPr/>
        </p:nvSpPr>
        <p:spPr>
          <a:xfrm>
            <a:off x="3200400" y="2304288"/>
            <a:ext cx="2560320" cy="365760"/>
          </a:xfrm>
          <a:prstGeom prst="rect">
            <a:avLst/>
          </a:prstGeom>
          <a:noFill/>
          <a:ln/>
        </p:spPr>
        <p:txBody>
          <a:bodyPr wrap="square" rtlCol="0" anchor="ctr"/>
          <a:lstStyle/>
          <a:p>
            <a:pPr algn="ctr" indent="0" marL="0">
              <a:buNone/>
            </a:pPr>
            <a:r>
              <a:rPr lang="en-US" sz="1000" i="1" dirty="0">
                <a:solidFill>
                  <a:srgbClr val="1E3A5F"/>
                </a:solidFill>
                <a:latin typeface="Calibri" pitchFamily="34" charset="0"/>
                <a:ea typeface="Calibri" pitchFamily="34" charset="-122"/>
                <a:cs typeface="Calibri" pitchFamily="34" charset="-120"/>
              </a:rPr>
              <a:t>From migration start</a:t>
            </a:r>
            <a:endParaRPr lang="en-US" sz="1000" dirty="0"/>
          </a:p>
        </p:txBody>
      </p:sp>
      <p:sp>
        <p:nvSpPr>
          <p:cNvPr id="11" name="Text 9"/>
          <p:cNvSpPr/>
          <p:nvPr/>
        </p:nvSpPr>
        <p:spPr>
          <a:xfrm>
            <a:off x="6035040" y="1188720"/>
            <a:ext cx="2560320" cy="822960"/>
          </a:xfrm>
          <a:prstGeom prst="rect">
            <a:avLst/>
          </a:prstGeom>
          <a:noFill/>
          <a:ln/>
        </p:spPr>
        <p:txBody>
          <a:bodyPr wrap="square" rtlCol="0" anchor="ctr"/>
          <a:lstStyle/>
          <a:p>
            <a:pPr algn="ctr" indent="0" marL="0">
              <a:buNone/>
            </a:pPr>
            <a:r>
              <a:rPr lang="en-US" sz="5400" b="1" dirty="0">
                <a:solidFill>
                  <a:srgbClr val="2D7D46"/>
                </a:solidFill>
                <a:latin typeface="Calibri" pitchFamily="34" charset="0"/>
                <a:ea typeface="Calibri" pitchFamily="34" charset="-122"/>
                <a:cs typeface="Calibri" pitchFamily="34" charset="-120"/>
              </a:rPr>
              <a:t>~65%</a:t>
            </a:r>
            <a:endParaRPr lang="en-US" sz="5400" dirty="0"/>
          </a:p>
        </p:txBody>
      </p:sp>
      <p:sp>
        <p:nvSpPr>
          <p:cNvPr id="12" name="Text 10"/>
          <p:cNvSpPr/>
          <p:nvPr/>
        </p:nvSpPr>
        <p:spPr>
          <a:xfrm>
            <a:off x="6035040" y="1965960"/>
            <a:ext cx="2560320" cy="320040"/>
          </a:xfrm>
          <a:prstGeom prst="rect">
            <a:avLst/>
          </a:prstGeom>
          <a:noFill/>
          <a:ln/>
        </p:spPr>
        <p:txBody>
          <a:bodyPr wrap="square" rtlCol="0" anchor="ctr"/>
          <a:lstStyle/>
          <a:p>
            <a:pPr algn="ctr" indent="0" marL="0">
              <a:buNone/>
            </a:pPr>
            <a:r>
              <a:rPr lang="en-US" sz="1300" b="1" dirty="0">
                <a:solidFill>
                  <a:srgbClr val="2D6A9F"/>
                </a:solidFill>
                <a:latin typeface="Calibri" pitchFamily="34" charset="0"/>
                <a:ea typeface="Calibri" pitchFamily="34" charset="-122"/>
                <a:cs typeface="Calibri" pitchFamily="34" charset="-120"/>
              </a:rPr>
              <a:t>Observability cost reduction</a:t>
            </a:r>
            <a:endParaRPr lang="en-US" sz="1300" dirty="0"/>
          </a:p>
        </p:txBody>
      </p:sp>
      <p:sp>
        <p:nvSpPr>
          <p:cNvPr id="13" name="Text 11"/>
          <p:cNvSpPr/>
          <p:nvPr/>
        </p:nvSpPr>
        <p:spPr>
          <a:xfrm>
            <a:off x="6035040" y="2304288"/>
            <a:ext cx="2560320" cy="365760"/>
          </a:xfrm>
          <a:prstGeom prst="rect">
            <a:avLst/>
          </a:prstGeom>
          <a:noFill/>
          <a:ln/>
        </p:spPr>
        <p:txBody>
          <a:bodyPr wrap="square" rtlCol="0" anchor="ctr"/>
          <a:lstStyle/>
          <a:p>
            <a:pPr algn="ctr" indent="0" marL="0">
              <a:buNone/>
            </a:pPr>
            <a:r>
              <a:rPr lang="en-US" sz="1000" i="1" dirty="0">
                <a:solidFill>
                  <a:srgbClr val="1E3A5F"/>
                </a:solidFill>
                <a:latin typeface="Calibri" pitchFamily="34" charset="0"/>
                <a:ea typeface="Calibri" pitchFamily="34" charset="-122"/>
                <a:cs typeface="Calibri" pitchFamily="34" charset="-120"/>
              </a:rPr>
              <a:t>Year-over-year after OTel</a:t>
            </a:r>
            <a:endParaRPr lang="en-US" sz="1000" dirty="0"/>
          </a:p>
        </p:txBody>
      </p:sp>
      <p:sp>
        <p:nvSpPr>
          <p:cNvPr id="14" name="Shape 12"/>
          <p:cNvSpPr/>
          <p:nvPr/>
        </p:nvSpPr>
        <p:spPr>
          <a:xfrm>
            <a:off x="365760" y="3108960"/>
            <a:ext cx="8412480" cy="164592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15" name="Shape 13"/>
          <p:cNvSpPr/>
          <p:nvPr/>
        </p:nvSpPr>
        <p:spPr>
          <a:xfrm>
            <a:off x="365760" y="3108960"/>
            <a:ext cx="54864" cy="1645920"/>
          </a:xfrm>
          <a:prstGeom prst="rect">
            <a:avLst/>
          </a:prstGeom>
          <a:solidFill>
            <a:srgbClr val="D97706"/>
          </a:solidFill>
          <a:ln w="12700">
            <a:solidFill>
              <a:srgbClr val="D97706"/>
            </a:solidFill>
            <a:prstDash val="solid"/>
          </a:ln>
        </p:spPr>
      </p:sp>
      <p:sp>
        <p:nvSpPr>
          <p:cNvPr id="16" name="Text 14"/>
          <p:cNvSpPr/>
          <p:nvPr/>
        </p:nvSpPr>
        <p:spPr>
          <a:xfrm>
            <a:off x="502920" y="3200400"/>
            <a:ext cx="818388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What this number requires:</a:t>
            </a:r>
            <a:endParaRPr lang="en-US" sz="1300" dirty="0"/>
          </a:p>
        </p:txBody>
      </p:sp>
      <p:sp>
        <p:nvSpPr>
          <p:cNvPr id="17" name="Text 15"/>
          <p:cNvSpPr/>
          <p:nvPr/>
        </p:nvSpPr>
        <p:spPr>
          <a:xfrm>
            <a:off x="502920" y="3493008"/>
            <a:ext cx="8183880" cy="1170432"/>
          </a:xfrm>
          <a:prstGeom prst="rect">
            <a:avLst/>
          </a:prstGeom>
          <a:noFill/>
          <a:ln/>
        </p:spPr>
        <p:txBody>
          <a:bodyPr wrap="square" rtlCol="0" anchor="t"/>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1-2 dedicated platform engineers for 10+ months (the hidden cost)</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Leadership buy-in to accept 4 months of migration-induced alert noise</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Legal decision on cost number sharing before external use</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OTel does NOT eliminate cardinality risk — it moves it from your wallet to your infra team</a:t>
            </a:r>
            <a:endParaRPr lang="en-US" sz="1100" dirty="0"/>
          </a:p>
        </p:txBody>
      </p:sp>
      <p:sp>
        <p:nvSpPr>
          <p:cNvPr id="18" name="Shape 16"/>
          <p:cNvSpPr/>
          <p:nvPr/>
        </p:nvSpPr>
        <p:spPr>
          <a:xfrm>
            <a:off x="0" y="6583680"/>
            <a:ext cx="12192000" cy="274320"/>
          </a:xfrm>
          <a:prstGeom prst="rect">
            <a:avLst/>
          </a:prstGeom>
          <a:solidFill>
            <a:srgbClr val="1B2A4A"/>
          </a:solidFill>
          <a:ln w="12700">
            <a:solidFill>
              <a:srgbClr val="1B2A4A"/>
            </a:solidFill>
            <a:prstDash val="solid"/>
          </a:ln>
        </p:spPr>
      </p:sp>
      <p:sp>
        <p:nvSpPr>
          <p:cNvPr id="19" name="Text 17"/>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1 — THE DATADOG INVOICE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2A4A"/>
          </a:solidFill>
          <a:ln w="12700">
            <a:solidFill>
              <a:srgbClr val="1B2A4A"/>
            </a:solidFill>
            <a:prstDash val="solid"/>
          </a:ln>
        </p:spPr>
      </p:sp>
      <p:sp>
        <p:nvSpPr>
          <p:cNvPr id="3" name="Text 1"/>
          <p:cNvSpPr/>
          <p:nvPr/>
        </p:nvSpPr>
        <p:spPr>
          <a:xfrm>
            <a:off x="365760" y="274320"/>
            <a:ext cx="1645920" cy="320040"/>
          </a:xfrm>
          <a:prstGeom prst="rect">
            <a:avLst/>
          </a:prstGeom>
          <a:noFill/>
          <a:ln/>
        </p:spPr>
        <p:txBody>
          <a:bodyPr wrap="square" rtlCol="0" anchor="ctr"/>
          <a:lstStyle/>
          <a:p>
            <a:pPr algn="l" indent="0" marL="0">
              <a:buNone/>
            </a:pPr>
            <a:r>
              <a:rPr lang="en-US" sz="1100" b="1" dirty="0">
                <a:solidFill>
                  <a:srgbClr val="00B4D8"/>
                </a:solidFill>
                <a:latin typeface="Calibri" pitchFamily="34" charset="0"/>
                <a:ea typeface="Calibri" pitchFamily="34" charset="-122"/>
                <a:cs typeface="Calibri" pitchFamily="34" charset="-120"/>
              </a:rPr>
              <a:t>SECTION 2</a:t>
            </a:r>
            <a:endParaRPr lang="en-US" sz="1100" dirty="0"/>
          </a:p>
        </p:txBody>
      </p:sp>
      <p:sp>
        <p:nvSpPr>
          <p:cNvPr id="4" name="Text 2"/>
          <p:cNvSpPr/>
          <p:nvPr/>
        </p:nvSpPr>
        <p:spPr>
          <a:xfrm>
            <a:off x="365760" y="2560320"/>
            <a:ext cx="8229600" cy="1645920"/>
          </a:xfrm>
          <a:prstGeom prst="rect">
            <a:avLst/>
          </a:prstGeom>
          <a:noFill/>
          <a:ln/>
          <a:effectLst>
            <a:outerShdw sx="100000" sy="100000" kx="0" ky="0" algn="bl" rotWithShape="0" blurRad="76200" dist="38100" dir="2700000">
              <a:srgbClr val="00000040">
                <a:alpha val="25000"/>
              </a:srgbClr>
            </a:outerShdw>
          </a:effectLst>
        </p:spPr>
        <p:txBody>
          <a:bodyPr wrap="square" rtlCol="0" anchor="ctr"/>
          <a:lstStyle/>
          <a:p>
            <a:pPr algn="l" indent="0" marL="0">
              <a:buNone/>
            </a:pPr>
            <a:r>
              <a:rPr lang="en-US" sz="4000" b="1" dirty="0">
                <a:solidFill>
                  <a:srgbClr val="E8F4FD"/>
                </a:solidFill>
                <a:latin typeface="Calibri" pitchFamily="34" charset="0"/>
                <a:ea typeface="Calibri" pitchFamily="34" charset="-122"/>
                <a:cs typeface="Calibri" pitchFamily="34" charset="-120"/>
              </a:rPr>
              <a:t>Why OTel (and why we</a:t>
            </a:r>
            <a:endParaRPr lang="en-US" sz="4000" dirty="0"/>
          </a:p>
          <a:p>
            <a:pPr algn="l" indent="0" marL="0">
              <a:buNone/>
            </a:pPr>
            <a:r>
              <a:rPr lang="en-US" sz="4000" b="1" dirty="0">
                <a:solidFill>
                  <a:srgbClr val="E8F4FD"/>
                </a:solidFill>
                <a:latin typeface="Calibri" pitchFamily="34" charset="0"/>
                <a:ea typeface="Calibri" pitchFamily="34" charset="-122"/>
                <a:cs typeface="Calibri" pitchFamily="34" charset="-120"/>
              </a:rPr>
              <a:t>rejected the alternatives)</a:t>
            </a:r>
            <a:endParaRPr lang="en-US" sz="4000" dirty="0"/>
          </a:p>
        </p:txBody>
      </p:sp>
      <p:sp>
        <p:nvSpPr>
          <p:cNvPr id="5" name="Text 3"/>
          <p:cNvSpPr/>
          <p:nvPr/>
        </p:nvSpPr>
        <p:spPr>
          <a:xfrm>
            <a:off x="365760" y="4297680"/>
            <a:ext cx="8229600" cy="457200"/>
          </a:xfrm>
          <a:prstGeom prst="rect">
            <a:avLst/>
          </a:prstGeom>
          <a:noFill/>
          <a:ln/>
        </p:spPr>
        <p:txBody>
          <a:bodyPr wrap="square" rtlCol="0" anchor="ctr"/>
          <a:lstStyle/>
          <a:p>
            <a:pPr algn="l" indent="0" marL="0">
              <a:buNone/>
            </a:pPr>
            <a:r>
              <a:rPr lang="en-US" sz="1800" dirty="0">
                <a:solidFill>
                  <a:srgbClr val="00B4D8"/>
                </a:solidFill>
                <a:latin typeface="Calibri" pitchFamily="34" charset="0"/>
                <a:ea typeface="Calibri" pitchFamily="34" charset="-122"/>
                <a:cs typeface="Calibri" pitchFamily="34" charset="-120"/>
              </a:rPr>
              <a:t>We almost chose New Relic. Here's what stopped us.</a:t>
            </a:r>
            <a:endParaRPr lang="en-US" sz="1800" dirty="0"/>
          </a:p>
        </p:txBody>
      </p:sp>
      <p:sp>
        <p:nvSpPr>
          <p:cNvPr id="6" name="Shape 4"/>
          <p:cNvSpPr/>
          <p:nvPr/>
        </p:nvSpPr>
        <p:spPr>
          <a:xfrm>
            <a:off x="7406640" y="6400800"/>
            <a:ext cx="109728" cy="109728"/>
          </a:xfrm>
          <a:prstGeom prst="ellipse">
            <a:avLst/>
          </a:prstGeom>
          <a:solidFill>
            <a:srgbClr val="2D6A9F"/>
          </a:solidFill>
          <a:ln w="12700">
            <a:solidFill>
              <a:srgbClr val="2D6A9F"/>
            </a:solidFill>
            <a:prstDash val="solid"/>
          </a:ln>
        </p:spPr>
      </p:sp>
      <p:sp>
        <p:nvSpPr>
          <p:cNvPr id="7" name="Shape 5"/>
          <p:cNvSpPr/>
          <p:nvPr/>
        </p:nvSpPr>
        <p:spPr>
          <a:xfrm>
            <a:off x="7607808" y="6400800"/>
            <a:ext cx="109728" cy="109728"/>
          </a:xfrm>
          <a:prstGeom prst="ellipse">
            <a:avLst/>
          </a:prstGeom>
          <a:solidFill>
            <a:srgbClr val="00B4D8"/>
          </a:solidFill>
          <a:ln w="12700">
            <a:solidFill>
              <a:srgbClr val="00B4D8"/>
            </a:solidFill>
            <a:prstDash val="solid"/>
          </a:ln>
        </p:spPr>
      </p:sp>
      <p:sp>
        <p:nvSpPr>
          <p:cNvPr id="8" name="Shape 6"/>
          <p:cNvSpPr/>
          <p:nvPr/>
        </p:nvSpPr>
        <p:spPr>
          <a:xfrm>
            <a:off x="7808976" y="6400800"/>
            <a:ext cx="109728" cy="109728"/>
          </a:xfrm>
          <a:prstGeom prst="ellipse">
            <a:avLst/>
          </a:prstGeom>
          <a:ln w="12700">
            <a:solidFill>
              <a:srgbClr val="E8F4FD"/>
            </a:solidFill>
            <a:prstDash val="solid"/>
          </a:ln>
        </p:spPr>
      </p:sp>
      <p:sp>
        <p:nvSpPr>
          <p:cNvPr id="9" name="Shape 7"/>
          <p:cNvSpPr/>
          <p:nvPr/>
        </p:nvSpPr>
        <p:spPr>
          <a:xfrm>
            <a:off x="8010144" y="6400800"/>
            <a:ext cx="109728" cy="109728"/>
          </a:xfrm>
          <a:prstGeom prst="ellipse">
            <a:avLst/>
          </a:prstGeom>
          <a:ln w="12700">
            <a:solidFill>
              <a:srgbClr val="E8F4FD"/>
            </a:solidFill>
            <a:prstDash val="solid"/>
          </a:ln>
        </p:spPr>
      </p:sp>
      <p:sp>
        <p:nvSpPr>
          <p:cNvPr id="10" name="Shape 8"/>
          <p:cNvSpPr/>
          <p:nvPr/>
        </p:nvSpPr>
        <p:spPr>
          <a:xfrm>
            <a:off x="8211312" y="6400800"/>
            <a:ext cx="109728" cy="109728"/>
          </a:xfrm>
          <a:prstGeom prst="ellipse">
            <a:avLst/>
          </a:prstGeom>
          <a:ln w="12700">
            <a:solidFill>
              <a:srgbClr val="E8F4FD"/>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800" b="1" dirty="0">
                <a:solidFill>
                  <a:srgbClr val="1E3A5F"/>
                </a:solidFill>
                <a:latin typeface="Calibri" pitchFamily="34" charset="0"/>
                <a:ea typeface="Calibri" pitchFamily="34" charset="-122"/>
                <a:cs typeface="Calibri" pitchFamily="34" charset="-120"/>
              </a:rPr>
              <a:t>We almost chose New Relic</a:t>
            </a:r>
            <a:endParaRPr lang="en-US" sz="2800" dirty="0"/>
          </a:p>
        </p:txBody>
      </p:sp>
      <p:sp>
        <p:nvSpPr>
          <p:cNvPr id="5" name="Text 3"/>
          <p:cNvSpPr/>
          <p:nvPr/>
        </p:nvSpPr>
        <p:spPr>
          <a:xfrm>
            <a:off x="365760" y="914400"/>
            <a:ext cx="4114800" cy="365760"/>
          </a:xfrm>
          <a:prstGeom prst="rect">
            <a:avLst/>
          </a:prstGeom>
          <a:noFill/>
          <a:ln/>
        </p:spPr>
        <p:txBody>
          <a:bodyPr wrap="square" rtlCol="0" anchor="ctr"/>
          <a:lstStyle/>
          <a:p>
            <a:pPr algn="ctr" indent="0" marL="0">
              <a:buNone/>
            </a:pPr>
            <a:r>
              <a:rPr lang="en-US" sz="1500" b="1" dirty="0">
                <a:solidFill>
                  <a:srgbClr val="D97706"/>
                </a:solidFill>
                <a:latin typeface="Calibri" pitchFamily="34" charset="0"/>
                <a:ea typeface="Calibri" pitchFamily="34" charset="-122"/>
                <a:cs typeface="Calibri" pitchFamily="34" charset="-120"/>
              </a:rPr>
              <a:t>New Relic (finalist)</a:t>
            </a:r>
            <a:endParaRPr lang="en-US" sz="1500" dirty="0"/>
          </a:p>
        </p:txBody>
      </p:sp>
      <p:sp>
        <p:nvSpPr>
          <p:cNvPr id="6" name="Text 4"/>
          <p:cNvSpPr/>
          <p:nvPr/>
        </p:nvSpPr>
        <p:spPr>
          <a:xfrm>
            <a:off x="4754880" y="914400"/>
            <a:ext cx="4114800" cy="365760"/>
          </a:xfrm>
          <a:prstGeom prst="rect">
            <a:avLst/>
          </a:prstGeom>
          <a:noFill/>
          <a:ln/>
        </p:spPr>
        <p:txBody>
          <a:bodyPr wrap="square" rtlCol="0" anchor="ctr"/>
          <a:lstStyle/>
          <a:p>
            <a:pPr algn="ctr" indent="0" marL="0">
              <a:buNone/>
            </a:pPr>
            <a:r>
              <a:rPr lang="en-US" sz="1500" b="1" dirty="0">
                <a:solidFill>
                  <a:srgbClr val="2D7D46"/>
                </a:solidFill>
                <a:latin typeface="Calibri" pitchFamily="34" charset="0"/>
                <a:ea typeface="Calibri" pitchFamily="34" charset="-122"/>
                <a:cs typeface="Calibri" pitchFamily="34" charset="-120"/>
              </a:rPr>
              <a:t>OTel + self-hosted</a:t>
            </a:r>
            <a:endParaRPr lang="en-US" sz="1500" dirty="0"/>
          </a:p>
        </p:txBody>
      </p:sp>
      <p:sp>
        <p:nvSpPr>
          <p:cNvPr id="7" name="Shape 5"/>
          <p:cNvSpPr/>
          <p:nvPr/>
        </p:nvSpPr>
        <p:spPr>
          <a:xfrm>
            <a:off x="365760" y="1298448"/>
            <a:ext cx="4114800" cy="0"/>
          </a:xfrm>
          <a:prstGeom prst="line">
            <a:avLst/>
          </a:prstGeom>
          <a:noFill/>
          <a:ln w="19050">
            <a:solidFill>
              <a:srgbClr val="D97706"/>
            </a:solidFill>
            <a:prstDash val="solid"/>
          </a:ln>
        </p:spPr>
      </p:sp>
      <p:sp>
        <p:nvSpPr>
          <p:cNvPr id="8" name="Shape 6"/>
          <p:cNvSpPr/>
          <p:nvPr/>
        </p:nvSpPr>
        <p:spPr>
          <a:xfrm>
            <a:off x="4754880" y="1298448"/>
            <a:ext cx="4114800" cy="0"/>
          </a:xfrm>
          <a:prstGeom prst="line">
            <a:avLst/>
          </a:prstGeom>
          <a:noFill/>
          <a:ln w="19050">
            <a:solidFill>
              <a:srgbClr val="2D7D46"/>
            </a:solidFill>
            <a:prstDash val="solid"/>
          </a:ln>
        </p:spPr>
      </p:sp>
      <p:sp>
        <p:nvSpPr>
          <p:cNvPr id="9" name="Shape 7"/>
          <p:cNvSpPr/>
          <p:nvPr/>
        </p:nvSpPr>
        <p:spPr>
          <a:xfrm>
            <a:off x="4526280" y="822960"/>
            <a:ext cx="0" cy="5303520"/>
          </a:xfrm>
          <a:prstGeom prst="line">
            <a:avLst/>
          </a:prstGeom>
          <a:noFill/>
          <a:ln w="9525">
            <a:solidFill>
              <a:srgbClr val="E2E8F0"/>
            </a:solidFill>
            <a:prstDash val="solid"/>
          </a:ln>
        </p:spPr>
      </p:sp>
      <p:sp>
        <p:nvSpPr>
          <p:cNvPr id="10" name="Text 8"/>
          <p:cNvSpPr/>
          <p:nvPr/>
        </p:nvSpPr>
        <p:spPr>
          <a:xfrm>
            <a:off x="502920" y="1463040"/>
            <a:ext cx="3840480" cy="411480"/>
          </a:xfrm>
          <a:prstGeom prst="rect">
            <a:avLst/>
          </a:prstGeom>
          <a:noFill/>
          <a:ln/>
        </p:spPr>
        <p:txBody>
          <a:bodyPr wrap="square" rtlCol="0" anchor="ctr"/>
          <a:lstStyle/>
          <a:p>
            <a:pPr algn="l" indent="0" marL="0">
              <a:buNone/>
            </a:pPr>
            <a:r>
              <a:rPr lang="en-US" sz="1200" dirty="0">
                <a:solidFill>
                  <a:srgbClr val="2D7D46"/>
                </a:solidFill>
                <a:latin typeface="Calibri" pitchFamily="34" charset="0"/>
                <a:ea typeface="Calibri" pitchFamily="34" charset="-122"/>
                <a:cs typeface="Calibri" pitchFamily="34" charset="-120"/>
              </a:rPr>
              <a:t>✓ Familiar UI to current team</a:t>
            </a:r>
            <a:endParaRPr lang="en-US" sz="1200" dirty="0"/>
          </a:p>
        </p:txBody>
      </p:sp>
      <p:sp>
        <p:nvSpPr>
          <p:cNvPr id="11" name="Text 9"/>
          <p:cNvSpPr/>
          <p:nvPr/>
        </p:nvSpPr>
        <p:spPr>
          <a:xfrm>
            <a:off x="502920" y="1947672"/>
            <a:ext cx="3840480" cy="411480"/>
          </a:xfrm>
          <a:prstGeom prst="rect">
            <a:avLst/>
          </a:prstGeom>
          <a:noFill/>
          <a:ln/>
        </p:spPr>
        <p:txBody>
          <a:bodyPr wrap="square" rtlCol="0" anchor="ctr"/>
          <a:lstStyle/>
          <a:p>
            <a:pPr algn="l" indent="0" marL="0">
              <a:buNone/>
            </a:pPr>
            <a:r>
              <a:rPr lang="en-US" sz="1200" dirty="0">
                <a:solidFill>
                  <a:srgbClr val="2D7D46"/>
                </a:solidFill>
                <a:latin typeface="Calibri" pitchFamily="34" charset="0"/>
                <a:ea typeface="Calibri" pitchFamily="34" charset="-122"/>
                <a:cs typeface="Calibri" pitchFamily="34" charset="-120"/>
              </a:rPr>
              <a:t>✓ Integrated APM + logs + alerts</a:t>
            </a:r>
            <a:endParaRPr lang="en-US" sz="1200" dirty="0"/>
          </a:p>
        </p:txBody>
      </p:sp>
      <p:sp>
        <p:nvSpPr>
          <p:cNvPr id="12" name="Text 10"/>
          <p:cNvSpPr/>
          <p:nvPr/>
        </p:nvSpPr>
        <p:spPr>
          <a:xfrm>
            <a:off x="502920" y="2432304"/>
            <a:ext cx="3840480" cy="411480"/>
          </a:xfrm>
          <a:prstGeom prst="rect">
            <a:avLst/>
          </a:prstGeom>
          <a:noFill/>
          <a:ln/>
        </p:spPr>
        <p:txBody>
          <a:bodyPr wrap="square" rtlCol="0" anchor="ctr"/>
          <a:lstStyle/>
          <a:p>
            <a:pPr algn="l" indent="0" marL="0">
              <a:buNone/>
            </a:pPr>
            <a:r>
              <a:rPr lang="en-US" sz="1200" dirty="0">
                <a:solidFill>
                  <a:srgbClr val="2D7D46"/>
                </a:solidFill>
                <a:latin typeface="Calibri" pitchFamily="34" charset="0"/>
                <a:ea typeface="Calibri" pitchFamily="34" charset="-122"/>
                <a:cs typeface="Calibri" pitchFamily="34" charset="-120"/>
              </a:rPr>
              <a:t>✓ Shorter migration timeline (~3 mo)</a:t>
            </a:r>
            <a:endParaRPr lang="en-US" sz="1200" dirty="0"/>
          </a:p>
        </p:txBody>
      </p:sp>
      <p:sp>
        <p:nvSpPr>
          <p:cNvPr id="13" name="Text 11"/>
          <p:cNvSpPr/>
          <p:nvPr/>
        </p:nvSpPr>
        <p:spPr>
          <a:xfrm>
            <a:off x="502920" y="2916936"/>
            <a:ext cx="3840480" cy="411480"/>
          </a:xfrm>
          <a:prstGeom prst="rect">
            <a:avLst/>
          </a:prstGeom>
          <a:noFill/>
          <a:ln/>
        </p:spPr>
        <p:txBody>
          <a:bodyPr wrap="square" rtlCol="0" anchor="ctr"/>
          <a:lstStyle/>
          <a:p>
            <a:pPr algn="l" indent="0" marL="0">
              <a:buNone/>
            </a:pPr>
            <a:r>
              <a:rPr lang="en-US" sz="1200" dirty="0">
                <a:solidFill>
                  <a:srgbClr val="DC3545"/>
                </a:solidFill>
                <a:latin typeface="Calibri" pitchFamily="34" charset="0"/>
                <a:ea typeface="Calibri" pitchFamily="34" charset="-122"/>
                <a:cs typeface="Calibri" pitchFamily="34" charset="-120"/>
              </a:rPr>
              <a:t>✗ Still per-ingestion pricing</a:t>
            </a:r>
            <a:endParaRPr lang="en-US" sz="1200" dirty="0"/>
          </a:p>
        </p:txBody>
      </p:sp>
      <p:sp>
        <p:nvSpPr>
          <p:cNvPr id="14" name="Text 12"/>
          <p:cNvSpPr/>
          <p:nvPr/>
        </p:nvSpPr>
        <p:spPr>
          <a:xfrm>
            <a:off x="502920" y="3401568"/>
            <a:ext cx="3840480" cy="411480"/>
          </a:xfrm>
          <a:prstGeom prst="rect">
            <a:avLst/>
          </a:prstGeom>
          <a:noFill/>
          <a:ln/>
        </p:spPr>
        <p:txBody>
          <a:bodyPr wrap="square" rtlCol="0" anchor="ctr"/>
          <a:lstStyle/>
          <a:p>
            <a:pPr algn="l" indent="0" marL="0">
              <a:buNone/>
            </a:pPr>
            <a:r>
              <a:rPr lang="en-US" sz="1200" dirty="0">
                <a:solidFill>
                  <a:srgbClr val="DC3545"/>
                </a:solidFill>
                <a:latin typeface="Calibri" pitchFamily="34" charset="0"/>
                <a:ea typeface="Calibri" pitchFamily="34" charset="-122"/>
                <a:cs typeface="Calibri" pitchFamily="34" charset="-120"/>
              </a:rPr>
              <a:t>✗ Similar cardinality cost risk</a:t>
            </a:r>
            <a:endParaRPr lang="en-US" sz="1200" dirty="0"/>
          </a:p>
        </p:txBody>
      </p:sp>
      <p:sp>
        <p:nvSpPr>
          <p:cNvPr id="15" name="Text 13"/>
          <p:cNvSpPr/>
          <p:nvPr/>
        </p:nvSpPr>
        <p:spPr>
          <a:xfrm>
            <a:off x="502920" y="3886200"/>
            <a:ext cx="3840480" cy="411480"/>
          </a:xfrm>
          <a:prstGeom prst="rect">
            <a:avLst/>
          </a:prstGeom>
          <a:noFill/>
          <a:ln/>
        </p:spPr>
        <p:txBody>
          <a:bodyPr wrap="square" rtlCol="0" anchor="ctr"/>
          <a:lstStyle/>
          <a:p>
            <a:pPr algn="l" indent="0" marL="0">
              <a:buNone/>
            </a:pPr>
            <a:r>
              <a:rPr lang="en-US" sz="1200" dirty="0">
                <a:solidFill>
                  <a:srgbClr val="DC3545"/>
                </a:solidFill>
                <a:latin typeface="Calibri" pitchFamily="34" charset="0"/>
                <a:ea typeface="Calibri" pitchFamily="34" charset="-122"/>
                <a:cs typeface="Calibri" pitchFamily="34" charset="-120"/>
              </a:rPr>
              <a:t>✗ Another proprietary lock-in</a:t>
            </a:r>
            <a:endParaRPr lang="en-US" sz="1200" dirty="0"/>
          </a:p>
        </p:txBody>
      </p:sp>
      <p:sp>
        <p:nvSpPr>
          <p:cNvPr id="16" name="Text 14"/>
          <p:cNvSpPr/>
          <p:nvPr/>
        </p:nvSpPr>
        <p:spPr>
          <a:xfrm>
            <a:off x="502920" y="4370832"/>
            <a:ext cx="3840480" cy="411480"/>
          </a:xfrm>
          <a:prstGeom prst="rect">
            <a:avLst/>
          </a:prstGeom>
          <a:noFill/>
          <a:ln/>
        </p:spPr>
        <p:txBody>
          <a:bodyPr wrap="square" rtlCol="0" anchor="ctr"/>
          <a:lstStyle/>
          <a:p>
            <a:pPr algn="l" indent="0" marL="0">
              <a:buNone/>
            </a:pPr>
            <a:r>
              <a:rPr lang="en-US" sz="1200" dirty="0">
                <a:solidFill>
                  <a:srgbClr val="DC3545"/>
                </a:solidFill>
                <a:latin typeface="Calibri" pitchFamily="34" charset="0"/>
                <a:ea typeface="Calibri" pitchFamily="34" charset="-122"/>
                <a:cs typeface="Calibri" pitchFamily="34" charset="-120"/>
              </a:rPr>
              <a:t>✗ Agent instrumentation = rewrite anyway</a:t>
            </a:r>
            <a:endParaRPr lang="en-US" sz="1200" dirty="0"/>
          </a:p>
        </p:txBody>
      </p:sp>
      <p:sp>
        <p:nvSpPr>
          <p:cNvPr id="17" name="Text 15"/>
          <p:cNvSpPr/>
          <p:nvPr/>
        </p:nvSpPr>
        <p:spPr>
          <a:xfrm>
            <a:off x="4892040" y="1463040"/>
            <a:ext cx="3840480" cy="411480"/>
          </a:xfrm>
          <a:prstGeom prst="rect">
            <a:avLst/>
          </a:prstGeom>
          <a:noFill/>
          <a:ln/>
        </p:spPr>
        <p:txBody>
          <a:bodyPr wrap="square" rtlCol="0" anchor="ctr"/>
          <a:lstStyle/>
          <a:p>
            <a:pPr algn="l" indent="0" marL="0">
              <a:buNone/>
            </a:pPr>
            <a:r>
              <a:rPr lang="en-US" sz="1200" dirty="0">
                <a:solidFill>
                  <a:srgbClr val="2D7D46"/>
                </a:solidFill>
                <a:latin typeface="Calibri" pitchFamily="34" charset="0"/>
                <a:ea typeface="Calibri" pitchFamily="34" charset="-122"/>
                <a:cs typeface="Calibri" pitchFamily="34" charset="-120"/>
              </a:rPr>
              <a:t>✓ Vendor-neutral, open standard</a:t>
            </a:r>
            <a:endParaRPr lang="en-US" sz="1200" dirty="0"/>
          </a:p>
        </p:txBody>
      </p:sp>
      <p:sp>
        <p:nvSpPr>
          <p:cNvPr id="18" name="Text 16"/>
          <p:cNvSpPr/>
          <p:nvPr/>
        </p:nvSpPr>
        <p:spPr>
          <a:xfrm>
            <a:off x="4892040" y="1947672"/>
            <a:ext cx="3840480" cy="411480"/>
          </a:xfrm>
          <a:prstGeom prst="rect">
            <a:avLst/>
          </a:prstGeom>
          <a:noFill/>
          <a:ln/>
        </p:spPr>
        <p:txBody>
          <a:bodyPr wrap="square" rtlCol="0" anchor="ctr"/>
          <a:lstStyle/>
          <a:p>
            <a:pPr algn="l" indent="0" marL="0">
              <a:buNone/>
            </a:pPr>
            <a:r>
              <a:rPr lang="en-US" sz="1200" dirty="0">
                <a:solidFill>
                  <a:srgbClr val="2D7D46"/>
                </a:solidFill>
                <a:latin typeface="Calibri" pitchFamily="34" charset="0"/>
                <a:ea typeface="Calibri" pitchFamily="34" charset="-122"/>
                <a:cs typeface="Calibri" pitchFamily="34" charset="-120"/>
              </a:rPr>
              <a:t>✓ Per-sample cost model (Mimir)</a:t>
            </a:r>
            <a:endParaRPr lang="en-US" sz="1200" dirty="0"/>
          </a:p>
        </p:txBody>
      </p:sp>
      <p:sp>
        <p:nvSpPr>
          <p:cNvPr id="19" name="Text 17"/>
          <p:cNvSpPr/>
          <p:nvPr/>
        </p:nvSpPr>
        <p:spPr>
          <a:xfrm>
            <a:off x="4892040" y="2432304"/>
            <a:ext cx="3840480" cy="411480"/>
          </a:xfrm>
          <a:prstGeom prst="rect">
            <a:avLst/>
          </a:prstGeom>
          <a:noFill/>
          <a:ln/>
        </p:spPr>
        <p:txBody>
          <a:bodyPr wrap="square" rtlCol="0" anchor="ctr"/>
          <a:lstStyle/>
          <a:p>
            <a:pPr algn="l" indent="0" marL="0">
              <a:buNone/>
            </a:pPr>
            <a:r>
              <a:rPr lang="en-US" sz="1200" dirty="0">
                <a:solidFill>
                  <a:srgbClr val="2D7D46"/>
                </a:solidFill>
                <a:latin typeface="Calibri" pitchFamily="34" charset="0"/>
                <a:ea typeface="Calibri" pitchFamily="34" charset="-122"/>
                <a:cs typeface="Calibri" pitchFamily="34" charset="-120"/>
              </a:rPr>
              <a:t>✓ Cardinality cost = compute, not $</a:t>
            </a:r>
            <a:endParaRPr lang="en-US" sz="1200" dirty="0"/>
          </a:p>
        </p:txBody>
      </p:sp>
      <p:sp>
        <p:nvSpPr>
          <p:cNvPr id="20" name="Text 18"/>
          <p:cNvSpPr/>
          <p:nvPr/>
        </p:nvSpPr>
        <p:spPr>
          <a:xfrm>
            <a:off x="4892040" y="2916936"/>
            <a:ext cx="3840480" cy="411480"/>
          </a:xfrm>
          <a:prstGeom prst="rect">
            <a:avLst/>
          </a:prstGeom>
          <a:noFill/>
          <a:ln/>
        </p:spPr>
        <p:txBody>
          <a:bodyPr wrap="square" rtlCol="0" anchor="ctr"/>
          <a:lstStyle/>
          <a:p>
            <a:pPr algn="l" indent="0" marL="0">
              <a:buNone/>
            </a:pPr>
            <a:r>
              <a:rPr lang="en-US" sz="1200" dirty="0">
                <a:solidFill>
                  <a:srgbClr val="2D7D46"/>
                </a:solidFill>
                <a:latin typeface="Calibri" pitchFamily="34" charset="0"/>
                <a:ea typeface="Calibri" pitchFamily="34" charset="-122"/>
                <a:cs typeface="Calibri" pitchFamily="34" charset="-120"/>
              </a:rPr>
              <a:t>✓ Industry direction (CNCF)</a:t>
            </a:r>
            <a:endParaRPr lang="en-US" sz="1200" dirty="0"/>
          </a:p>
        </p:txBody>
      </p:sp>
      <p:sp>
        <p:nvSpPr>
          <p:cNvPr id="21" name="Text 19"/>
          <p:cNvSpPr/>
          <p:nvPr/>
        </p:nvSpPr>
        <p:spPr>
          <a:xfrm>
            <a:off x="4892040" y="3401568"/>
            <a:ext cx="3840480" cy="411480"/>
          </a:xfrm>
          <a:prstGeom prst="rect">
            <a:avLst/>
          </a:prstGeom>
          <a:noFill/>
          <a:ln/>
        </p:spPr>
        <p:txBody>
          <a:bodyPr wrap="square" rtlCol="0" anchor="ctr"/>
          <a:lstStyle/>
          <a:p>
            <a:pPr algn="l" indent="0" marL="0">
              <a:buNone/>
            </a:pPr>
            <a:r>
              <a:rPr lang="en-US" sz="1200" dirty="0">
                <a:solidFill>
                  <a:srgbClr val="DC3545"/>
                </a:solidFill>
                <a:latin typeface="Calibri" pitchFamily="34" charset="0"/>
                <a:ea typeface="Calibri" pitchFamily="34" charset="-122"/>
                <a:cs typeface="Calibri" pitchFamily="34" charset="-120"/>
              </a:rPr>
              <a:t>✗ Longer migration (we said 6 mo…)</a:t>
            </a:r>
            <a:endParaRPr lang="en-US" sz="1200" dirty="0"/>
          </a:p>
        </p:txBody>
      </p:sp>
      <p:sp>
        <p:nvSpPr>
          <p:cNvPr id="22" name="Text 20"/>
          <p:cNvSpPr/>
          <p:nvPr/>
        </p:nvSpPr>
        <p:spPr>
          <a:xfrm>
            <a:off x="4892040" y="3886200"/>
            <a:ext cx="3840480" cy="411480"/>
          </a:xfrm>
          <a:prstGeom prst="rect">
            <a:avLst/>
          </a:prstGeom>
          <a:noFill/>
          <a:ln/>
        </p:spPr>
        <p:txBody>
          <a:bodyPr wrap="square" rtlCol="0" anchor="ctr"/>
          <a:lstStyle/>
          <a:p>
            <a:pPr algn="l" indent="0" marL="0">
              <a:buNone/>
            </a:pPr>
            <a:r>
              <a:rPr lang="en-US" sz="1200" dirty="0">
                <a:solidFill>
                  <a:srgbClr val="DC3545"/>
                </a:solidFill>
                <a:latin typeface="Calibri" pitchFamily="34" charset="0"/>
                <a:ea typeface="Calibri" pitchFamily="34" charset="-122"/>
                <a:cs typeface="Calibri" pitchFamily="34" charset="-120"/>
              </a:rPr>
              <a:t>✗ Need platform eng to run it</a:t>
            </a:r>
            <a:endParaRPr lang="en-US" sz="1200" dirty="0"/>
          </a:p>
        </p:txBody>
      </p:sp>
      <p:sp>
        <p:nvSpPr>
          <p:cNvPr id="23" name="Text 21"/>
          <p:cNvSpPr/>
          <p:nvPr/>
        </p:nvSpPr>
        <p:spPr>
          <a:xfrm>
            <a:off x="4892040" y="4370832"/>
            <a:ext cx="3840480" cy="411480"/>
          </a:xfrm>
          <a:prstGeom prst="rect">
            <a:avLst/>
          </a:prstGeom>
          <a:noFill/>
          <a:ln/>
        </p:spPr>
        <p:txBody>
          <a:bodyPr wrap="square" rtlCol="0" anchor="ctr"/>
          <a:lstStyle/>
          <a:p>
            <a:pPr algn="l" indent="0" marL="0">
              <a:buNone/>
            </a:pPr>
            <a:r>
              <a:rPr lang="en-US" sz="1200" dirty="0">
                <a:solidFill>
                  <a:srgbClr val="DC3545"/>
                </a:solidFill>
                <a:latin typeface="Calibri" pitchFamily="34" charset="0"/>
                <a:ea typeface="Calibri" pitchFamily="34" charset="-122"/>
                <a:cs typeface="Calibri" pitchFamily="34" charset="-120"/>
              </a:rPr>
              <a:t>✗ Tooling less mature than Datadog</a:t>
            </a:r>
            <a:endParaRPr lang="en-US" sz="1200" dirty="0"/>
          </a:p>
        </p:txBody>
      </p:sp>
      <p:sp>
        <p:nvSpPr>
          <p:cNvPr id="24" name="Shape 22"/>
          <p:cNvSpPr/>
          <p:nvPr/>
        </p:nvSpPr>
        <p:spPr>
          <a:xfrm>
            <a:off x="0" y="6583680"/>
            <a:ext cx="12192000" cy="274320"/>
          </a:xfrm>
          <a:prstGeom prst="rect">
            <a:avLst/>
          </a:prstGeom>
          <a:solidFill>
            <a:srgbClr val="1B2A4A"/>
          </a:solidFill>
          <a:ln w="12700">
            <a:solidFill>
              <a:srgbClr val="1B2A4A"/>
            </a:solidFill>
            <a:prstDash val="solid"/>
          </a:ln>
        </p:spPr>
      </p:sp>
      <p:sp>
        <p:nvSpPr>
          <p:cNvPr id="25" name="Text 23"/>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2 — WHY OTEL</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800" b="1" dirty="0">
                <a:solidFill>
                  <a:srgbClr val="1E3A5F"/>
                </a:solidFill>
                <a:latin typeface="Calibri" pitchFamily="34" charset="0"/>
                <a:ea typeface="Calibri" pitchFamily="34" charset="-122"/>
                <a:cs typeface="Calibri" pitchFamily="34" charset="-120"/>
              </a:rPr>
              <a:t>Our three decision criteria</a:t>
            </a:r>
            <a:endParaRPr lang="en-US" sz="2800" dirty="0"/>
          </a:p>
        </p:txBody>
      </p:sp>
      <p:sp>
        <p:nvSpPr>
          <p:cNvPr id="5" name="Shape 3"/>
          <p:cNvSpPr/>
          <p:nvPr/>
        </p:nvSpPr>
        <p:spPr>
          <a:xfrm>
            <a:off x="365760" y="914400"/>
            <a:ext cx="2651760" cy="475488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6" name="Shape 4"/>
          <p:cNvSpPr/>
          <p:nvPr/>
        </p:nvSpPr>
        <p:spPr>
          <a:xfrm>
            <a:off x="365760" y="914400"/>
            <a:ext cx="54864" cy="4754880"/>
          </a:xfrm>
          <a:prstGeom prst="rect">
            <a:avLst/>
          </a:prstGeom>
          <a:solidFill>
            <a:srgbClr val="00B4D8"/>
          </a:solidFill>
          <a:ln w="12700">
            <a:solidFill>
              <a:srgbClr val="00B4D8"/>
            </a:solidFill>
            <a:prstDash val="solid"/>
          </a:ln>
        </p:spPr>
      </p:sp>
      <p:sp>
        <p:nvSpPr>
          <p:cNvPr id="7" name="Text 5"/>
          <p:cNvSpPr/>
          <p:nvPr/>
        </p:nvSpPr>
        <p:spPr>
          <a:xfrm>
            <a:off x="502920" y="1005840"/>
            <a:ext cx="242316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01  Portability</a:t>
            </a:r>
            <a:endParaRPr lang="en-US" sz="1300" dirty="0"/>
          </a:p>
        </p:txBody>
      </p:sp>
      <p:sp>
        <p:nvSpPr>
          <p:cNvPr id="8" name="Text 6"/>
          <p:cNvSpPr/>
          <p:nvPr/>
        </p:nvSpPr>
        <p:spPr>
          <a:xfrm>
            <a:off x="502920" y="1298448"/>
            <a:ext cx="2423160" cy="4279392"/>
          </a:xfrm>
          <a:prstGeom prst="rect">
            <a:avLst/>
          </a:prstGeom>
          <a:noFill/>
          <a:ln/>
        </p:spPr>
        <p:txBody>
          <a:bodyPr wrap="square" rtlCol="0" anchor="t"/>
          <a:lstStyle/>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Never rewrite instrumentation again</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OTLP is becoming the default SDK for most languages</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If we migrate backends in 3 years, code changes = near zero</a:t>
            </a:r>
            <a:endParaRPr lang="en-US" sz="1200" dirty="0"/>
          </a:p>
        </p:txBody>
      </p:sp>
      <p:sp>
        <p:nvSpPr>
          <p:cNvPr id="9" name="Shape 7"/>
          <p:cNvSpPr/>
          <p:nvPr/>
        </p:nvSpPr>
        <p:spPr>
          <a:xfrm>
            <a:off x="3200400" y="914400"/>
            <a:ext cx="2651760" cy="475488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10" name="Shape 8"/>
          <p:cNvSpPr/>
          <p:nvPr/>
        </p:nvSpPr>
        <p:spPr>
          <a:xfrm>
            <a:off x="3200400" y="914400"/>
            <a:ext cx="54864" cy="4754880"/>
          </a:xfrm>
          <a:prstGeom prst="rect">
            <a:avLst/>
          </a:prstGeom>
          <a:solidFill>
            <a:srgbClr val="00B4D8"/>
          </a:solidFill>
          <a:ln w="12700">
            <a:solidFill>
              <a:srgbClr val="00B4D8"/>
            </a:solidFill>
            <a:prstDash val="solid"/>
          </a:ln>
        </p:spPr>
      </p:sp>
      <p:sp>
        <p:nvSpPr>
          <p:cNvPr id="11" name="Text 9"/>
          <p:cNvSpPr/>
          <p:nvPr/>
        </p:nvSpPr>
        <p:spPr>
          <a:xfrm>
            <a:off x="3337560" y="1005840"/>
            <a:ext cx="242316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02  Cost model</a:t>
            </a:r>
            <a:endParaRPr lang="en-US" sz="1300" dirty="0"/>
          </a:p>
        </p:txBody>
      </p:sp>
      <p:sp>
        <p:nvSpPr>
          <p:cNvPr id="12" name="Text 10"/>
          <p:cNvSpPr/>
          <p:nvPr/>
        </p:nvSpPr>
        <p:spPr>
          <a:xfrm>
            <a:off x="3337560" y="1298448"/>
            <a:ext cx="2423160" cy="4279392"/>
          </a:xfrm>
          <a:prstGeom prst="rect">
            <a:avLst/>
          </a:prstGeom>
          <a:noFill/>
          <a:ln/>
        </p:spPr>
        <p:txBody>
          <a:bodyPr wrap="square" rtlCol="0" anchor="t"/>
          <a:lstStyle/>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Per-sample pricing (Mimir/Prometheus) vs. per-tag-combination</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Cardinality mistakes cost compute, not money</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Predictable scaling: cost ~ data volume, not data structure</a:t>
            </a:r>
            <a:endParaRPr lang="en-US" sz="1200" dirty="0"/>
          </a:p>
        </p:txBody>
      </p:sp>
      <p:sp>
        <p:nvSpPr>
          <p:cNvPr id="13" name="Shape 11"/>
          <p:cNvSpPr/>
          <p:nvPr/>
        </p:nvSpPr>
        <p:spPr>
          <a:xfrm>
            <a:off x="6035040" y="914400"/>
            <a:ext cx="2651760" cy="475488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14" name="Shape 12"/>
          <p:cNvSpPr/>
          <p:nvPr/>
        </p:nvSpPr>
        <p:spPr>
          <a:xfrm>
            <a:off x="6035040" y="914400"/>
            <a:ext cx="54864" cy="4754880"/>
          </a:xfrm>
          <a:prstGeom prst="rect">
            <a:avLst/>
          </a:prstGeom>
          <a:solidFill>
            <a:srgbClr val="00B4D8"/>
          </a:solidFill>
          <a:ln w="12700">
            <a:solidFill>
              <a:srgbClr val="00B4D8"/>
            </a:solidFill>
            <a:prstDash val="solid"/>
          </a:ln>
        </p:spPr>
      </p:sp>
      <p:sp>
        <p:nvSpPr>
          <p:cNvPr id="15" name="Text 13"/>
          <p:cNvSpPr/>
          <p:nvPr/>
        </p:nvSpPr>
        <p:spPr>
          <a:xfrm>
            <a:off x="6172200" y="1005840"/>
            <a:ext cx="242316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03  Community momentum</a:t>
            </a:r>
            <a:endParaRPr lang="en-US" sz="1300" dirty="0"/>
          </a:p>
        </p:txBody>
      </p:sp>
      <p:sp>
        <p:nvSpPr>
          <p:cNvPr id="16" name="Text 14"/>
          <p:cNvSpPr/>
          <p:nvPr/>
        </p:nvSpPr>
        <p:spPr>
          <a:xfrm>
            <a:off x="6172200" y="1298448"/>
            <a:ext cx="2423160" cy="4279392"/>
          </a:xfrm>
          <a:prstGeom prst="rect">
            <a:avLst/>
          </a:prstGeom>
          <a:noFill/>
          <a:ln/>
        </p:spPr>
        <p:txBody>
          <a:bodyPr wrap="square" rtlCol="0" anchor="t"/>
          <a:lstStyle/>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CNCF graduated project (2023)</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Every major cloud has native OTLP endpoint</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Tooling catching up fast — Grafana Stack is now production-grade</a:t>
            </a:r>
            <a:endParaRPr lang="en-US" sz="1200" dirty="0"/>
          </a:p>
        </p:txBody>
      </p:sp>
      <p:sp>
        <p:nvSpPr>
          <p:cNvPr id="17" name="Shape 15"/>
          <p:cNvSpPr/>
          <p:nvPr/>
        </p:nvSpPr>
        <p:spPr>
          <a:xfrm>
            <a:off x="0" y="6583680"/>
            <a:ext cx="12192000" cy="274320"/>
          </a:xfrm>
          <a:prstGeom prst="rect">
            <a:avLst/>
          </a:prstGeom>
          <a:solidFill>
            <a:srgbClr val="1B2A4A"/>
          </a:solidFill>
          <a:ln w="12700">
            <a:solidFill>
              <a:srgbClr val="1B2A4A"/>
            </a:solidFill>
            <a:prstDash val="solid"/>
          </a:ln>
        </p:spPr>
      </p:sp>
      <p:sp>
        <p:nvSpPr>
          <p:cNvPr id="18" name="Text 16"/>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2 — WHY OTEL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800" b="1" dirty="0">
                <a:solidFill>
                  <a:srgbClr val="1E3A5F"/>
                </a:solidFill>
                <a:latin typeface="Calibri" pitchFamily="34" charset="0"/>
                <a:ea typeface="Calibri" pitchFamily="34" charset="-122"/>
                <a:cs typeface="Calibri" pitchFamily="34" charset="-120"/>
              </a:rPr>
              <a:t>The decision</a:t>
            </a:r>
            <a:endParaRPr lang="en-US" sz="2800" dirty="0"/>
          </a:p>
        </p:txBody>
      </p:sp>
      <p:sp>
        <p:nvSpPr>
          <p:cNvPr id="5" name="Shape 3"/>
          <p:cNvSpPr/>
          <p:nvPr/>
        </p:nvSpPr>
        <p:spPr>
          <a:xfrm>
            <a:off x="731520" y="1280160"/>
            <a:ext cx="7680960" cy="2560320"/>
          </a:xfrm>
          <a:prstGeom prst="rect">
            <a:avLst/>
          </a:prstGeom>
          <a:solidFill>
            <a:srgbClr val="1B2A4A"/>
          </a:solidFill>
          <a:ln w="12700">
            <a:solidFill>
              <a:srgbClr val="1B2A4A"/>
            </a:solidFill>
            <a:prstDash val="solid"/>
          </a:ln>
        </p:spPr>
      </p:sp>
      <p:sp>
        <p:nvSpPr>
          <p:cNvPr id="6" name="Text 4"/>
          <p:cNvSpPr/>
          <p:nvPr/>
        </p:nvSpPr>
        <p:spPr>
          <a:xfrm>
            <a:off x="731520" y="1280160"/>
            <a:ext cx="7680960" cy="2560320"/>
          </a:xfrm>
          <a:prstGeom prst="rect">
            <a:avLst/>
          </a:prstGeom>
          <a:noFill/>
          <a:ln/>
        </p:spPr>
        <p:txBody>
          <a:bodyPr wrap="square" rtlCol="0" anchor="ctr"/>
          <a:lstStyle/>
          <a:p>
            <a:pPr algn="ctr" indent="0" marL="0">
              <a:buNone/>
            </a:pPr>
            <a:r>
              <a:rPr lang="en-US" sz="3000" b="1" dirty="0">
                <a:solidFill>
                  <a:srgbClr val="E8F4FD"/>
                </a:solidFill>
                <a:latin typeface="Calibri" pitchFamily="34" charset="0"/>
                <a:ea typeface="Calibri" pitchFamily="34" charset="-122"/>
                <a:cs typeface="Calibri" pitchFamily="34" charset="-120"/>
              </a:rPr>
              <a:t>OTel Collector + Grafana Stack</a:t>
            </a:r>
            <a:endParaRPr lang="en-US" sz="3000" dirty="0"/>
          </a:p>
          <a:p>
            <a:pPr algn="ctr" indent="0" marL="0">
              <a:buNone/>
            </a:pPr>
            <a:r>
              <a:rPr lang="en-US" sz="3000" b="1" dirty="0">
                <a:solidFill>
                  <a:srgbClr val="E8F4FD"/>
                </a:solidFill>
                <a:latin typeface="Calibri" pitchFamily="34" charset="0"/>
                <a:ea typeface="Calibri" pitchFamily="34" charset="-122"/>
                <a:cs typeface="Calibri" pitchFamily="34" charset="-120"/>
              </a:rPr>
              <a:t>(Tempo / Mimir / Loki)</a:t>
            </a:r>
            <a:endParaRPr lang="en-US" sz="3000" dirty="0"/>
          </a:p>
        </p:txBody>
      </p:sp>
      <p:sp>
        <p:nvSpPr>
          <p:cNvPr id="7" name="Shape 5"/>
          <p:cNvSpPr/>
          <p:nvPr/>
        </p:nvSpPr>
        <p:spPr>
          <a:xfrm>
            <a:off x="731520" y="4114800"/>
            <a:ext cx="2377440" cy="822960"/>
          </a:xfrm>
          <a:prstGeom prst="rect">
            <a:avLst/>
          </a:prstGeom>
          <a:solidFill>
            <a:srgbClr val="F8FAFC"/>
          </a:solidFill>
          <a:ln w="9525">
            <a:solidFill>
              <a:srgbClr val="2D6A9F"/>
            </a:solidFill>
            <a:prstDash val="solid"/>
          </a:ln>
        </p:spPr>
      </p:sp>
      <p:sp>
        <p:nvSpPr>
          <p:cNvPr id="8" name="Text 6"/>
          <p:cNvSpPr/>
          <p:nvPr/>
        </p:nvSpPr>
        <p:spPr>
          <a:xfrm>
            <a:off x="822960" y="4169664"/>
            <a:ext cx="2194560" cy="274320"/>
          </a:xfrm>
          <a:prstGeom prst="rect">
            <a:avLst/>
          </a:prstGeom>
          <a:noFill/>
          <a:ln/>
        </p:spPr>
        <p:txBody>
          <a:bodyPr wrap="square" rtlCol="0" anchor="ctr"/>
          <a:lstStyle/>
          <a:p>
            <a:pPr algn="ctr" indent="0" marL="0">
              <a:buNone/>
            </a:pPr>
            <a:r>
              <a:rPr lang="en-US" sz="1300" b="1" dirty="0">
                <a:solidFill>
                  <a:srgbClr val="2D6A9F"/>
                </a:solidFill>
                <a:latin typeface="Calibri" pitchFamily="34" charset="0"/>
                <a:ea typeface="Calibri" pitchFamily="34" charset="-122"/>
                <a:cs typeface="Calibri" pitchFamily="34" charset="-120"/>
              </a:rPr>
              <a:t>Traces</a:t>
            </a:r>
            <a:endParaRPr lang="en-US" sz="1300" dirty="0"/>
          </a:p>
        </p:txBody>
      </p:sp>
      <p:sp>
        <p:nvSpPr>
          <p:cNvPr id="9" name="Text 7"/>
          <p:cNvSpPr/>
          <p:nvPr/>
        </p:nvSpPr>
        <p:spPr>
          <a:xfrm>
            <a:off x="822960" y="4462272"/>
            <a:ext cx="2194560" cy="274320"/>
          </a:xfrm>
          <a:prstGeom prst="rect">
            <a:avLst/>
          </a:prstGeom>
          <a:noFill/>
          <a:ln/>
        </p:spPr>
        <p:txBody>
          <a:bodyPr wrap="square" rtlCol="0" anchor="ctr"/>
          <a:lstStyle/>
          <a:p>
            <a:pPr algn="ctr" indent="0" marL="0">
              <a:buNone/>
            </a:pPr>
            <a:r>
              <a:rPr lang="en-US" sz="1100" dirty="0">
                <a:solidFill>
                  <a:srgbClr val="1E3A5F"/>
                </a:solidFill>
                <a:latin typeface="Calibri" pitchFamily="34" charset="0"/>
                <a:ea typeface="Calibri" pitchFamily="34" charset="-122"/>
                <a:cs typeface="Calibri" pitchFamily="34" charset="-120"/>
              </a:rPr>
              <a:t>Grafana Cloud / Tempo</a:t>
            </a:r>
            <a:endParaRPr lang="en-US" sz="1100" dirty="0"/>
          </a:p>
        </p:txBody>
      </p:sp>
      <p:sp>
        <p:nvSpPr>
          <p:cNvPr id="10" name="Shape 8"/>
          <p:cNvSpPr/>
          <p:nvPr/>
        </p:nvSpPr>
        <p:spPr>
          <a:xfrm>
            <a:off x="3383280" y="4114800"/>
            <a:ext cx="2377440" cy="822960"/>
          </a:xfrm>
          <a:prstGeom prst="rect">
            <a:avLst/>
          </a:prstGeom>
          <a:solidFill>
            <a:srgbClr val="F8FAFC"/>
          </a:solidFill>
          <a:ln w="9525">
            <a:solidFill>
              <a:srgbClr val="2D6A9F"/>
            </a:solidFill>
            <a:prstDash val="solid"/>
          </a:ln>
        </p:spPr>
      </p:sp>
      <p:sp>
        <p:nvSpPr>
          <p:cNvPr id="11" name="Text 9"/>
          <p:cNvSpPr/>
          <p:nvPr/>
        </p:nvSpPr>
        <p:spPr>
          <a:xfrm>
            <a:off x="3474720" y="4169664"/>
            <a:ext cx="2194560" cy="274320"/>
          </a:xfrm>
          <a:prstGeom prst="rect">
            <a:avLst/>
          </a:prstGeom>
          <a:noFill/>
          <a:ln/>
        </p:spPr>
        <p:txBody>
          <a:bodyPr wrap="square" rtlCol="0" anchor="ctr"/>
          <a:lstStyle/>
          <a:p>
            <a:pPr algn="ctr" indent="0" marL="0">
              <a:buNone/>
            </a:pPr>
            <a:r>
              <a:rPr lang="en-US" sz="1300" b="1" dirty="0">
                <a:solidFill>
                  <a:srgbClr val="2D6A9F"/>
                </a:solidFill>
                <a:latin typeface="Calibri" pitchFamily="34" charset="0"/>
                <a:ea typeface="Calibri" pitchFamily="34" charset="-122"/>
                <a:cs typeface="Calibri" pitchFamily="34" charset="-120"/>
              </a:rPr>
              <a:t>Metrics</a:t>
            </a:r>
            <a:endParaRPr lang="en-US" sz="1300" dirty="0"/>
          </a:p>
        </p:txBody>
      </p:sp>
      <p:sp>
        <p:nvSpPr>
          <p:cNvPr id="12" name="Text 10"/>
          <p:cNvSpPr/>
          <p:nvPr/>
        </p:nvSpPr>
        <p:spPr>
          <a:xfrm>
            <a:off x="3474720" y="4462272"/>
            <a:ext cx="2194560" cy="274320"/>
          </a:xfrm>
          <a:prstGeom prst="rect">
            <a:avLst/>
          </a:prstGeom>
          <a:noFill/>
          <a:ln/>
        </p:spPr>
        <p:txBody>
          <a:bodyPr wrap="square" rtlCol="0" anchor="ctr"/>
          <a:lstStyle/>
          <a:p>
            <a:pPr algn="ctr" indent="0" marL="0">
              <a:buNone/>
            </a:pPr>
            <a:r>
              <a:rPr lang="en-US" sz="1100" dirty="0">
                <a:solidFill>
                  <a:srgbClr val="1E3A5F"/>
                </a:solidFill>
                <a:latin typeface="Calibri" pitchFamily="34" charset="0"/>
                <a:ea typeface="Calibri" pitchFamily="34" charset="-122"/>
                <a:cs typeface="Calibri" pitchFamily="34" charset="-120"/>
              </a:rPr>
              <a:t>Self-hosted Mimir</a:t>
            </a:r>
            <a:endParaRPr lang="en-US" sz="1100" dirty="0"/>
          </a:p>
        </p:txBody>
      </p:sp>
      <p:sp>
        <p:nvSpPr>
          <p:cNvPr id="13" name="Shape 11"/>
          <p:cNvSpPr/>
          <p:nvPr/>
        </p:nvSpPr>
        <p:spPr>
          <a:xfrm>
            <a:off x="6035040" y="4114800"/>
            <a:ext cx="2377440" cy="822960"/>
          </a:xfrm>
          <a:prstGeom prst="rect">
            <a:avLst/>
          </a:prstGeom>
          <a:solidFill>
            <a:srgbClr val="F8FAFC"/>
          </a:solidFill>
          <a:ln w="9525">
            <a:solidFill>
              <a:srgbClr val="2D6A9F"/>
            </a:solidFill>
            <a:prstDash val="solid"/>
          </a:ln>
        </p:spPr>
      </p:sp>
      <p:sp>
        <p:nvSpPr>
          <p:cNvPr id="14" name="Text 12"/>
          <p:cNvSpPr/>
          <p:nvPr/>
        </p:nvSpPr>
        <p:spPr>
          <a:xfrm>
            <a:off x="6126480" y="4169664"/>
            <a:ext cx="2194560" cy="274320"/>
          </a:xfrm>
          <a:prstGeom prst="rect">
            <a:avLst/>
          </a:prstGeom>
          <a:noFill/>
          <a:ln/>
        </p:spPr>
        <p:txBody>
          <a:bodyPr wrap="square" rtlCol="0" anchor="ctr"/>
          <a:lstStyle/>
          <a:p>
            <a:pPr algn="ctr" indent="0" marL="0">
              <a:buNone/>
            </a:pPr>
            <a:r>
              <a:rPr lang="en-US" sz="1300" b="1" dirty="0">
                <a:solidFill>
                  <a:srgbClr val="2D6A9F"/>
                </a:solidFill>
                <a:latin typeface="Calibri" pitchFamily="34" charset="0"/>
                <a:ea typeface="Calibri" pitchFamily="34" charset="-122"/>
                <a:cs typeface="Calibri" pitchFamily="34" charset="-120"/>
              </a:rPr>
              <a:t>Logs</a:t>
            </a:r>
            <a:endParaRPr lang="en-US" sz="1300" dirty="0"/>
          </a:p>
        </p:txBody>
      </p:sp>
      <p:sp>
        <p:nvSpPr>
          <p:cNvPr id="15" name="Text 13"/>
          <p:cNvSpPr/>
          <p:nvPr/>
        </p:nvSpPr>
        <p:spPr>
          <a:xfrm>
            <a:off x="6126480" y="4462272"/>
            <a:ext cx="2194560" cy="274320"/>
          </a:xfrm>
          <a:prstGeom prst="rect">
            <a:avLst/>
          </a:prstGeom>
          <a:noFill/>
          <a:ln/>
        </p:spPr>
        <p:txBody>
          <a:bodyPr wrap="square" rtlCol="0" anchor="ctr"/>
          <a:lstStyle/>
          <a:p>
            <a:pPr algn="ctr" indent="0" marL="0">
              <a:buNone/>
            </a:pPr>
            <a:r>
              <a:rPr lang="en-US" sz="1100" dirty="0">
                <a:solidFill>
                  <a:srgbClr val="1E3A5F"/>
                </a:solidFill>
                <a:latin typeface="Calibri" pitchFamily="34" charset="0"/>
                <a:ea typeface="Calibri" pitchFamily="34" charset="-122"/>
                <a:cs typeface="Calibri" pitchFamily="34" charset="-120"/>
              </a:rPr>
              <a:t>Self-hosted Loki</a:t>
            </a:r>
            <a:endParaRPr lang="en-US" sz="1100" dirty="0"/>
          </a:p>
        </p:txBody>
      </p:sp>
      <p:sp>
        <p:nvSpPr>
          <p:cNvPr id="16" name="Shape 14"/>
          <p:cNvSpPr/>
          <p:nvPr/>
        </p:nvSpPr>
        <p:spPr>
          <a:xfrm>
            <a:off x="0" y="6583680"/>
            <a:ext cx="12192000" cy="274320"/>
          </a:xfrm>
          <a:prstGeom prst="rect">
            <a:avLst/>
          </a:prstGeom>
          <a:solidFill>
            <a:srgbClr val="1B2A4A"/>
          </a:solidFill>
          <a:ln w="12700">
            <a:solidFill>
              <a:srgbClr val="1B2A4A"/>
            </a:solidFill>
            <a:prstDash val="solid"/>
          </a:ln>
        </p:spPr>
      </p:sp>
      <p:sp>
        <p:nvSpPr>
          <p:cNvPr id="17" name="Text 15"/>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2 — WHY OTEL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2A4A"/>
          </a:solidFill>
          <a:ln w="12700">
            <a:solidFill>
              <a:srgbClr val="1B2A4A"/>
            </a:solidFill>
            <a:prstDash val="solid"/>
          </a:ln>
        </p:spPr>
      </p:sp>
      <p:sp>
        <p:nvSpPr>
          <p:cNvPr id="3" name="Text 1"/>
          <p:cNvSpPr/>
          <p:nvPr/>
        </p:nvSpPr>
        <p:spPr>
          <a:xfrm>
            <a:off x="365760" y="274320"/>
            <a:ext cx="1645920" cy="320040"/>
          </a:xfrm>
          <a:prstGeom prst="rect">
            <a:avLst/>
          </a:prstGeom>
          <a:noFill/>
          <a:ln/>
        </p:spPr>
        <p:txBody>
          <a:bodyPr wrap="square" rtlCol="0" anchor="ctr"/>
          <a:lstStyle/>
          <a:p>
            <a:pPr algn="l" indent="0" marL="0">
              <a:buNone/>
            </a:pPr>
            <a:r>
              <a:rPr lang="en-US" sz="1100" b="1" dirty="0">
                <a:solidFill>
                  <a:srgbClr val="00B4D8"/>
                </a:solidFill>
                <a:latin typeface="Calibri" pitchFamily="34" charset="0"/>
                <a:ea typeface="Calibri" pitchFamily="34" charset="-122"/>
                <a:cs typeface="Calibri" pitchFamily="34" charset="-120"/>
              </a:rPr>
              <a:t>SECTION 3</a:t>
            </a:r>
            <a:endParaRPr lang="en-US" sz="1100" dirty="0"/>
          </a:p>
        </p:txBody>
      </p:sp>
      <p:sp>
        <p:nvSpPr>
          <p:cNvPr id="4" name="Text 2"/>
          <p:cNvSpPr/>
          <p:nvPr/>
        </p:nvSpPr>
        <p:spPr>
          <a:xfrm>
            <a:off x="365760" y="2560320"/>
            <a:ext cx="8229600" cy="1645920"/>
          </a:xfrm>
          <a:prstGeom prst="rect">
            <a:avLst/>
          </a:prstGeom>
          <a:noFill/>
          <a:ln/>
          <a:effectLst>
            <a:outerShdw sx="100000" sy="100000" kx="0" ky="0" algn="bl" rotWithShape="0" blurRad="76200" dist="38100" dir="2700000">
              <a:srgbClr val="00000040">
                <a:alpha val="25000"/>
              </a:srgbClr>
            </a:outerShdw>
          </a:effectLst>
        </p:spPr>
        <p:txBody>
          <a:bodyPr wrap="square" rtlCol="0" anchor="ctr"/>
          <a:lstStyle/>
          <a:p>
            <a:pPr algn="l" indent="0" marL="0">
              <a:buNone/>
            </a:pPr>
            <a:r>
              <a:rPr lang="en-US" sz="4000" b="1" dirty="0">
                <a:solidFill>
                  <a:srgbClr val="E8F4FD"/>
                </a:solidFill>
                <a:latin typeface="Calibri" pitchFamily="34" charset="0"/>
                <a:ea typeface="Calibri" pitchFamily="34" charset="-122"/>
                <a:cs typeface="Calibri" pitchFamily="34" charset="-120"/>
              </a:rPr>
              <a:t>The migration in four acts</a:t>
            </a:r>
            <a:endParaRPr lang="en-US" sz="4000" dirty="0"/>
          </a:p>
        </p:txBody>
      </p:sp>
      <p:sp>
        <p:nvSpPr>
          <p:cNvPr id="5" name="Text 3"/>
          <p:cNvSpPr/>
          <p:nvPr/>
        </p:nvSpPr>
        <p:spPr>
          <a:xfrm>
            <a:off x="365760" y="4297680"/>
            <a:ext cx="8229600" cy="457200"/>
          </a:xfrm>
          <a:prstGeom prst="rect">
            <a:avLst/>
          </a:prstGeom>
          <a:noFill/>
          <a:ln/>
        </p:spPr>
        <p:txBody>
          <a:bodyPr wrap="square" rtlCol="0" anchor="ctr"/>
          <a:lstStyle/>
          <a:p>
            <a:pPr algn="l" indent="0" marL="0">
              <a:buNone/>
            </a:pPr>
            <a:r>
              <a:rPr lang="en-US" sz="1800" dirty="0">
                <a:solidFill>
                  <a:srgbClr val="00B4D8"/>
                </a:solidFill>
                <a:latin typeface="Calibri" pitchFamily="34" charset="0"/>
                <a:ea typeface="Calibri" pitchFamily="34" charset="-122"/>
                <a:cs typeface="Calibri" pitchFamily="34" charset="-120"/>
              </a:rPr>
              <a:t>Collector → Traces → Metrics → Logs. Planned: 6 months. Actual: 10.</a:t>
            </a:r>
            <a:endParaRPr lang="en-US" sz="1800" dirty="0"/>
          </a:p>
        </p:txBody>
      </p:sp>
      <p:sp>
        <p:nvSpPr>
          <p:cNvPr id="6" name="Shape 4"/>
          <p:cNvSpPr/>
          <p:nvPr/>
        </p:nvSpPr>
        <p:spPr>
          <a:xfrm>
            <a:off x="7406640" y="6400800"/>
            <a:ext cx="109728" cy="109728"/>
          </a:xfrm>
          <a:prstGeom prst="ellipse">
            <a:avLst/>
          </a:prstGeom>
          <a:solidFill>
            <a:srgbClr val="2D6A9F"/>
          </a:solidFill>
          <a:ln w="12700">
            <a:solidFill>
              <a:srgbClr val="2D6A9F"/>
            </a:solidFill>
            <a:prstDash val="solid"/>
          </a:ln>
        </p:spPr>
      </p:sp>
      <p:sp>
        <p:nvSpPr>
          <p:cNvPr id="7" name="Shape 5"/>
          <p:cNvSpPr/>
          <p:nvPr/>
        </p:nvSpPr>
        <p:spPr>
          <a:xfrm>
            <a:off x="7607808" y="6400800"/>
            <a:ext cx="109728" cy="109728"/>
          </a:xfrm>
          <a:prstGeom prst="ellipse">
            <a:avLst/>
          </a:prstGeom>
          <a:solidFill>
            <a:srgbClr val="2D6A9F"/>
          </a:solidFill>
          <a:ln w="12700">
            <a:solidFill>
              <a:srgbClr val="2D6A9F"/>
            </a:solidFill>
            <a:prstDash val="solid"/>
          </a:ln>
        </p:spPr>
      </p:sp>
      <p:sp>
        <p:nvSpPr>
          <p:cNvPr id="8" name="Shape 6"/>
          <p:cNvSpPr/>
          <p:nvPr/>
        </p:nvSpPr>
        <p:spPr>
          <a:xfrm>
            <a:off x="7808976" y="6400800"/>
            <a:ext cx="109728" cy="109728"/>
          </a:xfrm>
          <a:prstGeom prst="ellipse">
            <a:avLst/>
          </a:prstGeom>
          <a:solidFill>
            <a:srgbClr val="00B4D8"/>
          </a:solidFill>
          <a:ln w="12700">
            <a:solidFill>
              <a:srgbClr val="00B4D8"/>
            </a:solidFill>
            <a:prstDash val="solid"/>
          </a:ln>
        </p:spPr>
      </p:sp>
      <p:sp>
        <p:nvSpPr>
          <p:cNvPr id="9" name="Shape 7"/>
          <p:cNvSpPr/>
          <p:nvPr/>
        </p:nvSpPr>
        <p:spPr>
          <a:xfrm>
            <a:off x="8010144" y="6400800"/>
            <a:ext cx="109728" cy="109728"/>
          </a:xfrm>
          <a:prstGeom prst="ellipse">
            <a:avLst/>
          </a:prstGeom>
          <a:ln w="12700">
            <a:solidFill>
              <a:srgbClr val="E8F4FD"/>
            </a:solidFill>
            <a:prstDash val="solid"/>
          </a:ln>
        </p:spPr>
      </p:sp>
      <p:sp>
        <p:nvSpPr>
          <p:cNvPr id="10" name="Shape 8"/>
          <p:cNvSpPr/>
          <p:nvPr/>
        </p:nvSpPr>
        <p:spPr>
          <a:xfrm>
            <a:off x="8211312" y="6400800"/>
            <a:ext cx="109728" cy="109728"/>
          </a:xfrm>
          <a:prstGeom prst="ellipse">
            <a:avLst/>
          </a:prstGeom>
          <a:ln w="12700">
            <a:solidFill>
              <a:srgbClr val="E8F4FD"/>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400" b="1" dirty="0">
                <a:solidFill>
                  <a:srgbClr val="1E3A5F"/>
                </a:solidFill>
                <a:latin typeface="Calibri" pitchFamily="34" charset="0"/>
                <a:ea typeface="Calibri" pitchFamily="34" charset="-122"/>
                <a:cs typeface="Calibri" pitchFamily="34" charset="-120"/>
              </a:rPr>
              <a:t>Migration Timeline: Planned vs. Actual</a:t>
            </a:r>
            <a:endParaRPr lang="en-US" sz="2400" dirty="0"/>
          </a:p>
        </p:txBody>
      </p:sp>
      <p:sp>
        <p:nvSpPr>
          <p:cNvPr id="5" name="Text 3"/>
          <p:cNvSpPr/>
          <p:nvPr/>
        </p:nvSpPr>
        <p:spPr>
          <a:xfrm>
            <a:off x="1554480" y="777240"/>
            <a:ext cx="274320" cy="182880"/>
          </a:xfrm>
          <a:prstGeom prst="rect">
            <a:avLst/>
          </a:prstGeom>
          <a:noFill/>
          <a:ln/>
        </p:spPr>
        <p:txBody>
          <a:bodyPr wrap="square" rtlCol="0" anchor="ctr"/>
          <a:lstStyle/>
          <a:p>
            <a:pPr algn="ctr" indent="0" marL="0">
              <a:buNone/>
            </a:pPr>
            <a:r>
              <a:rPr lang="en-US" sz="900" dirty="0">
                <a:solidFill>
                  <a:srgbClr val="1E3A5F"/>
                </a:solidFill>
                <a:latin typeface="Calibri" pitchFamily="34" charset="0"/>
                <a:ea typeface="Calibri" pitchFamily="34" charset="-122"/>
                <a:cs typeface="Calibri" pitchFamily="34" charset="-120"/>
              </a:rPr>
              <a:t>M0</a:t>
            </a:r>
            <a:endParaRPr lang="en-US" sz="900" dirty="0"/>
          </a:p>
        </p:txBody>
      </p:sp>
      <p:sp>
        <p:nvSpPr>
          <p:cNvPr id="6" name="Shape 4"/>
          <p:cNvSpPr/>
          <p:nvPr/>
        </p:nvSpPr>
        <p:spPr>
          <a:xfrm>
            <a:off x="1645920" y="914400"/>
            <a:ext cx="0" cy="2651760"/>
          </a:xfrm>
          <a:prstGeom prst="line">
            <a:avLst/>
          </a:prstGeom>
          <a:noFill/>
          <a:ln w="3810">
            <a:solidFill>
              <a:srgbClr val="E2E8F0"/>
            </a:solidFill>
            <a:prstDash val="solid"/>
          </a:ln>
        </p:spPr>
      </p:sp>
      <p:sp>
        <p:nvSpPr>
          <p:cNvPr id="7" name="Text 5"/>
          <p:cNvSpPr/>
          <p:nvPr/>
        </p:nvSpPr>
        <p:spPr>
          <a:xfrm>
            <a:off x="2194560" y="777240"/>
            <a:ext cx="274320" cy="182880"/>
          </a:xfrm>
          <a:prstGeom prst="rect">
            <a:avLst/>
          </a:prstGeom>
          <a:noFill/>
          <a:ln/>
        </p:spPr>
        <p:txBody>
          <a:bodyPr wrap="square" rtlCol="0" anchor="ctr"/>
          <a:lstStyle/>
          <a:p>
            <a:pPr algn="ctr" indent="0" marL="0">
              <a:buNone/>
            </a:pPr>
            <a:r>
              <a:rPr lang="en-US" sz="900" dirty="0">
                <a:solidFill>
                  <a:srgbClr val="1E3A5F"/>
                </a:solidFill>
                <a:latin typeface="Calibri" pitchFamily="34" charset="0"/>
                <a:ea typeface="Calibri" pitchFamily="34" charset="-122"/>
                <a:cs typeface="Calibri" pitchFamily="34" charset="-120"/>
              </a:rPr>
              <a:t>M1</a:t>
            </a:r>
            <a:endParaRPr lang="en-US" sz="900" dirty="0"/>
          </a:p>
        </p:txBody>
      </p:sp>
      <p:sp>
        <p:nvSpPr>
          <p:cNvPr id="8" name="Shape 6"/>
          <p:cNvSpPr/>
          <p:nvPr/>
        </p:nvSpPr>
        <p:spPr>
          <a:xfrm>
            <a:off x="2286000" y="914400"/>
            <a:ext cx="0" cy="2651760"/>
          </a:xfrm>
          <a:prstGeom prst="line">
            <a:avLst/>
          </a:prstGeom>
          <a:noFill/>
          <a:ln w="3810">
            <a:solidFill>
              <a:srgbClr val="E2E8F0"/>
            </a:solidFill>
            <a:prstDash val="solid"/>
          </a:ln>
        </p:spPr>
      </p:sp>
      <p:sp>
        <p:nvSpPr>
          <p:cNvPr id="9" name="Text 7"/>
          <p:cNvSpPr/>
          <p:nvPr/>
        </p:nvSpPr>
        <p:spPr>
          <a:xfrm>
            <a:off x="2834640" y="777240"/>
            <a:ext cx="274320" cy="182880"/>
          </a:xfrm>
          <a:prstGeom prst="rect">
            <a:avLst/>
          </a:prstGeom>
          <a:noFill/>
          <a:ln/>
        </p:spPr>
        <p:txBody>
          <a:bodyPr wrap="square" rtlCol="0" anchor="ctr"/>
          <a:lstStyle/>
          <a:p>
            <a:pPr algn="ctr" indent="0" marL="0">
              <a:buNone/>
            </a:pPr>
            <a:r>
              <a:rPr lang="en-US" sz="900" dirty="0">
                <a:solidFill>
                  <a:srgbClr val="1E3A5F"/>
                </a:solidFill>
                <a:latin typeface="Calibri" pitchFamily="34" charset="0"/>
                <a:ea typeface="Calibri" pitchFamily="34" charset="-122"/>
                <a:cs typeface="Calibri" pitchFamily="34" charset="-120"/>
              </a:rPr>
              <a:t>M2</a:t>
            </a:r>
            <a:endParaRPr lang="en-US" sz="900" dirty="0"/>
          </a:p>
        </p:txBody>
      </p:sp>
      <p:sp>
        <p:nvSpPr>
          <p:cNvPr id="10" name="Shape 8"/>
          <p:cNvSpPr/>
          <p:nvPr/>
        </p:nvSpPr>
        <p:spPr>
          <a:xfrm>
            <a:off x="2926080" y="914400"/>
            <a:ext cx="0" cy="2651760"/>
          </a:xfrm>
          <a:prstGeom prst="line">
            <a:avLst/>
          </a:prstGeom>
          <a:noFill/>
          <a:ln w="3810">
            <a:solidFill>
              <a:srgbClr val="E2E8F0"/>
            </a:solidFill>
            <a:prstDash val="solid"/>
          </a:ln>
        </p:spPr>
      </p:sp>
      <p:sp>
        <p:nvSpPr>
          <p:cNvPr id="11" name="Text 9"/>
          <p:cNvSpPr/>
          <p:nvPr/>
        </p:nvSpPr>
        <p:spPr>
          <a:xfrm>
            <a:off x="3474720" y="777240"/>
            <a:ext cx="274320" cy="182880"/>
          </a:xfrm>
          <a:prstGeom prst="rect">
            <a:avLst/>
          </a:prstGeom>
          <a:noFill/>
          <a:ln/>
        </p:spPr>
        <p:txBody>
          <a:bodyPr wrap="square" rtlCol="0" anchor="ctr"/>
          <a:lstStyle/>
          <a:p>
            <a:pPr algn="ctr" indent="0" marL="0">
              <a:buNone/>
            </a:pPr>
            <a:r>
              <a:rPr lang="en-US" sz="900" dirty="0">
                <a:solidFill>
                  <a:srgbClr val="1E3A5F"/>
                </a:solidFill>
                <a:latin typeface="Calibri" pitchFamily="34" charset="0"/>
                <a:ea typeface="Calibri" pitchFamily="34" charset="-122"/>
                <a:cs typeface="Calibri" pitchFamily="34" charset="-120"/>
              </a:rPr>
              <a:t>M3</a:t>
            </a:r>
            <a:endParaRPr lang="en-US" sz="900" dirty="0"/>
          </a:p>
        </p:txBody>
      </p:sp>
      <p:sp>
        <p:nvSpPr>
          <p:cNvPr id="12" name="Shape 10"/>
          <p:cNvSpPr/>
          <p:nvPr/>
        </p:nvSpPr>
        <p:spPr>
          <a:xfrm>
            <a:off x="3566160" y="914400"/>
            <a:ext cx="0" cy="2651760"/>
          </a:xfrm>
          <a:prstGeom prst="line">
            <a:avLst/>
          </a:prstGeom>
          <a:noFill/>
          <a:ln w="3810">
            <a:solidFill>
              <a:srgbClr val="E2E8F0"/>
            </a:solidFill>
            <a:prstDash val="solid"/>
          </a:ln>
        </p:spPr>
      </p:sp>
      <p:sp>
        <p:nvSpPr>
          <p:cNvPr id="13" name="Text 11"/>
          <p:cNvSpPr/>
          <p:nvPr/>
        </p:nvSpPr>
        <p:spPr>
          <a:xfrm>
            <a:off x="4114800" y="777240"/>
            <a:ext cx="274320" cy="182880"/>
          </a:xfrm>
          <a:prstGeom prst="rect">
            <a:avLst/>
          </a:prstGeom>
          <a:noFill/>
          <a:ln/>
        </p:spPr>
        <p:txBody>
          <a:bodyPr wrap="square" rtlCol="0" anchor="ctr"/>
          <a:lstStyle/>
          <a:p>
            <a:pPr algn="ctr" indent="0" marL="0">
              <a:buNone/>
            </a:pPr>
            <a:r>
              <a:rPr lang="en-US" sz="900" dirty="0">
                <a:solidFill>
                  <a:srgbClr val="1E3A5F"/>
                </a:solidFill>
                <a:latin typeface="Calibri" pitchFamily="34" charset="0"/>
                <a:ea typeface="Calibri" pitchFamily="34" charset="-122"/>
                <a:cs typeface="Calibri" pitchFamily="34" charset="-120"/>
              </a:rPr>
              <a:t>M4</a:t>
            </a:r>
            <a:endParaRPr lang="en-US" sz="900" dirty="0"/>
          </a:p>
        </p:txBody>
      </p:sp>
      <p:sp>
        <p:nvSpPr>
          <p:cNvPr id="14" name="Shape 12"/>
          <p:cNvSpPr/>
          <p:nvPr/>
        </p:nvSpPr>
        <p:spPr>
          <a:xfrm>
            <a:off x="4206240" y="914400"/>
            <a:ext cx="0" cy="2651760"/>
          </a:xfrm>
          <a:prstGeom prst="line">
            <a:avLst/>
          </a:prstGeom>
          <a:noFill/>
          <a:ln w="3810">
            <a:solidFill>
              <a:srgbClr val="E2E8F0"/>
            </a:solidFill>
            <a:prstDash val="solid"/>
          </a:ln>
        </p:spPr>
      </p:sp>
      <p:sp>
        <p:nvSpPr>
          <p:cNvPr id="15" name="Text 13"/>
          <p:cNvSpPr/>
          <p:nvPr/>
        </p:nvSpPr>
        <p:spPr>
          <a:xfrm>
            <a:off x="4754880" y="777240"/>
            <a:ext cx="274320" cy="182880"/>
          </a:xfrm>
          <a:prstGeom prst="rect">
            <a:avLst/>
          </a:prstGeom>
          <a:noFill/>
          <a:ln/>
        </p:spPr>
        <p:txBody>
          <a:bodyPr wrap="square" rtlCol="0" anchor="ctr"/>
          <a:lstStyle/>
          <a:p>
            <a:pPr algn="ctr" indent="0" marL="0">
              <a:buNone/>
            </a:pPr>
            <a:r>
              <a:rPr lang="en-US" sz="900" dirty="0">
                <a:solidFill>
                  <a:srgbClr val="1E3A5F"/>
                </a:solidFill>
                <a:latin typeface="Calibri" pitchFamily="34" charset="0"/>
                <a:ea typeface="Calibri" pitchFamily="34" charset="-122"/>
                <a:cs typeface="Calibri" pitchFamily="34" charset="-120"/>
              </a:rPr>
              <a:t>M5</a:t>
            </a:r>
            <a:endParaRPr lang="en-US" sz="900" dirty="0"/>
          </a:p>
        </p:txBody>
      </p:sp>
      <p:sp>
        <p:nvSpPr>
          <p:cNvPr id="16" name="Shape 14"/>
          <p:cNvSpPr/>
          <p:nvPr/>
        </p:nvSpPr>
        <p:spPr>
          <a:xfrm>
            <a:off x="4846320" y="914400"/>
            <a:ext cx="0" cy="2651760"/>
          </a:xfrm>
          <a:prstGeom prst="line">
            <a:avLst/>
          </a:prstGeom>
          <a:noFill/>
          <a:ln w="3810">
            <a:solidFill>
              <a:srgbClr val="E2E8F0"/>
            </a:solidFill>
            <a:prstDash val="solid"/>
          </a:ln>
        </p:spPr>
      </p:sp>
      <p:sp>
        <p:nvSpPr>
          <p:cNvPr id="17" name="Text 15"/>
          <p:cNvSpPr/>
          <p:nvPr/>
        </p:nvSpPr>
        <p:spPr>
          <a:xfrm>
            <a:off x="5394960" y="777240"/>
            <a:ext cx="274320" cy="182880"/>
          </a:xfrm>
          <a:prstGeom prst="rect">
            <a:avLst/>
          </a:prstGeom>
          <a:noFill/>
          <a:ln/>
        </p:spPr>
        <p:txBody>
          <a:bodyPr wrap="square" rtlCol="0" anchor="ctr"/>
          <a:lstStyle/>
          <a:p>
            <a:pPr algn="ctr" indent="0" marL="0">
              <a:buNone/>
            </a:pPr>
            <a:r>
              <a:rPr lang="en-US" sz="900" dirty="0">
                <a:solidFill>
                  <a:srgbClr val="1E3A5F"/>
                </a:solidFill>
                <a:latin typeface="Calibri" pitchFamily="34" charset="0"/>
                <a:ea typeface="Calibri" pitchFamily="34" charset="-122"/>
                <a:cs typeface="Calibri" pitchFamily="34" charset="-120"/>
              </a:rPr>
              <a:t>M6</a:t>
            </a:r>
            <a:endParaRPr lang="en-US" sz="900" dirty="0"/>
          </a:p>
        </p:txBody>
      </p:sp>
      <p:sp>
        <p:nvSpPr>
          <p:cNvPr id="18" name="Shape 16"/>
          <p:cNvSpPr/>
          <p:nvPr/>
        </p:nvSpPr>
        <p:spPr>
          <a:xfrm>
            <a:off x="5486400" y="914400"/>
            <a:ext cx="0" cy="2651760"/>
          </a:xfrm>
          <a:prstGeom prst="line">
            <a:avLst/>
          </a:prstGeom>
          <a:noFill/>
          <a:ln w="3810">
            <a:solidFill>
              <a:srgbClr val="E2E8F0"/>
            </a:solidFill>
            <a:prstDash val="solid"/>
          </a:ln>
        </p:spPr>
      </p:sp>
      <p:sp>
        <p:nvSpPr>
          <p:cNvPr id="19" name="Text 17"/>
          <p:cNvSpPr/>
          <p:nvPr/>
        </p:nvSpPr>
        <p:spPr>
          <a:xfrm>
            <a:off x="6035040" y="777240"/>
            <a:ext cx="274320" cy="182880"/>
          </a:xfrm>
          <a:prstGeom prst="rect">
            <a:avLst/>
          </a:prstGeom>
          <a:noFill/>
          <a:ln/>
        </p:spPr>
        <p:txBody>
          <a:bodyPr wrap="square" rtlCol="0" anchor="ctr"/>
          <a:lstStyle/>
          <a:p>
            <a:pPr algn="ctr" indent="0" marL="0">
              <a:buNone/>
            </a:pPr>
            <a:r>
              <a:rPr lang="en-US" sz="900" dirty="0">
                <a:solidFill>
                  <a:srgbClr val="1E3A5F"/>
                </a:solidFill>
                <a:latin typeface="Calibri" pitchFamily="34" charset="0"/>
                <a:ea typeface="Calibri" pitchFamily="34" charset="-122"/>
                <a:cs typeface="Calibri" pitchFamily="34" charset="-120"/>
              </a:rPr>
              <a:t>M7</a:t>
            </a:r>
            <a:endParaRPr lang="en-US" sz="900" dirty="0"/>
          </a:p>
        </p:txBody>
      </p:sp>
      <p:sp>
        <p:nvSpPr>
          <p:cNvPr id="20" name="Shape 18"/>
          <p:cNvSpPr/>
          <p:nvPr/>
        </p:nvSpPr>
        <p:spPr>
          <a:xfrm>
            <a:off x="6126480" y="914400"/>
            <a:ext cx="0" cy="2651760"/>
          </a:xfrm>
          <a:prstGeom prst="line">
            <a:avLst/>
          </a:prstGeom>
          <a:noFill/>
          <a:ln w="3810">
            <a:solidFill>
              <a:srgbClr val="E2E8F0"/>
            </a:solidFill>
            <a:prstDash val="solid"/>
          </a:ln>
        </p:spPr>
      </p:sp>
      <p:sp>
        <p:nvSpPr>
          <p:cNvPr id="21" name="Text 19"/>
          <p:cNvSpPr/>
          <p:nvPr/>
        </p:nvSpPr>
        <p:spPr>
          <a:xfrm>
            <a:off x="6675120" y="777240"/>
            <a:ext cx="274320" cy="182880"/>
          </a:xfrm>
          <a:prstGeom prst="rect">
            <a:avLst/>
          </a:prstGeom>
          <a:noFill/>
          <a:ln/>
        </p:spPr>
        <p:txBody>
          <a:bodyPr wrap="square" rtlCol="0" anchor="ctr"/>
          <a:lstStyle/>
          <a:p>
            <a:pPr algn="ctr" indent="0" marL="0">
              <a:buNone/>
            </a:pPr>
            <a:r>
              <a:rPr lang="en-US" sz="900" dirty="0">
                <a:solidFill>
                  <a:srgbClr val="1E3A5F"/>
                </a:solidFill>
                <a:latin typeface="Calibri" pitchFamily="34" charset="0"/>
                <a:ea typeface="Calibri" pitchFamily="34" charset="-122"/>
                <a:cs typeface="Calibri" pitchFamily="34" charset="-120"/>
              </a:rPr>
              <a:t>M8</a:t>
            </a:r>
            <a:endParaRPr lang="en-US" sz="900" dirty="0"/>
          </a:p>
        </p:txBody>
      </p:sp>
      <p:sp>
        <p:nvSpPr>
          <p:cNvPr id="22" name="Shape 20"/>
          <p:cNvSpPr/>
          <p:nvPr/>
        </p:nvSpPr>
        <p:spPr>
          <a:xfrm>
            <a:off x="6766560" y="914400"/>
            <a:ext cx="0" cy="2651760"/>
          </a:xfrm>
          <a:prstGeom prst="line">
            <a:avLst/>
          </a:prstGeom>
          <a:noFill/>
          <a:ln w="3810">
            <a:solidFill>
              <a:srgbClr val="E2E8F0"/>
            </a:solidFill>
            <a:prstDash val="solid"/>
          </a:ln>
        </p:spPr>
      </p:sp>
      <p:sp>
        <p:nvSpPr>
          <p:cNvPr id="23" name="Text 21"/>
          <p:cNvSpPr/>
          <p:nvPr/>
        </p:nvSpPr>
        <p:spPr>
          <a:xfrm>
            <a:off x="7315200" y="777240"/>
            <a:ext cx="274320" cy="182880"/>
          </a:xfrm>
          <a:prstGeom prst="rect">
            <a:avLst/>
          </a:prstGeom>
          <a:noFill/>
          <a:ln/>
        </p:spPr>
        <p:txBody>
          <a:bodyPr wrap="square" rtlCol="0" anchor="ctr"/>
          <a:lstStyle/>
          <a:p>
            <a:pPr algn="ctr" indent="0" marL="0">
              <a:buNone/>
            </a:pPr>
            <a:r>
              <a:rPr lang="en-US" sz="900" dirty="0">
                <a:solidFill>
                  <a:srgbClr val="1E3A5F"/>
                </a:solidFill>
                <a:latin typeface="Calibri" pitchFamily="34" charset="0"/>
                <a:ea typeface="Calibri" pitchFamily="34" charset="-122"/>
                <a:cs typeface="Calibri" pitchFamily="34" charset="-120"/>
              </a:rPr>
              <a:t>M9</a:t>
            </a:r>
            <a:endParaRPr lang="en-US" sz="900" dirty="0"/>
          </a:p>
        </p:txBody>
      </p:sp>
      <p:sp>
        <p:nvSpPr>
          <p:cNvPr id="24" name="Shape 22"/>
          <p:cNvSpPr/>
          <p:nvPr/>
        </p:nvSpPr>
        <p:spPr>
          <a:xfrm>
            <a:off x="7406640" y="914400"/>
            <a:ext cx="0" cy="2651760"/>
          </a:xfrm>
          <a:prstGeom prst="line">
            <a:avLst/>
          </a:prstGeom>
          <a:noFill/>
          <a:ln w="3810">
            <a:solidFill>
              <a:srgbClr val="E2E8F0"/>
            </a:solidFill>
            <a:prstDash val="solid"/>
          </a:ln>
        </p:spPr>
      </p:sp>
      <p:sp>
        <p:nvSpPr>
          <p:cNvPr id="25" name="Text 23"/>
          <p:cNvSpPr/>
          <p:nvPr/>
        </p:nvSpPr>
        <p:spPr>
          <a:xfrm>
            <a:off x="7955280" y="777240"/>
            <a:ext cx="274320" cy="182880"/>
          </a:xfrm>
          <a:prstGeom prst="rect">
            <a:avLst/>
          </a:prstGeom>
          <a:noFill/>
          <a:ln/>
        </p:spPr>
        <p:txBody>
          <a:bodyPr wrap="square" rtlCol="0" anchor="ctr"/>
          <a:lstStyle/>
          <a:p>
            <a:pPr algn="ctr" indent="0" marL="0">
              <a:buNone/>
            </a:pPr>
            <a:r>
              <a:rPr lang="en-US" sz="900" dirty="0">
                <a:solidFill>
                  <a:srgbClr val="1E3A5F"/>
                </a:solidFill>
                <a:latin typeface="Calibri" pitchFamily="34" charset="0"/>
                <a:ea typeface="Calibri" pitchFamily="34" charset="-122"/>
                <a:cs typeface="Calibri" pitchFamily="34" charset="-120"/>
              </a:rPr>
              <a:t>M10</a:t>
            </a:r>
            <a:endParaRPr lang="en-US" sz="900" dirty="0"/>
          </a:p>
        </p:txBody>
      </p:sp>
      <p:sp>
        <p:nvSpPr>
          <p:cNvPr id="26" name="Shape 24"/>
          <p:cNvSpPr/>
          <p:nvPr/>
        </p:nvSpPr>
        <p:spPr>
          <a:xfrm>
            <a:off x="8046720" y="914400"/>
            <a:ext cx="0" cy="2651760"/>
          </a:xfrm>
          <a:prstGeom prst="line">
            <a:avLst/>
          </a:prstGeom>
          <a:noFill/>
          <a:ln w="3810">
            <a:solidFill>
              <a:srgbClr val="E2E8F0"/>
            </a:solidFill>
            <a:prstDash val="solid"/>
          </a:ln>
        </p:spPr>
      </p:sp>
      <p:sp>
        <p:nvSpPr>
          <p:cNvPr id="27" name="Text 25"/>
          <p:cNvSpPr/>
          <p:nvPr/>
        </p:nvSpPr>
        <p:spPr>
          <a:xfrm>
            <a:off x="91440" y="1005840"/>
            <a:ext cx="1463040" cy="457200"/>
          </a:xfrm>
          <a:prstGeom prst="rect">
            <a:avLst/>
          </a:prstGeom>
          <a:noFill/>
          <a:ln/>
        </p:spPr>
        <p:txBody>
          <a:bodyPr wrap="square" rtlCol="0" anchor="ctr"/>
          <a:lstStyle/>
          <a:p>
            <a:pPr algn="r" indent="0" marL="0">
              <a:buNone/>
            </a:pPr>
            <a:r>
              <a:rPr lang="en-US" sz="1200" b="1" dirty="0">
                <a:solidFill>
                  <a:srgbClr val="1E3A5F"/>
                </a:solidFill>
                <a:latin typeface="Calibri" pitchFamily="34" charset="0"/>
                <a:ea typeface="Calibri" pitchFamily="34" charset="-122"/>
                <a:cs typeface="Calibri" pitchFamily="34" charset="-120"/>
              </a:rPr>
              <a:t>Collector</a:t>
            </a:r>
            <a:endParaRPr lang="en-US" sz="1200" dirty="0"/>
          </a:p>
        </p:txBody>
      </p:sp>
      <p:sp>
        <p:nvSpPr>
          <p:cNvPr id="28" name="Shape 26"/>
          <p:cNvSpPr/>
          <p:nvPr/>
        </p:nvSpPr>
        <p:spPr>
          <a:xfrm>
            <a:off x="1645920" y="960120"/>
            <a:ext cx="640080" cy="256032"/>
          </a:xfrm>
          <a:prstGeom prst="rect">
            <a:avLst/>
          </a:prstGeom>
          <a:ln w="19050">
            <a:solidFill>
              <a:srgbClr val="2D6A9F"/>
            </a:solidFill>
            <a:prstDash val="solid"/>
          </a:ln>
        </p:spPr>
      </p:sp>
      <p:sp>
        <p:nvSpPr>
          <p:cNvPr id="29" name="Shape 27"/>
          <p:cNvSpPr/>
          <p:nvPr/>
        </p:nvSpPr>
        <p:spPr>
          <a:xfrm>
            <a:off x="1645920" y="1234440"/>
            <a:ext cx="640080" cy="256032"/>
          </a:xfrm>
          <a:prstGeom prst="rect">
            <a:avLst/>
          </a:prstGeom>
          <a:solidFill>
            <a:srgbClr val="00B4D8"/>
          </a:solidFill>
          <a:ln w="12700">
            <a:solidFill>
              <a:srgbClr val="00B4D8"/>
            </a:solidFill>
            <a:prstDash val="solid"/>
          </a:ln>
        </p:spPr>
      </p:sp>
      <p:sp>
        <p:nvSpPr>
          <p:cNvPr id="30" name="Text 28"/>
          <p:cNvSpPr/>
          <p:nvPr/>
        </p:nvSpPr>
        <p:spPr>
          <a:xfrm>
            <a:off x="2377440" y="1234440"/>
            <a:ext cx="1828800" cy="256032"/>
          </a:xfrm>
          <a:prstGeom prst="rect">
            <a:avLst/>
          </a:prstGeom>
          <a:noFill/>
          <a:ln/>
        </p:spPr>
        <p:txBody>
          <a:bodyPr wrap="square" rtlCol="0" anchor="ctr"/>
          <a:lstStyle/>
          <a:p>
            <a:pPr algn="l" indent="0" marL="0">
              <a:buNone/>
            </a:pPr>
            <a:r>
              <a:rPr lang="en-US" sz="1000" b="1" dirty="0">
                <a:solidFill>
                  <a:srgbClr val="2D7D46"/>
                </a:solidFill>
                <a:latin typeface="Calibri" pitchFamily="34" charset="0"/>
                <a:ea typeface="Calibri" pitchFamily="34" charset="-122"/>
                <a:cs typeface="Calibri" pitchFamily="34" charset="-120"/>
              </a:rPr>
              <a:t>On time</a:t>
            </a:r>
            <a:endParaRPr lang="en-US" sz="1000" dirty="0"/>
          </a:p>
        </p:txBody>
      </p:sp>
      <p:sp>
        <p:nvSpPr>
          <p:cNvPr id="31" name="Text 29"/>
          <p:cNvSpPr/>
          <p:nvPr/>
        </p:nvSpPr>
        <p:spPr>
          <a:xfrm>
            <a:off x="91440" y="1645920"/>
            <a:ext cx="1463040" cy="457200"/>
          </a:xfrm>
          <a:prstGeom prst="rect">
            <a:avLst/>
          </a:prstGeom>
          <a:noFill/>
          <a:ln/>
        </p:spPr>
        <p:txBody>
          <a:bodyPr wrap="square" rtlCol="0" anchor="ctr"/>
          <a:lstStyle/>
          <a:p>
            <a:pPr algn="r" indent="0" marL="0">
              <a:buNone/>
            </a:pPr>
            <a:r>
              <a:rPr lang="en-US" sz="1200" b="1" dirty="0">
                <a:solidFill>
                  <a:srgbClr val="1E3A5F"/>
                </a:solidFill>
                <a:latin typeface="Calibri" pitchFamily="34" charset="0"/>
                <a:ea typeface="Calibri" pitchFamily="34" charset="-122"/>
                <a:cs typeface="Calibri" pitchFamily="34" charset="-120"/>
              </a:rPr>
              <a:t>Traces</a:t>
            </a:r>
            <a:endParaRPr lang="en-US" sz="1200" dirty="0"/>
          </a:p>
        </p:txBody>
      </p:sp>
      <p:sp>
        <p:nvSpPr>
          <p:cNvPr id="32" name="Shape 30"/>
          <p:cNvSpPr/>
          <p:nvPr/>
        </p:nvSpPr>
        <p:spPr>
          <a:xfrm>
            <a:off x="2286000" y="1600200"/>
            <a:ext cx="640080" cy="256032"/>
          </a:xfrm>
          <a:prstGeom prst="rect">
            <a:avLst/>
          </a:prstGeom>
          <a:ln w="19050">
            <a:solidFill>
              <a:srgbClr val="2D6A9F"/>
            </a:solidFill>
            <a:prstDash val="solid"/>
          </a:ln>
        </p:spPr>
      </p:sp>
      <p:sp>
        <p:nvSpPr>
          <p:cNvPr id="33" name="Shape 31"/>
          <p:cNvSpPr/>
          <p:nvPr/>
        </p:nvSpPr>
        <p:spPr>
          <a:xfrm>
            <a:off x="2286000" y="1874520"/>
            <a:ext cx="1280160" cy="256032"/>
          </a:xfrm>
          <a:prstGeom prst="rect">
            <a:avLst/>
          </a:prstGeom>
          <a:solidFill>
            <a:srgbClr val="D97706"/>
          </a:solidFill>
          <a:ln w="12700">
            <a:solidFill>
              <a:srgbClr val="D97706"/>
            </a:solidFill>
            <a:prstDash val="solid"/>
          </a:ln>
        </p:spPr>
      </p:sp>
      <p:sp>
        <p:nvSpPr>
          <p:cNvPr id="34" name="Text 32"/>
          <p:cNvSpPr/>
          <p:nvPr/>
        </p:nvSpPr>
        <p:spPr>
          <a:xfrm>
            <a:off x="3657600" y="1874520"/>
            <a:ext cx="1828800" cy="256032"/>
          </a:xfrm>
          <a:prstGeom prst="rect">
            <a:avLst/>
          </a:prstGeom>
          <a:noFill/>
          <a:ln/>
        </p:spPr>
        <p:txBody>
          <a:bodyPr wrap="square" rtlCol="0" anchor="ctr"/>
          <a:lstStyle/>
          <a:p>
            <a:pPr algn="l" indent="0" marL="0">
              <a:buNone/>
            </a:pPr>
            <a:r>
              <a:rPr lang="en-US" sz="1000" b="1" dirty="0">
                <a:solidFill>
                  <a:srgbClr val="D97706"/>
                </a:solidFill>
                <a:latin typeface="Calibri" pitchFamily="34" charset="0"/>
                <a:ea typeface="Calibri" pitchFamily="34" charset="-122"/>
                <a:cs typeface="Calibri" pitchFamily="34" charset="-120"/>
              </a:rPr>
              <a:t>+1 month slip</a:t>
            </a:r>
            <a:endParaRPr lang="en-US" sz="1000" dirty="0"/>
          </a:p>
        </p:txBody>
      </p:sp>
      <p:sp>
        <p:nvSpPr>
          <p:cNvPr id="35" name="Text 33"/>
          <p:cNvSpPr/>
          <p:nvPr/>
        </p:nvSpPr>
        <p:spPr>
          <a:xfrm>
            <a:off x="91440" y="2286000"/>
            <a:ext cx="1463040" cy="457200"/>
          </a:xfrm>
          <a:prstGeom prst="rect">
            <a:avLst/>
          </a:prstGeom>
          <a:noFill/>
          <a:ln/>
        </p:spPr>
        <p:txBody>
          <a:bodyPr wrap="square" rtlCol="0" anchor="ctr"/>
          <a:lstStyle/>
          <a:p>
            <a:pPr algn="r" indent="0" marL="0">
              <a:buNone/>
            </a:pPr>
            <a:r>
              <a:rPr lang="en-US" sz="1200" b="1" dirty="0">
                <a:solidFill>
                  <a:srgbClr val="1E3A5F"/>
                </a:solidFill>
                <a:latin typeface="Calibri" pitchFamily="34" charset="0"/>
                <a:ea typeface="Calibri" pitchFamily="34" charset="-122"/>
                <a:cs typeface="Calibri" pitchFamily="34" charset="-120"/>
              </a:rPr>
              <a:t>Metrics</a:t>
            </a:r>
            <a:endParaRPr lang="en-US" sz="1200" dirty="0"/>
          </a:p>
        </p:txBody>
      </p:sp>
      <p:sp>
        <p:nvSpPr>
          <p:cNvPr id="36" name="Shape 34"/>
          <p:cNvSpPr/>
          <p:nvPr/>
        </p:nvSpPr>
        <p:spPr>
          <a:xfrm>
            <a:off x="2926080" y="2240280"/>
            <a:ext cx="1280160" cy="256032"/>
          </a:xfrm>
          <a:prstGeom prst="rect">
            <a:avLst/>
          </a:prstGeom>
          <a:ln w="19050">
            <a:solidFill>
              <a:srgbClr val="2D6A9F"/>
            </a:solidFill>
            <a:prstDash val="solid"/>
          </a:ln>
        </p:spPr>
      </p:sp>
      <p:sp>
        <p:nvSpPr>
          <p:cNvPr id="37" name="Shape 35"/>
          <p:cNvSpPr/>
          <p:nvPr/>
        </p:nvSpPr>
        <p:spPr>
          <a:xfrm>
            <a:off x="2926080" y="2514600"/>
            <a:ext cx="3200400" cy="256032"/>
          </a:xfrm>
          <a:prstGeom prst="rect">
            <a:avLst/>
          </a:prstGeom>
          <a:solidFill>
            <a:srgbClr val="D97706"/>
          </a:solidFill>
          <a:ln w="12700">
            <a:solidFill>
              <a:srgbClr val="D97706"/>
            </a:solidFill>
            <a:prstDash val="solid"/>
          </a:ln>
        </p:spPr>
      </p:sp>
      <p:sp>
        <p:nvSpPr>
          <p:cNvPr id="38" name="Text 36"/>
          <p:cNvSpPr/>
          <p:nvPr/>
        </p:nvSpPr>
        <p:spPr>
          <a:xfrm>
            <a:off x="6217920" y="2514600"/>
            <a:ext cx="1828800" cy="256032"/>
          </a:xfrm>
          <a:prstGeom prst="rect">
            <a:avLst/>
          </a:prstGeom>
          <a:noFill/>
          <a:ln/>
        </p:spPr>
        <p:txBody>
          <a:bodyPr wrap="square" rtlCol="0" anchor="ctr"/>
          <a:lstStyle/>
          <a:p>
            <a:pPr algn="l" indent="0" marL="0">
              <a:buNone/>
            </a:pPr>
            <a:r>
              <a:rPr lang="en-US" sz="1000" b="1" dirty="0">
                <a:solidFill>
                  <a:srgbClr val="D97706"/>
                </a:solidFill>
                <a:latin typeface="Calibri" pitchFamily="34" charset="0"/>
                <a:ea typeface="Calibri" pitchFamily="34" charset="-122"/>
                <a:cs typeface="Calibri" pitchFamily="34" charset="-120"/>
              </a:rPr>
              <a:t>+3 month slip</a:t>
            </a:r>
            <a:endParaRPr lang="en-US" sz="1000" dirty="0"/>
          </a:p>
        </p:txBody>
      </p:sp>
      <p:sp>
        <p:nvSpPr>
          <p:cNvPr id="39" name="Text 37"/>
          <p:cNvSpPr/>
          <p:nvPr/>
        </p:nvSpPr>
        <p:spPr>
          <a:xfrm>
            <a:off x="91440" y="2926080"/>
            <a:ext cx="1463040" cy="457200"/>
          </a:xfrm>
          <a:prstGeom prst="rect">
            <a:avLst/>
          </a:prstGeom>
          <a:noFill/>
          <a:ln/>
        </p:spPr>
        <p:txBody>
          <a:bodyPr wrap="square" rtlCol="0" anchor="ctr"/>
          <a:lstStyle/>
          <a:p>
            <a:pPr algn="r" indent="0" marL="0">
              <a:buNone/>
            </a:pPr>
            <a:r>
              <a:rPr lang="en-US" sz="1200" b="1" dirty="0">
                <a:solidFill>
                  <a:srgbClr val="1E3A5F"/>
                </a:solidFill>
                <a:latin typeface="Calibri" pitchFamily="34" charset="0"/>
                <a:ea typeface="Calibri" pitchFamily="34" charset="-122"/>
                <a:cs typeface="Calibri" pitchFamily="34" charset="-120"/>
              </a:rPr>
              <a:t>Logs + Alerts</a:t>
            </a:r>
            <a:endParaRPr lang="en-US" sz="1200" dirty="0"/>
          </a:p>
        </p:txBody>
      </p:sp>
      <p:sp>
        <p:nvSpPr>
          <p:cNvPr id="40" name="Shape 38"/>
          <p:cNvSpPr/>
          <p:nvPr/>
        </p:nvSpPr>
        <p:spPr>
          <a:xfrm>
            <a:off x="4206240" y="2880360"/>
            <a:ext cx="1280160" cy="256032"/>
          </a:xfrm>
          <a:prstGeom prst="rect">
            <a:avLst/>
          </a:prstGeom>
          <a:ln w="19050">
            <a:solidFill>
              <a:srgbClr val="2D6A9F"/>
            </a:solidFill>
            <a:prstDash val="solid"/>
          </a:ln>
        </p:spPr>
      </p:sp>
      <p:sp>
        <p:nvSpPr>
          <p:cNvPr id="41" name="Shape 39"/>
          <p:cNvSpPr/>
          <p:nvPr/>
        </p:nvSpPr>
        <p:spPr>
          <a:xfrm>
            <a:off x="5486400" y="3154680"/>
            <a:ext cx="2560320" cy="256032"/>
          </a:xfrm>
          <a:prstGeom prst="rect">
            <a:avLst/>
          </a:prstGeom>
          <a:solidFill>
            <a:srgbClr val="D97706"/>
          </a:solidFill>
          <a:ln w="12700">
            <a:solidFill>
              <a:srgbClr val="D97706"/>
            </a:solidFill>
            <a:prstDash val="solid"/>
          </a:ln>
        </p:spPr>
      </p:sp>
      <p:sp>
        <p:nvSpPr>
          <p:cNvPr id="42" name="Text 40"/>
          <p:cNvSpPr/>
          <p:nvPr/>
        </p:nvSpPr>
        <p:spPr>
          <a:xfrm>
            <a:off x="8138160" y="3154680"/>
            <a:ext cx="1828800" cy="256032"/>
          </a:xfrm>
          <a:prstGeom prst="rect">
            <a:avLst/>
          </a:prstGeom>
          <a:noFill/>
          <a:ln/>
        </p:spPr>
        <p:txBody>
          <a:bodyPr wrap="square" rtlCol="0" anchor="ctr"/>
          <a:lstStyle/>
          <a:p>
            <a:pPr algn="l" indent="0" marL="0">
              <a:buNone/>
            </a:pPr>
            <a:r>
              <a:rPr lang="en-US" sz="1000" b="1" dirty="0">
                <a:solidFill>
                  <a:srgbClr val="D97706"/>
                </a:solidFill>
                <a:latin typeface="Calibri" pitchFamily="34" charset="0"/>
                <a:ea typeface="Calibri" pitchFamily="34" charset="-122"/>
                <a:cs typeface="Calibri" pitchFamily="34" charset="-120"/>
              </a:rPr>
              <a:t>+4 month slip</a:t>
            </a:r>
            <a:endParaRPr lang="en-US" sz="1000" dirty="0"/>
          </a:p>
        </p:txBody>
      </p:sp>
      <p:sp>
        <p:nvSpPr>
          <p:cNvPr id="43" name="Shape 41"/>
          <p:cNvSpPr/>
          <p:nvPr/>
        </p:nvSpPr>
        <p:spPr>
          <a:xfrm>
            <a:off x="365760" y="3749040"/>
            <a:ext cx="457200" cy="201168"/>
          </a:xfrm>
          <a:prstGeom prst="rect">
            <a:avLst/>
          </a:prstGeom>
          <a:ln w="19050">
            <a:solidFill>
              <a:srgbClr val="2D6A9F"/>
            </a:solidFill>
            <a:prstDash val="solid"/>
          </a:ln>
        </p:spPr>
      </p:sp>
      <p:sp>
        <p:nvSpPr>
          <p:cNvPr id="44" name="Text 42"/>
          <p:cNvSpPr/>
          <p:nvPr/>
        </p:nvSpPr>
        <p:spPr>
          <a:xfrm>
            <a:off x="868680" y="3749040"/>
            <a:ext cx="1097280" cy="201168"/>
          </a:xfrm>
          <a:prstGeom prst="rect">
            <a:avLst/>
          </a:prstGeom>
          <a:noFill/>
          <a:ln/>
        </p:spPr>
        <p:txBody>
          <a:bodyPr wrap="square" rtlCol="0" anchor="ctr"/>
          <a:lstStyle/>
          <a:p>
            <a:pPr indent="0" marL="0">
              <a:buNone/>
            </a:pPr>
            <a:r>
              <a:rPr lang="en-US" sz="1100" dirty="0">
                <a:solidFill>
                  <a:srgbClr val="2D6A9F"/>
                </a:solidFill>
                <a:latin typeface="Calibri" pitchFamily="34" charset="0"/>
                <a:ea typeface="Calibri" pitchFamily="34" charset="-122"/>
                <a:cs typeface="Calibri" pitchFamily="34" charset="-120"/>
              </a:rPr>
              <a:t>Planned</a:t>
            </a:r>
            <a:endParaRPr lang="en-US" sz="1100" dirty="0"/>
          </a:p>
        </p:txBody>
      </p:sp>
      <p:sp>
        <p:nvSpPr>
          <p:cNvPr id="45" name="Shape 43"/>
          <p:cNvSpPr/>
          <p:nvPr/>
        </p:nvSpPr>
        <p:spPr>
          <a:xfrm>
            <a:off x="2103120" y="3749040"/>
            <a:ext cx="457200" cy="201168"/>
          </a:xfrm>
          <a:prstGeom prst="rect">
            <a:avLst/>
          </a:prstGeom>
          <a:solidFill>
            <a:srgbClr val="00B4D8"/>
          </a:solidFill>
          <a:ln w="12700">
            <a:solidFill>
              <a:srgbClr val="00B4D8"/>
            </a:solidFill>
            <a:prstDash val="solid"/>
          </a:ln>
        </p:spPr>
      </p:sp>
      <p:sp>
        <p:nvSpPr>
          <p:cNvPr id="46" name="Text 44"/>
          <p:cNvSpPr/>
          <p:nvPr/>
        </p:nvSpPr>
        <p:spPr>
          <a:xfrm>
            <a:off x="2606040" y="3749040"/>
            <a:ext cx="1645920" cy="201168"/>
          </a:xfrm>
          <a:prstGeom prst="rect">
            <a:avLst/>
          </a:prstGeom>
          <a:noFill/>
          <a:ln/>
        </p:spPr>
        <p:txBody>
          <a:bodyPr wrap="square" rtlCol="0" anchor="ctr"/>
          <a:lstStyle/>
          <a:p>
            <a:pPr indent="0" marL="0">
              <a:buNone/>
            </a:pPr>
            <a:r>
              <a:rPr lang="en-US" sz="1100" dirty="0">
                <a:solidFill>
                  <a:srgbClr val="00B4D8"/>
                </a:solidFill>
                <a:latin typeface="Calibri" pitchFamily="34" charset="0"/>
                <a:ea typeface="Calibri" pitchFamily="34" charset="-122"/>
                <a:cs typeface="Calibri" pitchFamily="34" charset="-120"/>
              </a:rPr>
              <a:t>Actual (on time)</a:t>
            </a:r>
            <a:endParaRPr lang="en-US" sz="1100" dirty="0"/>
          </a:p>
        </p:txBody>
      </p:sp>
      <p:sp>
        <p:nvSpPr>
          <p:cNvPr id="47" name="Shape 45"/>
          <p:cNvSpPr/>
          <p:nvPr/>
        </p:nvSpPr>
        <p:spPr>
          <a:xfrm>
            <a:off x="4389120" y="3749040"/>
            <a:ext cx="457200" cy="201168"/>
          </a:xfrm>
          <a:prstGeom prst="rect">
            <a:avLst/>
          </a:prstGeom>
          <a:solidFill>
            <a:srgbClr val="D97706"/>
          </a:solidFill>
          <a:ln w="12700">
            <a:solidFill>
              <a:srgbClr val="D97706"/>
            </a:solidFill>
            <a:prstDash val="solid"/>
          </a:ln>
        </p:spPr>
      </p:sp>
      <p:sp>
        <p:nvSpPr>
          <p:cNvPr id="48" name="Text 46"/>
          <p:cNvSpPr/>
          <p:nvPr/>
        </p:nvSpPr>
        <p:spPr>
          <a:xfrm>
            <a:off x="4892040" y="3749040"/>
            <a:ext cx="1645920" cy="201168"/>
          </a:xfrm>
          <a:prstGeom prst="rect">
            <a:avLst/>
          </a:prstGeom>
          <a:noFill/>
          <a:ln/>
        </p:spPr>
        <p:txBody>
          <a:bodyPr wrap="square" rtlCol="0" anchor="ctr"/>
          <a:lstStyle/>
          <a:p>
            <a:pPr indent="0" marL="0">
              <a:buNone/>
            </a:pPr>
            <a:r>
              <a:rPr lang="en-US" sz="1100" dirty="0">
                <a:solidFill>
                  <a:srgbClr val="D97706"/>
                </a:solidFill>
                <a:latin typeface="Calibri" pitchFamily="34" charset="0"/>
                <a:ea typeface="Calibri" pitchFamily="34" charset="-122"/>
                <a:cs typeface="Calibri" pitchFamily="34" charset="-120"/>
              </a:rPr>
              <a:t>Actual (slipped)</a:t>
            </a:r>
            <a:endParaRPr lang="en-US" sz="1100" dirty="0"/>
          </a:p>
        </p:txBody>
      </p:sp>
      <p:sp>
        <p:nvSpPr>
          <p:cNvPr id="49" name="Shape 47"/>
          <p:cNvSpPr/>
          <p:nvPr/>
        </p:nvSpPr>
        <p:spPr>
          <a:xfrm>
            <a:off x="0" y="6583680"/>
            <a:ext cx="12192000" cy="274320"/>
          </a:xfrm>
          <a:prstGeom prst="rect">
            <a:avLst/>
          </a:prstGeom>
          <a:solidFill>
            <a:srgbClr val="1B2A4A"/>
          </a:solidFill>
          <a:ln w="12700">
            <a:solidFill>
              <a:srgbClr val="1B2A4A"/>
            </a:solidFill>
            <a:prstDash val="solid"/>
          </a:ln>
        </p:spPr>
      </p:sp>
      <p:sp>
        <p:nvSpPr>
          <p:cNvPr id="50" name="Text 48"/>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3 — THE MIGRATION IN FOUR ACTS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400" b="1" dirty="0">
                <a:solidFill>
                  <a:srgbClr val="1E3A5F"/>
                </a:solidFill>
                <a:latin typeface="Calibri" pitchFamily="34" charset="0"/>
                <a:ea typeface="Calibri" pitchFamily="34" charset="-122"/>
                <a:cs typeface="Calibri" pitchFamily="34" charset="-120"/>
              </a:rPr>
              <a:t>OTel Collector Architecture</a:t>
            </a:r>
            <a:endParaRPr lang="en-US" sz="2400" dirty="0"/>
          </a:p>
        </p:txBody>
      </p:sp>
      <p:sp>
        <p:nvSpPr>
          <p:cNvPr id="5" name="Text 3"/>
          <p:cNvSpPr/>
          <p:nvPr/>
        </p:nvSpPr>
        <p:spPr>
          <a:xfrm>
            <a:off x="274320" y="777240"/>
            <a:ext cx="5029200" cy="274320"/>
          </a:xfrm>
          <a:prstGeom prst="rect">
            <a:avLst/>
          </a:prstGeom>
          <a:noFill/>
          <a:ln/>
        </p:spPr>
        <p:txBody>
          <a:bodyPr wrap="square" rtlCol="0" anchor="ctr"/>
          <a:lstStyle/>
          <a:p>
            <a:pPr algn="l" indent="0" marL="0">
              <a:buNone/>
            </a:pPr>
            <a:r>
              <a:rPr lang="en-US" sz="1000" b="1" i="1" dirty="0">
                <a:solidFill>
                  <a:srgbClr val="2D6A9F"/>
                </a:solidFill>
                <a:latin typeface="Calibri" pitchFamily="34" charset="0"/>
                <a:ea typeface="Calibri" pitchFamily="34" charset="-122"/>
                <a:cs typeface="Calibri" pitchFamily="34" charset="-120"/>
              </a:rPr>
              <a:t>Agent tier (DaemonSet — per node)</a:t>
            </a:r>
            <a:endParaRPr lang="en-US" sz="1000" dirty="0"/>
          </a:p>
        </p:txBody>
      </p:sp>
      <p:sp>
        <p:nvSpPr>
          <p:cNvPr id="6" name="Shape 4"/>
          <p:cNvSpPr/>
          <p:nvPr/>
        </p:nvSpPr>
        <p:spPr>
          <a:xfrm>
            <a:off x="274320" y="1097280"/>
            <a:ext cx="1645920" cy="777240"/>
          </a:xfrm>
          <a:prstGeom prst="rect">
            <a:avLst/>
          </a:prstGeom>
          <a:solidFill>
            <a:srgbClr val="2D6A9F"/>
          </a:solidFill>
          <a:ln w="12700">
            <a:solidFill>
              <a:srgbClr val="2D6A9F"/>
            </a:solidFill>
            <a:prstDash val="solid"/>
          </a:ln>
        </p:spPr>
      </p:sp>
      <p:sp>
        <p:nvSpPr>
          <p:cNvPr id="7" name="Text 5"/>
          <p:cNvSpPr/>
          <p:nvPr/>
        </p:nvSpPr>
        <p:spPr>
          <a:xfrm>
            <a:off x="320040" y="1188720"/>
            <a:ext cx="155448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Receivers</a:t>
            </a:r>
            <a:endParaRPr lang="en-US" sz="1100" dirty="0"/>
          </a:p>
        </p:txBody>
      </p:sp>
      <p:sp>
        <p:nvSpPr>
          <p:cNvPr id="8" name="Text 6"/>
          <p:cNvSpPr/>
          <p:nvPr/>
        </p:nvSpPr>
        <p:spPr>
          <a:xfrm>
            <a:off x="320040" y="1508760"/>
            <a:ext cx="1554480" cy="292608"/>
          </a:xfrm>
          <a:prstGeom prst="rect">
            <a:avLst/>
          </a:prstGeom>
          <a:noFill/>
          <a:ln/>
        </p:spPr>
        <p:txBody>
          <a:bodyPr wrap="square" rtlCol="0" anchor="ctr"/>
          <a:lstStyle/>
          <a:p>
            <a:pPr algn="ctr" indent="0" marL="0">
              <a:buNone/>
            </a:pPr>
            <a:r>
              <a:rPr lang="en-US" sz="900" dirty="0">
                <a:solidFill>
                  <a:srgbClr val="E8F4FD"/>
                </a:solidFill>
                <a:latin typeface="Calibri" pitchFamily="34" charset="0"/>
                <a:ea typeface="Calibri" pitchFamily="34" charset="-122"/>
                <a:cs typeface="Calibri" pitchFamily="34" charset="-120"/>
              </a:rPr>
              <a:t>OTLP / Prometheus</a:t>
            </a:r>
            <a:endParaRPr lang="en-US" sz="900" dirty="0"/>
          </a:p>
        </p:txBody>
      </p:sp>
      <p:sp>
        <p:nvSpPr>
          <p:cNvPr id="9" name="Shape 7"/>
          <p:cNvSpPr/>
          <p:nvPr/>
        </p:nvSpPr>
        <p:spPr>
          <a:xfrm>
            <a:off x="1920240" y="1485900"/>
            <a:ext cx="457200" cy="0"/>
          </a:xfrm>
          <a:prstGeom prst="line">
            <a:avLst/>
          </a:prstGeom>
          <a:noFill/>
          <a:ln w="25400">
            <a:solidFill>
              <a:srgbClr val="00B4D8"/>
            </a:solidFill>
            <a:prstDash val="solid"/>
            <a:tailEnd type="open"/>
          </a:ln>
        </p:spPr>
      </p:sp>
      <p:sp>
        <p:nvSpPr>
          <p:cNvPr id="10" name="Shape 8"/>
          <p:cNvSpPr/>
          <p:nvPr/>
        </p:nvSpPr>
        <p:spPr>
          <a:xfrm>
            <a:off x="2377440" y="1097280"/>
            <a:ext cx="1645920" cy="777240"/>
          </a:xfrm>
          <a:prstGeom prst="rect">
            <a:avLst/>
          </a:prstGeom>
          <a:solidFill>
            <a:srgbClr val="2D6A9F"/>
          </a:solidFill>
          <a:ln w="12700">
            <a:solidFill>
              <a:srgbClr val="2D6A9F"/>
            </a:solidFill>
            <a:prstDash val="solid"/>
          </a:ln>
        </p:spPr>
      </p:sp>
      <p:sp>
        <p:nvSpPr>
          <p:cNvPr id="11" name="Text 9"/>
          <p:cNvSpPr/>
          <p:nvPr/>
        </p:nvSpPr>
        <p:spPr>
          <a:xfrm>
            <a:off x="2423160" y="1188720"/>
            <a:ext cx="155448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Processors</a:t>
            </a:r>
            <a:endParaRPr lang="en-US" sz="1100" dirty="0"/>
          </a:p>
        </p:txBody>
      </p:sp>
      <p:sp>
        <p:nvSpPr>
          <p:cNvPr id="12" name="Text 10"/>
          <p:cNvSpPr/>
          <p:nvPr/>
        </p:nvSpPr>
        <p:spPr>
          <a:xfrm>
            <a:off x="2423160" y="1508760"/>
            <a:ext cx="1554480" cy="292608"/>
          </a:xfrm>
          <a:prstGeom prst="rect">
            <a:avLst/>
          </a:prstGeom>
          <a:noFill/>
          <a:ln/>
        </p:spPr>
        <p:txBody>
          <a:bodyPr wrap="square" rtlCol="0" anchor="ctr"/>
          <a:lstStyle/>
          <a:p>
            <a:pPr algn="ctr" indent="0" marL="0">
              <a:buNone/>
            </a:pPr>
            <a:r>
              <a:rPr lang="en-US" sz="900" dirty="0">
                <a:solidFill>
                  <a:srgbClr val="E8F4FD"/>
                </a:solidFill>
                <a:latin typeface="Calibri" pitchFamily="34" charset="0"/>
                <a:ea typeface="Calibri" pitchFamily="34" charset="-122"/>
                <a:cs typeface="Calibri" pitchFamily="34" charset="-120"/>
              </a:rPr>
              <a:t>enrich k8s attrs</a:t>
            </a:r>
            <a:endParaRPr lang="en-US" sz="900" dirty="0"/>
          </a:p>
          <a:p>
            <a:pPr algn="ctr" indent="0" marL="0">
              <a:buNone/>
            </a:pPr>
            <a:r>
              <a:rPr lang="en-US" sz="900" dirty="0">
                <a:solidFill>
                  <a:srgbClr val="E8F4FD"/>
                </a:solidFill>
                <a:latin typeface="Calibri" pitchFamily="34" charset="0"/>
                <a:ea typeface="Calibri" pitchFamily="34" charset="-122"/>
                <a:cs typeface="Calibri" pitchFamily="34" charset="-120"/>
              </a:rPr>
              <a:t>batch</a:t>
            </a:r>
            <a:endParaRPr lang="en-US" sz="900" dirty="0"/>
          </a:p>
        </p:txBody>
      </p:sp>
      <p:sp>
        <p:nvSpPr>
          <p:cNvPr id="13" name="Shape 11"/>
          <p:cNvSpPr/>
          <p:nvPr/>
        </p:nvSpPr>
        <p:spPr>
          <a:xfrm>
            <a:off x="4023360" y="1485900"/>
            <a:ext cx="457200" cy="0"/>
          </a:xfrm>
          <a:prstGeom prst="line">
            <a:avLst/>
          </a:prstGeom>
          <a:noFill/>
          <a:ln w="25400">
            <a:solidFill>
              <a:srgbClr val="00B4D8"/>
            </a:solidFill>
            <a:prstDash val="solid"/>
            <a:tailEnd type="open"/>
          </a:ln>
        </p:spPr>
      </p:sp>
      <p:sp>
        <p:nvSpPr>
          <p:cNvPr id="14" name="Text 12"/>
          <p:cNvSpPr/>
          <p:nvPr/>
        </p:nvSpPr>
        <p:spPr>
          <a:xfrm>
            <a:off x="4572000" y="777240"/>
            <a:ext cx="5029200" cy="274320"/>
          </a:xfrm>
          <a:prstGeom prst="rect">
            <a:avLst/>
          </a:prstGeom>
          <a:noFill/>
          <a:ln/>
        </p:spPr>
        <p:txBody>
          <a:bodyPr wrap="square" rtlCol="0" anchor="ctr"/>
          <a:lstStyle/>
          <a:p>
            <a:pPr algn="l" indent="0" marL="0">
              <a:buNone/>
            </a:pPr>
            <a:r>
              <a:rPr lang="en-US" sz="1000" b="1" i="1" dirty="0">
                <a:solidFill>
                  <a:srgbClr val="00B4D8"/>
                </a:solidFill>
                <a:latin typeface="Calibri" pitchFamily="34" charset="0"/>
                <a:ea typeface="Calibri" pitchFamily="34" charset="-122"/>
                <a:cs typeface="Calibri" pitchFamily="34" charset="-120"/>
              </a:rPr>
              <a:t>Gateway tier (Deployment — sampling + fan-out)</a:t>
            </a:r>
            <a:endParaRPr lang="en-US" sz="1000" dirty="0"/>
          </a:p>
        </p:txBody>
      </p:sp>
      <p:sp>
        <p:nvSpPr>
          <p:cNvPr id="15" name="Shape 13"/>
          <p:cNvSpPr/>
          <p:nvPr/>
        </p:nvSpPr>
        <p:spPr>
          <a:xfrm>
            <a:off x="4480560" y="1097280"/>
            <a:ext cx="1645920" cy="777240"/>
          </a:xfrm>
          <a:prstGeom prst="rect">
            <a:avLst/>
          </a:prstGeom>
          <a:solidFill>
            <a:srgbClr val="00B4D8"/>
          </a:solidFill>
          <a:ln w="12700">
            <a:solidFill>
              <a:srgbClr val="00B4D8"/>
            </a:solidFill>
            <a:prstDash val="solid"/>
          </a:ln>
        </p:spPr>
      </p:sp>
      <p:sp>
        <p:nvSpPr>
          <p:cNvPr id="16" name="Text 14"/>
          <p:cNvSpPr/>
          <p:nvPr/>
        </p:nvSpPr>
        <p:spPr>
          <a:xfrm>
            <a:off x="4526280" y="1188720"/>
            <a:ext cx="155448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Processors</a:t>
            </a:r>
            <a:endParaRPr lang="en-US" sz="1100" dirty="0"/>
          </a:p>
        </p:txBody>
      </p:sp>
      <p:sp>
        <p:nvSpPr>
          <p:cNvPr id="17" name="Text 15"/>
          <p:cNvSpPr/>
          <p:nvPr/>
        </p:nvSpPr>
        <p:spPr>
          <a:xfrm>
            <a:off x="4526280" y="1508760"/>
            <a:ext cx="1554480" cy="292608"/>
          </a:xfrm>
          <a:prstGeom prst="rect">
            <a:avLst/>
          </a:prstGeom>
          <a:noFill/>
          <a:ln/>
        </p:spPr>
        <p:txBody>
          <a:bodyPr wrap="square" rtlCol="0" anchor="ctr"/>
          <a:lstStyle/>
          <a:p>
            <a:pPr algn="ctr" indent="0" marL="0">
              <a:buNone/>
            </a:pPr>
            <a:r>
              <a:rPr lang="en-US" sz="900" dirty="0">
                <a:solidFill>
                  <a:srgbClr val="E8F4FD"/>
                </a:solidFill>
                <a:latin typeface="Calibri" pitchFamily="34" charset="0"/>
                <a:ea typeface="Calibri" pitchFamily="34" charset="-122"/>
                <a:cs typeface="Calibri" pitchFamily="34" charset="-120"/>
              </a:rPr>
              <a:t>tail sampling</a:t>
            </a:r>
            <a:endParaRPr lang="en-US" sz="900" dirty="0"/>
          </a:p>
          <a:p>
            <a:pPr algn="ctr" indent="0" marL="0">
              <a:buNone/>
            </a:pPr>
            <a:r>
              <a:rPr lang="en-US" sz="900" dirty="0">
                <a:solidFill>
                  <a:srgbClr val="E8F4FD"/>
                </a:solidFill>
                <a:latin typeface="Calibri" pitchFamily="34" charset="0"/>
                <a:ea typeface="Calibri" pitchFamily="34" charset="-122"/>
                <a:cs typeface="Calibri" pitchFamily="34" charset="-120"/>
              </a:rPr>
              <a:t>filter</a:t>
            </a:r>
            <a:endParaRPr lang="en-US" sz="900" dirty="0"/>
          </a:p>
        </p:txBody>
      </p:sp>
      <p:sp>
        <p:nvSpPr>
          <p:cNvPr id="18" name="Shape 16"/>
          <p:cNvSpPr/>
          <p:nvPr/>
        </p:nvSpPr>
        <p:spPr>
          <a:xfrm>
            <a:off x="6126480" y="1485900"/>
            <a:ext cx="457200" cy="0"/>
          </a:xfrm>
          <a:prstGeom prst="line">
            <a:avLst/>
          </a:prstGeom>
          <a:noFill/>
          <a:ln w="25400">
            <a:solidFill>
              <a:srgbClr val="00B4D8"/>
            </a:solidFill>
            <a:prstDash val="solid"/>
            <a:tailEnd type="open"/>
          </a:ln>
        </p:spPr>
      </p:sp>
      <p:sp>
        <p:nvSpPr>
          <p:cNvPr id="19" name="Shape 17"/>
          <p:cNvSpPr/>
          <p:nvPr/>
        </p:nvSpPr>
        <p:spPr>
          <a:xfrm>
            <a:off x="6583680" y="1097280"/>
            <a:ext cx="1645920" cy="777240"/>
          </a:xfrm>
          <a:prstGeom prst="rect">
            <a:avLst/>
          </a:prstGeom>
          <a:solidFill>
            <a:srgbClr val="00B4D8"/>
          </a:solidFill>
          <a:ln w="12700">
            <a:solidFill>
              <a:srgbClr val="00B4D8"/>
            </a:solidFill>
            <a:prstDash val="solid"/>
          </a:ln>
        </p:spPr>
      </p:sp>
      <p:sp>
        <p:nvSpPr>
          <p:cNvPr id="20" name="Text 18"/>
          <p:cNvSpPr/>
          <p:nvPr/>
        </p:nvSpPr>
        <p:spPr>
          <a:xfrm>
            <a:off x="6629400" y="1188720"/>
            <a:ext cx="155448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Exporters</a:t>
            </a:r>
            <a:endParaRPr lang="en-US" sz="1100" dirty="0"/>
          </a:p>
        </p:txBody>
      </p:sp>
      <p:sp>
        <p:nvSpPr>
          <p:cNvPr id="21" name="Text 19"/>
          <p:cNvSpPr/>
          <p:nvPr/>
        </p:nvSpPr>
        <p:spPr>
          <a:xfrm>
            <a:off x="6629400" y="1508760"/>
            <a:ext cx="1554480" cy="292608"/>
          </a:xfrm>
          <a:prstGeom prst="rect">
            <a:avLst/>
          </a:prstGeom>
          <a:noFill/>
          <a:ln/>
        </p:spPr>
        <p:txBody>
          <a:bodyPr wrap="square" rtlCol="0" anchor="ctr"/>
          <a:lstStyle/>
          <a:p>
            <a:pPr algn="ctr" indent="0" marL="0">
              <a:buNone/>
            </a:pPr>
            <a:r>
              <a:rPr lang="en-US" sz="900" dirty="0">
                <a:solidFill>
                  <a:srgbClr val="E8F4FD"/>
                </a:solidFill>
                <a:latin typeface="Calibri" pitchFamily="34" charset="0"/>
                <a:ea typeface="Calibri" pitchFamily="34" charset="-122"/>
                <a:cs typeface="Calibri" pitchFamily="34" charset="-120"/>
              </a:rPr>
              <a:t>OTLP / Prom-write</a:t>
            </a:r>
            <a:endParaRPr lang="en-US" sz="900" dirty="0"/>
          </a:p>
        </p:txBody>
      </p:sp>
      <p:sp>
        <p:nvSpPr>
          <p:cNvPr id="22" name="Shape 20"/>
          <p:cNvSpPr/>
          <p:nvPr/>
        </p:nvSpPr>
        <p:spPr>
          <a:xfrm>
            <a:off x="7772400" y="1874520"/>
            <a:ext cx="0" cy="640080"/>
          </a:xfrm>
          <a:prstGeom prst="line">
            <a:avLst/>
          </a:prstGeom>
          <a:noFill/>
          <a:ln w="19050">
            <a:solidFill>
              <a:srgbClr val="00B4D8"/>
            </a:solidFill>
            <a:prstDash val="solid"/>
          </a:ln>
        </p:spPr>
      </p:sp>
      <p:sp>
        <p:nvSpPr>
          <p:cNvPr id="23" name="Shape 21"/>
          <p:cNvSpPr/>
          <p:nvPr/>
        </p:nvSpPr>
        <p:spPr>
          <a:xfrm>
            <a:off x="6126480" y="2514600"/>
            <a:ext cx="1645920" cy="777240"/>
          </a:xfrm>
          <a:prstGeom prst="rect">
            <a:avLst/>
          </a:prstGeom>
          <a:solidFill>
            <a:srgbClr val="1B2A4A"/>
          </a:solidFill>
          <a:ln w="12700">
            <a:solidFill>
              <a:srgbClr val="1B2A4A"/>
            </a:solidFill>
            <a:prstDash val="solid"/>
          </a:ln>
        </p:spPr>
      </p:sp>
      <p:sp>
        <p:nvSpPr>
          <p:cNvPr id="24" name="Text 22"/>
          <p:cNvSpPr/>
          <p:nvPr/>
        </p:nvSpPr>
        <p:spPr>
          <a:xfrm>
            <a:off x="6172200" y="2606040"/>
            <a:ext cx="155448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Tempo</a:t>
            </a:r>
            <a:endParaRPr lang="en-US" sz="1100" dirty="0"/>
          </a:p>
        </p:txBody>
      </p:sp>
      <p:sp>
        <p:nvSpPr>
          <p:cNvPr id="25" name="Text 23"/>
          <p:cNvSpPr/>
          <p:nvPr/>
        </p:nvSpPr>
        <p:spPr>
          <a:xfrm>
            <a:off x="6172200" y="2926080"/>
            <a:ext cx="1554480" cy="292608"/>
          </a:xfrm>
          <a:prstGeom prst="rect">
            <a:avLst/>
          </a:prstGeom>
          <a:noFill/>
          <a:ln/>
        </p:spPr>
        <p:txBody>
          <a:bodyPr wrap="square" rtlCol="0" anchor="ctr"/>
          <a:lstStyle/>
          <a:p>
            <a:pPr algn="ctr" indent="0" marL="0">
              <a:buNone/>
            </a:pPr>
            <a:r>
              <a:rPr lang="en-US" sz="900" dirty="0">
                <a:solidFill>
                  <a:srgbClr val="E8F4FD"/>
                </a:solidFill>
                <a:latin typeface="Calibri" pitchFamily="34" charset="0"/>
                <a:ea typeface="Calibri" pitchFamily="34" charset="-122"/>
                <a:cs typeface="Calibri" pitchFamily="34" charset="-120"/>
              </a:rPr>
              <a:t>Traces</a:t>
            </a:r>
            <a:endParaRPr lang="en-US" sz="900" dirty="0"/>
          </a:p>
          <a:p>
            <a:pPr algn="ctr" indent="0" marL="0">
              <a:buNone/>
            </a:pPr>
            <a:r>
              <a:rPr lang="en-US" sz="900" dirty="0">
                <a:solidFill>
                  <a:srgbClr val="E8F4FD"/>
                </a:solidFill>
                <a:latin typeface="Calibri" pitchFamily="34" charset="0"/>
                <a:ea typeface="Calibri" pitchFamily="34" charset="-122"/>
                <a:cs typeface="Calibri" pitchFamily="34" charset="-120"/>
              </a:rPr>
              <a:t>(Grafana Cloud)</a:t>
            </a:r>
            <a:endParaRPr lang="en-US" sz="900" dirty="0"/>
          </a:p>
        </p:txBody>
      </p:sp>
      <p:sp>
        <p:nvSpPr>
          <p:cNvPr id="26" name="Shape 24"/>
          <p:cNvSpPr/>
          <p:nvPr/>
        </p:nvSpPr>
        <p:spPr>
          <a:xfrm>
            <a:off x="8382000" y="1874520"/>
            <a:ext cx="0" cy="640080"/>
          </a:xfrm>
          <a:prstGeom prst="line">
            <a:avLst/>
          </a:prstGeom>
          <a:noFill/>
          <a:ln w="19050">
            <a:solidFill>
              <a:srgbClr val="00B4D8"/>
            </a:solidFill>
            <a:prstDash val="solid"/>
          </a:ln>
        </p:spPr>
      </p:sp>
      <p:sp>
        <p:nvSpPr>
          <p:cNvPr id="27" name="Shape 25"/>
          <p:cNvSpPr/>
          <p:nvPr/>
        </p:nvSpPr>
        <p:spPr>
          <a:xfrm>
            <a:off x="7955280" y="2514600"/>
            <a:ext cx="1645920" cy="777240"/>
          </a:xfrm>
          <a:prstGeom prst="rect">
            <a:avLst/>
          </a:prstGeom>
          <a:solidFill>
            <a:srgbClr val="1B2A4A"/>
          </a:solidFill>
          <a:ln w="12700">
            <a:solidFill>
              <a:srgbClr val="1B2A4A"/>
            </a:solidFill>
            <a:prstDash val="solid"/>
          </a:ln>
        </p:spPr>
      </p:sp>
      <p:sp>
        <p:nvSpPr>
          <p:cNvPr id="28" name="Text 26"/>
          <p:cNvSpPr/>
          <p:nvPr/>
        </p:nvSpPr>
        <p:spPr>
          <a:xfrm>
            <a:off x="8001000" y="2606040"/>
            <a:ext cx="155448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Mimir</a:t>
            </a:r>
            <a:endParaRPr lang="en-US" sz="1100" dirty="0"/>
          </a:p>
        </p:txBody>
      </p:sp>
      <p:sp>
        <p:nvSpPr>
          <p:cNvPr id="29" name="Text 27"/>
          <p:cNvSpPr/>
          <p:nvPr/>
        </p:nvSpPr>
        <p:spPr>
          <a:xfrm>
            <a:off x="8001000" y="2926080"/>
            <a:ext cx="1554480" cy="292608"/>
          </a:xfrm>
          <a:prstGeom prst="rect">
            <a:avLst/>
          </a:prstGeom>
          <a:noFill/>
          <a:ln/>
        </p:spPr>
        <p:txBody>
          <a:bodyPr wrap="square" rtlCol="0" anchor="ctr"/>
          <a:lstStyle/>
          <a:p>
            <a:pPr algn="ctr" indent="0" marL="0">
              <a:buNone/>
            </a:pPr>
            <a:r>
              <a:rPr lang="en-US" sz="900" dirty="0">
                <a:solidFill>
                  <a:srgbClr val="E8F4FD"/>
                </a:solidFill>
                <a:latin typeface="Calibri" pitchFamily="34" charset="0"/>
                <a:ea typeface="Calibri" pitchFamily="34" charset="-122"/>
                <a:cs typeface="Calibri" pitchFamily="34" charset="-120"/>
              </a:rPr>
              <a:t>Metrics</a:t>
            </a:r>
            <a:endParaRPr lang="en-US" sz="900" dirty="0"/>
          </a:p>
          <a:p>
            <a:pPr algn="ctr" indent="0" marL="0">
              <a:buNone/>
            </a:pPr>
            <a:r>
              <a:rPr lang="en-US" sz="900" dirty="0">
                <a:solidFill>
                  <a:srgbClr val="E8F4FD"/>
                </a:solidFill>
                <a:latin typeface="Calibri" pitchFamily="34" charset="0"/>
                <a:ea typeface="Calibri" pitchFamily="34" charset="-122"/>
                <a:cs typeface="Calibri" pitchFamily="34" charset="-120"/>
              </a:rPr>
              <a:t>(self-hosted)</a:t>
            </a:r>
            <a:endParaRPr lang="en-US" sz="900" dirty="0"/>
          </a:p>
        </p:txBody>
      </p:sp>
      <p:sp>
        <p:nvSpPr>
          <p:cNvPr id="30" name="Shape 28"/>
          <p:cNvSpPr/>
          <p:nvPr/>
        </p:nvSpPr>
        <p:spPr>
          <a:xfrm>
            <a:off x="8991600" y="1874520"/>
            <a:ext cx="0" cy="640080"/>
          </a:xfrm>
          <a:prstGeom prst="line">
            <a:avLst/>
          </a:prstGeom>
          <a:noFill/>
          <a:ln w="19050">
            <a:solidFill>
              <a:srgbClr val="00B4D8"/>
            </a:solidFill>
            <a:prstDash val="solid"/>
          </a:ln>
        </p:spPr>
      </p:sp>
      <p:sp>
        <p:nvSpPr>
          <p:cNvPr id="31" name="Shape 29"/>
          <p:cNvSpPr/>
          <p:nvPr/>
        </p:nvSpPr>
        <p:spPr>
          <a:xfrm>
            <a:off x="9784080" y="2514600"/>
            <a:ext cx="1645920" cy="777240"/>
          </a:xfrm>
          <a:prstGeom prst="rect">
            <a:avLst/>
          </a:prstGeom>
          <a:solidFill>
            <a:srgbClr val="1B2A4A"/>
          </a:solidFill>
          <a:ln w="12700">
            <a:solidFill>
              <a:srgbClr val="1B2A4A"/>
            </a:solidFill>
            <a:prstDash val="solid"/>
          </a:ln>
        </p:spPr>
      </p:sp>
      <p:sp>
        <p:nvSpPr>
          <p:cNvPr id="32" name="Text 30"/>
          <p:cNvSpPr/>
          <p:nvPr/>
        </p:nvSpPr>
        <p:spPr>
          <a:xfrm>
            <a:off x="9829800" y="2606040"/>
            <a:ext cx="155448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Loki</a:t>
            </a:r>
            <a:endParaRPr lang="en-US" sz="1100" dirty="0"/>
          </a:p>
        </p:txBody>
      </p:sp>
      <p:sp>
        <p:nvSpPr>
          <p:cNvPr id="33" name="Text 31"/>
          <p:cNvSpPr/>
          <p:nvPr/>
        </p:nvSpPr>
        <p:spPr>
          <a:xfrm>
            <a:off x="9829800" y="2926080"/>
            <a:ext cx="1554480" cy="292608"/>
          </a:xfrm>
          <a:prstGeom prst="rect">
            <a:avLst/>
          </a:prstGeom>
          <a:noFill/>
          <a:ln/>
        </p:spPr>
        <p:txBody>
          <a:bodyPr wrap="square" rtlCol="0" anchor="ctr"/>
          <a:lstStyle/>
          <a:p>
            <a:pPr algn="ctr" indent="0" marL="0">
              <a:buNone/>
            </a:pPr>
            <a:r>
              <a:rPr lang="en-US" sz="900" dirty="0">
                <a:solidFill>
                  <a:srgbClr val="E8F4FD"/>
                </a:solidFill>
                <a:latin typeface="Calibri" pitchFamily="34" charset="0"/>
                <a:ea typeface="Calibri" pitchFamily="34" charset="-122"/>
                <a:cs typeface="Calibri" pitchFamily="34" charset="-120"/>
              </a:rPr>
              <a:t>Logs</a:t>
            </a:r>
            <a:endParaRPr lang="en-US" sz="900" dirty="0"/>
          </a:p>
          <a:p>
            <a:pPr algn="ctr" indent="0" marL="0">
              <a:buNone/>
            </a:pPr>
            <a:r>
              <a:rPr lang="en-US" sz="900" dirty="0">
                <a:solidFill>
                  <a:srgbClr val="E8F4FD"/>
                </a:solidFill>
                <a:latin typeface="Calibri" pitchFamily="34" charset="0"/>
                <a:ea typeface="Calibri" pitchFamily="34" charset="-122"/>
                <a:cs typeface="Calibri" pitchFamily="34" charset="-120"/>
              </a:rPr>
              <a:t>(self-hosted)</a:t>
            </a:r>
            <a:endParaRPr lang="en-US" sz="900" dirty="0"/>
          </a:p>
        </p:txBody>
      </p:sp>
      <p:sp>
        <p:nvSpPr>
          <p:cNvPr id="34" name="Shape 32"/>
          <p:cNvSpPr/>
          <p:nvPr/>
        </p:nvSpPr>
        <p:spPr>
          <a:xfrm>
            <a:off x="0" y="6583680"/>
            <a:ext cx="12192000" cy="274320"/>
          </a:xfrm>
          <a:prstGeom prst="rect">
            <a:avLst/>
          </a:prstGeom>
          <a:solidFill>
            <a:srgbClr val="1B2A4A"/>
          </a:solidFill>
          <a:ln w="12700">
            <a:solidFill>
              <a:srgbClr val="1B2A4A"/>
            </a:solidFill>
            <a:prstDash val="solid"/>
          </a:ln>
        </p:spPr>
      </p:sp>
      <p:sp>
        <p:nvSpPr>
          <p:cNvPr id="35" name="Text 33"/>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3 — THE MIGRATION IN FOUR ACTS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600" b="1" dirty="0">
                <a:solidFill>
                  <a:srgbClr val="1E3A5F"/>
                </a:solidFill>
                <a:latin typeface="Calibri" pitchFamily="34" charset="0"/>
                <a:ea typeface="Calibri" pitchFamily="34" charset="-122"/>
                <a:cs typeface="Calibri" pitchFamily="34" charset="-120"/>
              </a:rPr>
              <a:t>Act 1: Collector deployment</a:t>
            </a:r>
            <a:endParaRPr lang="en-US" sz="2600" dirty="0"/>
          </a:p>
        </p:txBody>
      </p:sp>
      <p:sp>
        <p:nvSpPr>
          <p:cNvPr id="5" name="Text 3"/>
          <p:cNvSpPr/>
          <p:nvPr/>
        </p:nvSpPr>
        <p:spPr>
          <a:xfrm>
            <a:off x="365760" y="685800"/>
            <a:ext cx="2743200" cy="320040"/>
          </a:xfrm>
          <a:prstGeom prst="rect">
            <a:avLst/>
          </a:prstGeom>
          <a:noFill/>
          <a:ln/>
        </p:spPr>
        <p:txBody>
          <a:bodyPr wrap="square" rtlCol="0" anchor="ctr"/>
          <a:lstStyle/>
          <a:p>
            <a:pPr algn="l" indent="0" marL="0">
              <a:buNone/>
            </a:pPr>
            <a:r>
              <a:rPr lang="en-US" sz="1400" b="1" dirty="0">
                <a:solidFill>
                  <a:srgbClr val="2D7D46"/>
                </a:solidFill>
                <a:latin typeface="Calibri" pitchFamily="34" charset="0"/>
                <a:ea typeface="Calibri" pitchFamily="34" charset="-122"/>
                <a:cs typeface="Calibri" pitchFamily="34" charset="-120"/>
              </a:rPr>
              <a:t>On time — 1 month</a:t>
            </a:r>
            <a:endParaRPr lang="en-US" sz="1400" dirty="0"/>
          </a:p>
        </p:txBody>
      </p:sp>
      <p:sp>
        <p:nvSpPr>
          <p:cNvPr id="6" name="Shape 4"/>
          <p:cNvSpPr/>
          <p:nvPr/>
        </p:nvSpPr>
        <p:spPr>
          <a:xfrm>
            <a:off x="365760" y="1097280"/>
            <a:ext cx="4114800" cy="484632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7" name="Shape 5"/>
          <p:cNvSpPr/>
          <p:nvPr/>
        </p:nvSpPr>
        <p:spPr>
          <a:xfrm>
            <a:off x="365760" y="1097280"/>
            <a:ext cx="54864" cy="4846320"/>
          </a:xfrm>
          <a:prstGeom prst="rect">
            <a:avLst/>
          </a:prstGeom>
          <a:solidFill>
            <a:srgbClr val="2D7D46"/>
          </a:solidFill>
          <a:ln w="12700">
            <a:solidFill>
              <a:srgbClr val="2D7D46"/>
            </a:solidFill>
            <a:prstDash val="solid"/>
          </a:ln>
        </p:spPr>
      </p:sp>
      <p:sp>
        <p:nvSpPr>
          <p:cNvPr id="8" name="Text 6"/>
          <p:cNvSpPr/>
          <p:nvPr/>
        </p:nvSpPr>
        <p:spPr>
          <a:xfrm>
            <a:off x="502920" y="1188720"/>
            <a:ext cx="388620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What went well</a:t>
            </a:r>
            <a:endParaRPr lang="en-US" sz="1300" dirty="0"/>
          </a:p>
        </p:txBody>
      </p:sp>
      <p:sp>
        <p:nvSpPr>
          <p:cNvPr id="9" name="Text 7"/>
          <p:cNvSpPr/>
          <p:nvPr/>
        </p:nvSpPr>
        <p:spPr>
          <a:xfrm>
            <a:off x="502920" y="1481328"/>
            <a:ext cx="3886200" cy="4370832"/>
          </a:xfrm>
          <a:prstGeom prst="rect">
            <a:avLst/>
          </a:prstGeom>
          <a:noFill/>
          <a:ln/>
        </p:spPr>
        <p:txBody>
          <a:bodyPr wrap="square" rtlCol="0" anchor="t"/>
          <a:lstStyle/>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Helm chart deployment — 1 sprint, 22 clusters</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OTLP receiver handles all language SDKs with zero config changes at service level initially</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Gateway tier added in month 2 — tail sampling working on day 1</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Datadog agent stayed running in parallel — no big-bang cutover</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K8s attribute enrichment worked out of the box</a:t>
            </a:r>
            <a:endParaRPr lang="en-US" sz="1200" dirty="0"/>
          </a:p>
        </p:txBody>
      </p:sp>
      <p:sp>
        <p:nvSpPr>
          <p:cNvPr id="10" name="Shape 8"/>
          <p:cNvSpPr/>
          <p:nvPr/>
        </p:nvSpPr>
        <p:spPr>
          <a:xfrm>
            <a:off x="4663440" y="1097280"/>
            <a:ext cx="4114800" cy="484632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11" name="Shape 9"/>
          <p:cNvSpPr/>
          <p:nvPr/>
        </p:nvSpPr>
        <p:spPr>
          <a:xfrm>
            <a:off x="4663440" y="1097280"/>
            <a:ext cx="54864" cy="4846320"/>
          </a:xfrm>
          <a:prstGeom prst="rect">
            <a:avLst/>
          </a:prstGeom>
          <a:solidFill>
            <a:srgbClr val="D97706"/>
          </a:solidFill>
          <a:ln w="12700">
            <a:solidFill>
              <a:srgbClr val="D97706"/>
            </a:solidFill>
            <a:prstDash val="solid"/>
          </a:ln>
        </p:spPr>
      </p:sp>
      <p:sp>
        <p:nvSpPr>
          <p:cNvPr id="12" name="Text 10"/>
          <p:cNvSpPr/>
          <p:nvPr/>
        </p:nvSpPr>
        <p:spPr>
          <a:xfrm>
            <a:off x="4800600" y="1188720"/>
            <a:ext cx="388620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What didn't</a:t>
            </a:r>
            <a:endParaRPr lang="en-US" sz="1300" dirty="0"/>
          </a:p>
        </p:txBody>
      </p:sp>
      <p:sp>
        <p:nvSpPr>
          <p:cNvPr id="13" name="Text 11"/>
          <p:cNvSpPr/>
          <p:nvPr/>
        </p:nvSpPr>
        <p:spPr>
          <a:xfrm>
            <a:off x="4800600" y="1481328"/>
            <a:ext cx="3886200" cy="4370832"/>
          </a:xfrm>
          <a:prstGeom prst="rect">
            <a:avLst/>
          </a:prstGeom>
          <a:noFill/>
          <a:ln/>
        </p:spPr>
        <p:txBody>
          <a:bodyPr wrap="square" rtlCol="0" anchor="t"/>
          <a:lstStyle/>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Config sprawl hit immediately — 6 different configs for 6 cluster types</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Tail-based sampling pins gateway scaling: all spans of a trace must hit same instance (still unsolved)</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OTLP + Prometheus receiver conflict on scrape interval — needed manual workaround</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Operational runbooks didn't exist — wrote them post-deployment</a:t>
            </a:r>
            <a:endParaRPr lang="en-US" sz="1200" dirty="0"/>
          </a:p>
        </p:txBody>
      </p:sp>
      <p:sp>
        <p:nvSpPr>
          <p:cNvPr id="14" name="Shape 12"/>
          <p:cNvSpPr/>
          <p:nvPr/>
        </p:nvSpPr>
        <p:spPr>
          <a:xfrm>
            <a:off x="0" y="6583680"/>
            <a:ext cx="12192000" cy="274320"/>
          </a:xfrm>
          <a:prstGeom prst="rect">
            <a:avLst/>
          </a:prstGeom>
          <a:solidFill>
            <a:srgbClr val="1B2A4A"/>
          </a:solidFill>
          <a:ln w="12700">
            <a:solidFill>
              <a:srgbClr val="1B2A4A"/>
            </a:solidFill>
            <a:prstDash val="solid"/>
          </a:ln>
        </p:spPr>
      </p:sp>
      <p:sp>
        <p:nvSpPr>
          <p:cNvPr id="15" name="Text 13"/>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3 — THE MIGRATION IN FOUR ACTS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600" b="1" dirty="0">
                <a:solidFill>
                  <a:srgbClr val="1E3A5F"/>
                </a:solidFill>
                <a:latin typeface="Calibri" pitchFamily="34" charset="0"/>
                <a:ea typeface="Calibri" pitchFamily="34" charset="-122"/>
                <a:cs typeface="Calibri" pitchFamily="34" charset="-120"/>
              </a:rPr>
              <a:t>Act 2: Traces to Tempo</a:t>
            </a:r>
            <a:endParaRPr lang="en-US" sz="2600" dirty="0"/>
          </a:p>
        </p:txBody>
      </p:sp>
      <p:sp>
        <p:nvSpPr>
          <p:cNvPr id="5" name="Text 3"/>
          <p:cNvSpPr/>
          <p:nvPr/>
        </p:nvSpPr>
        <p:spPr>
          <a:xfrm>
            <a:off x="365760" y="685800"/>
            <a:ext cx="3200400" cy="320040"/>
          </a:xfrm>
          <a:prstGeom prst="rect">
            <a:avLst/>
          </a:prstGeom>
          <a:noFill/>
          <a:ln/>
        </p:spPr>
        <p:txBody>
          <a:bodyPr wrap="square" rtlCol="0" anchor="ctr"/>
          <a:lstStyle/>
          <a:p>
            <a:pPr algn="l" indent="0" marL="0">
              <a:buNone/>
            </a:pPr>
            <a:r>
              <a:rPr lang="en-US" sz="1400" b="1" dirty="0">
                <a:solidFill>
                  <a:srgbClr val="D97706"/>
                </a:solidFill>
                <a:latin typeface="Calibri" pitchFamily="34" charset="0"/>
                <a:ea typeface="Calibri" pitchFamily="34" charset="-122"/>
                <a:cs typeface="Calibri" pitchFamily="34" charset="-120"/>
              </a:rPr>
              <a:t>+1 month slip (M2 → M3)</a:t>
            </a:r>
            <a:endParaRPr lang="en-US" sz="1400" dirty="0"/>
          </a:p>
        </p:txBody>
      </p:sp>
      <p:sp>
        <p:nvSpPr>
          <p:cNvPr id="6" name="Shape 4"/>
          <p:cNvSpPr/>
          <p:nvPr/>
        </p:nvSpPr>
        <p:spPr>
          <a:xfrm>
            <a:off x="365760" y="1097280"/>
            <a:ext cx="4114800" cy="484632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7" name="Shape 5"/>
          <p:cNvSpPr/>
          <p:nvPr/>
        </p:nvSpPr>
        <p:spPr>
          <a:xfrm>
            <a:off x="365760" y="1097280"/>
            <a:ext cx="54864" cy="4846320"/>
          </a:xfrm>
          <a:prstGeom prst="rect">
            <a:avLst/>
          </a:prstGeom>
          <a:solidFill>
            <a:srgbClr val="2D7D46"/>
          </a:solidFill>
          <a:ln w="12700">
            <a:solidFill>
              <a:srgbClr val="2D7D46"/>
            </a:solidFill>
            <a:prstDash val="solid"/>
          </a:ln>
        </p:spPr>
      </p:sp>
      <p:sp>
        <p:nvSpPr>
          <p:cNvPr id="8" name="Text 6"/>
          <p:cNvSpPr/>
          <p:nvPr/>
        </p:nvSpPr>
        <p:spPr>
          <a:xfrm>
            <a:off x="502920" y="1188720"/>
            <a:ext cx="388620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What went well</a:t>
            </a:r>
            <a:endParaRPr lang="en-US" sz="1300" dirty="0"/>
          </a:p>
        </p:txBody>
      </p:sp>
      <p:sp>
        <p:nvSpPr>
          <p:cNvPr id="9" name="Text 7"/>
          <p:cNvSpPr/>
          <p:nvPr/>
        </p:nvSpPr>
        <p:spPr>
          <a:xfrm>
            <a:off x="502920" y="1481328"/>
            <a:ext cx="3886200" cy="4370832"/>
          </a:xfrm>
          <a:prstGeom prst="rect">
            <a:avLst/>
          </a:prstGeom>
          <a:noFill/>
          <a:ln/>
        </p:spPr>
        <p:txBody>
          <a:bodyPr wrap="square" rtlCol="0" anchor="t"/>
          <a:lstStyle/>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OTLP → Tempo works natively with zero serialization issues</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Grafana Explore / TraceQL immediately useful — teams switched fast</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Service maps from Tempo in Grafana replaced Datadog APM overview</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Grafana Cloud Tempo pricing was reasonable for our trace volume</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2 services migrated first — reduced blast radius during learning</a:t>
            </a:r>
            <a:endParaRPr lang="en-US" sz="1200" dirty="0"/>
          </a:p>
        </p:txBody>
      </p:sp>
      <p:sp>
        <p:nvSpPr>
          <p:cNvPr id="10" name="Shape 8"/>
          <p:cNvSpPr/>
          <p:nvPr/>
        </p:nvSpPr>
        <p:spPr>
          <a:xfrm>
            <a:off x="4663440" y="1097280"/>
            <a:ext cx="4114800" cy="484632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11" name="Shape 9"/>
          <p:cNvSpPr/>
          <p:nvPr/>
        </p:nvSpPr>
        <p:spPr>
          <a:xfrm>
            <a:off x="4663440" y="1097280"/>
            <a:ext cx="54864" cy="4846320"/>
          </a:xfrm>
          <a:prstGeom prst="rect">
            <a:avLst/>
          </a:prstGeom>
          <a:solidFill>
            <a:srgbClr val="D97706"/>
          </a:solidFill>
          <a:ln w="12700">
            <a:solidFill>
              <a:srgbClr val="D97706"/>
            </a:solidFill>
            <a:prstDash val="solid"/>
          </a:ln>
        </p:spPr>
      </p:sp>
      <p:sp>
        <p:nvSpPr>
          <p:cNvPr id="12" name="Text 10"/>
          <p:cNvSpPr/>
          <p:nvPr/>
        </p:nvSpPr>
        <p:spPr>
          <a:xfrm>
            <a:off x="4800600" y="1188720"/>
            <a:ext cx="388620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What didn't</a:t>
            </a:r>
            <a:endParaRPr lang="en-US" sz="1300" dirty="0"/>
          </a:p>
        </p:txBody>
      </p:sp>
      <p:sp>
        <p:nvSpPr>
          <p:cNvPr id="13" name="Text 11"/>
          <p:cNvSpPr/>
          <p:nvPr/>
        </p:nvSpPr>
        <p:spPr>
          <a:xfrm>
            <a:off x="4800600" y="1481328"/>
            <a:ext cx="3886200" cy="4370832"/>
          </a:xfrm>
          <a:prstGeom prst="rect">
            <a:avLst/>
          </a:prstGeom>
          <a:noFill/>
          <a:ln/>
        </p:spPr>
        <p:txBody>
          <a:bodyPr wrap="square" rtlCol="0" anchor="t"/>
          <a:lstStyle/>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Datadog APM instrumentation is non-standard — teams had to rewrite trace instrumentation (~3 weeks per team)</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Auto-instrumentation agents (Java, Python) needed version upgrades</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Distributed context propagation broke in 2 services using older SDKs (B3 vs W3C headers)</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Datadog trace correlation with logs relied on Datadog-specific trace IDs</a:t>
            </a:r>
            <a:endParaRPr lang="en-US" sz="1200" dirty="0"/>
          </a:p>
        </p:txBody>
      </p:sp>
      <p:sp>
        <p:nvSpPr>
          <p:cNvPr id="14" name="Shape 12"/>
          <p:cNvSpPr/>
          <p:nvPr/>
        </p:nvSpPr>
        <p:spPr>
          <a:xfrm>
            <a:off x="0" y="6583680"/>
            <a:ext cx="12192000" cy="274320"/>
          </a:xfrm>
          <a:prstGeom prst="rect">
            <a:avLst/>
          </a:prstGeom>
          <a:solidFill>
            <a:srgbClr val="1B2A4A"/>
          </a:solidFill>
          <a:ln w="12700">
            <a:solidFill>
              <a:srgbClr val="1B2A4A"/>
            </a:solidFill>
            <a:prstDash val="solid"/>
          </a:ln>
        </p:spPr>
      </p:sp>
      <p:sp>
        <p:nvSpPr>
          <p:cNvPr id="15" name="Text 13"/>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3 — THE MIGRATION IN FOUR ACTS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600" b="1" dirty="0">
                <a:solidFill>
                  <a:srgbClr val="1E3A5F"/>
                </a:solidFill>
                <a:latin typeface="Calibri" pitchFamily="34" charset="0"/>
                <a:ea typeface="Calibri" pitchFamily="34" charset="-122"/>
                <a:cs typeface="Calibri" pitchFamily="34" charset="-120"/>
              </a:rPr>
              <a:t>Act 3: Metrics to Mimir</a:t>
            </a:r>
            <a:endParaRPr lang="en-US" sz="2600" dirty="0"/>
          </a:p>
        </p:txBody>
      </p:sp>
      <p:sp>
        <p:nvSpPr>
          <p:cNvPr id="5" name="Text 3"/>
          <p:cNvSpPr/>
          <p:nvPr/>
        </p:nvSpPr>
        <p:spPr>
          <a:xfrm>
            <a:off x="365760" y="685800"/>
            <a:ext cx="3200400" cy="320040"/>
          </a:xfrm>
          <a:prstGeom prst="rect">
            <a:avLst/>
          </a:prstGeom>
          <a:noFill/>
          <a:ln/>
        </p:spPr>
        <p:txBody>
          <a:bodyPr wrap="square" rtlCol="0" anchor="ctr"/>
          <a:lstStyle/>
          <a:p>
            <a:pPr algn="l" indent="0" marL="0">
              <a:buNone/>
            </a:pPr>
            <a:r>
              <a:rPr lang="en-US" sz="1400" b="1" dirty="0">
                <a:solidFill>
                  <a:srgbClr val="DC3545"/>
                </a:solidFill>
                <a:latin typeface="Calibri" pitchFamily="34" charset="0"/>
                <a:ea typeface="Calibri" pitchFamily="34" charset="-122"/>
                <a:cs typeface="Calibri" pitchFamily="34" charset="-120"/>
              </a:rPr>
              <a:t>+3 month slip (M4 → M7)</a:t>
            </a:r>
            <a:endParaRPr lang="en-US" sz="1400" dirty="0"/>
          </a:p>
        </p:txBody>
      </p:sp>
      <p:sp>
        <p:nvSpPr>
          <p:cNvPr id="6" name="Shape 4"/>
          <p:cNvSpPr/>
          <p:nvPr/>
        </p:nvSpPr>
        <p:spPr>
          <a:xfrm>
            <a:off x="365760" y="1097280"/>
            <a:ext cx="4114800" cy="484632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7" name="Shape 5"/>
          <p:cNvSpPr/>
          <p:nvPr/>
        </p:nvSpPr>
        <p:spPr>
          <a:xfrm>
            <a:off x="365760" y="1097280"/>
            <a:ext cx="54864" cy="4846320"/>
          </a:xfrm>
          <a:prstGeom prst="rect">
            <a:avLst/>
          </a:prstGeom>
          <a:solidFill>
            <a:srgbClr val="2D7D46"/>
          </a:solidFill>
          <a:ln w="12700">
            <a:solidFill>
              <a:srgbClr val="2D7D46"/>
            </a:solidFill>
            <a:prstDash val="solid"/>
          </a:ln>
        </p:spPr>
      </p:sp>
      <p:sp>
        <p:nvSpPr>
          <p:cNvPr id="8" name="Text 6"/>
          <p:cNvSpPr/>
          <p:nvPr/>
        </p:nvSpPr>
        <p:spPr>
          <a:xfrm>
            <a:off x="502920" y="1188720"/>
            <a:ext cx="388620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What went well</a:t>
            </a:r>
            <a:endParaRPr lang="en-US" sz="1300" dirty="0"/>
          </a:p>
        </p:txBody>
      </p:sp>
      <p:sp>
        <p:nvSpPr>
          <p:cNvPr id="9" name="Text 7"/>
          <p:cNvSpPr/>
          <p:nvPr/>
        </p:nvSpPr>
        <p:spPr>
          <a:xfrm>
            <a:off x="502920" y="1481328"/>
            <a:ext cx="3886200" cy="4370832"/>
          </a:xfrm>
          <a:prstGeom prst="rect">
            <a:avLst/>
          </a:prstGeom>
          <a:noFill/>
          <a:ln/>
        </p:spPr>
        <p:txBody>
          <a:bodyPr wrap="square" rtlCol="0" anchor="t"/>
          <a:lstStyle/>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Prometheus Remote Write → Mimir is battle-tested — no data loss</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Mimir multi-tenancy allowed per-team metric isolation</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Cost curve immediately flattened after migration to Mimir</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Grafana dashboards migrated in bulk — 85% of PromQL worked unmodified</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Cardinality limits enforced at ingest — forces discipline</a:t>
            </a:r>
            <a:endParaRPr lang="en-US" sz="1200" dirty="0"/>
          </a:p>
        </p:txBody>
      </p:sp>
      <p:sp>
        <p:nvSpPr>
          <p:cNvPr id="10" name="Shape 8"/>
          <p:cNvSpPr/>
          <p:nvPr/>
        </p:nvSpPr>
        <p:spPr>
          <a:xfrm>
            <a:off x="4663440" y="1097280"/>
            <a:ext cx="4114800" cy="484632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11" name="Shape 9"/>
          <p:cNvSpPr/>
          <p:nvPr/>
        </p:nvSpPr>
        <p:spPr>
          <a:xfrm>
            <a:off x="4663440" y="1097280"/>
            <a:ext cx="54864" cy="4846320"/>
          </a:xfrm>
          <a:prstGeom prst="rect">
            <a:avLst/>
          </a:prstGeom>
          <a:solidFill>
            <a:srgbClr val="DC3545"/>
          </a:solidFill>
          <a:ln w="12700">
            <a:solidFill>
              <a:srgbClr val="DC3545"/>
            </a:solidFill>
            <a:prstDash val="solid"/>
          </a:ln>
        </p:spPr>
      </p:sp>
      <p:sp>
        <p:nvSpPr>
          <p:cNvPr id="12" name="Text 10"/>
          <p:cNvSpPr/>
          <p:nvPr/>
        </p:nvSpPr>
        <p:spPr>
          <a:xfrm>
            <a:off x="4800600" y="1188720"/>
            <a:ext cx="388620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What didn't</a:t>
            </a:r>
            <a:endParaRPr lang="en-US" sz="1300" dirty="0"/>
          </a:p>
        </p:txBody>
      </p:sp>
      <p:sp>
        <p:nvSpPr>
          <p:cNvPr id="13" name="Text 11"/>
          <p:cNvSpPr/>
          <p:nvPr/>
        </p:nvSpPr>
        <p:spPr>
          <a:xfrm>
            <a:off x="4800600" y="1481328"/>
            <a:ext cx="3886200" cy="4370832"/>
          </a:xfrm>
          <a:prstGeom prst="rect">
            <a:avLst/>
          </a:prstGeom>
          <a:noFill/>
          <a:ln/>
        </p:spPr>
        <p:txBody>
          <a:bodyPr wrap="square" rtlCol="0" anchor="t"/>
          <a:lstStyle/>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Alerting rewrite: 120 Datadog monitor → Prometheus alert rule translations, ~30% behavioral drift</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15 alerts silently wrong in staging — behavior differs from Datadog conditions</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Metric naming conventions differed — many queries broke</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Recording rules needed for performance — not planned, added 3 weeks</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Two chart migrations had to be done by hand — Datadog expressions don't translate</a:t>
            </a:r>
            <a:endParaRPr lang="en-US" sz="1200" dirty="0"/>
          </a:p>
        </p:txBody>
      </p:sp>
      <p:sp>
        <p:nvSpPr>
          <p:cNvPr id="14" name="Shape 12"/>
          <p:cNvSpPr/>
          <p:nvPr/>
        </p:nvSpPr>
        <p:spPr>
          <a:xfrm>
            <a:off x="0" y="6583680"/>
            <a:ext cx="12192000" cy="274320"/>
          </a:xfrm>
          <a:prstGeom prst="rect">
            <a:avLst/>
          </a:prstGeom>
          <a:solidFill>
            <a:srgbClr val="1B2A4A"/>
          </a:solidFill>
          <a:ln w="12700">
            <a:solidFill>
              <a:srgbClr val="1B2A4A"/>
            </a:solidFill>
            <a:prstDash val="solid"/>
          </a:ln>
        </p:spPr>
      </p:sp>
      <p:sp>
        <p:nvSpPr>
          <p:cNvPr id="15" name="Text 13"/>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3 — THE MIGRATION IN FOUR ACTS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600" b="1" dirty="0">
                <a:solidFill>
                  <a:srgbClr val="1E3A5F"/>
                </a:solidFill>
                <a:latin typeface="Calibri" pitchFamily="34" charset="0"/>
                <a:ea typeface="Calibri" pitchFamily="34" charset="-122"/>
                <a:cs typeface="Calibri" pitchFamily="34" charset="-120"/>
              </a:rPr>
              <a:t>Act 4: Logs to Loki</a:t>
            </a:r>
            <a:endParaRPr lang="en-US" sz="2600" dirty="0"/>
          </a:p>
        </p:txBody>
      </p:sp>
      <p:sp>
        <p:nvSpPr>
          <p:cNvPr id="5" name="Text 3"/>
          <p:cNvSpPr/>
          <p:nvPr/>
        </p:nvSpPr>
        <p:spPr>
          <a:xfrm>
            <a:off x="365760" y="685800"/>
            <a:ext cx="4572000" cy="320040"/>
          </a:xfrm>
          <a:prstGeom prst="rect">
            <a:avLst/>
          </a:prstGeom>
          <a:noFill/>
          <a:ln/>
        </p:spPr>
        <p:txBody>
          <a:bodyPr wrap="square" rtlCol="0" anchor="ctr"/>
          <a:lstStyle/>
          <a:p>
            <a:pPr algn="l" indent="0" marL="0">
              <a:buNone/>
            </a:pPr>
            <a:r>
              <a:rPr lang="en-US" sz="1300" b="1" dirty="0">
                <a:solidFill>
                  <a:srgbClr val="2D7D46"/>
                </a:solidFill>
                <a:latin typeface="Calibri" pitchFamily="34" charset="0"/>
                <a:ea typeface="Calibri" pitchFamily="34" charset="-122"/>
                <a:cs typeface="Calibri" pitchFamily="34" charset="-120"/>
              </a:rPr>
              <a:t>+4 month slip (total), but logs took 3 weeks</a:t>
            </a:r>
            <a:endParaRPr lang="en-US" sz="1300" dirty="0"/>
          </a:p>
        </p:txBody>
      </p:sp>
      <p:sp>
        <p:nvSpPr>
          <p:cNvPr id="6" name="Text 4"/>
          <p:cNvSpPr/>
          <p:nvPr/>
        </p:nvSpPr>
        <p:spPr>
          <a:xfrm>
            <a:off x="5029200" y="685800"/>
            <a:ext cx="3657600" cy="320040"/>
          </a:xfrm>
          <a:prstGeom prst="rect">
            <a:avLst/>
          </a:prstGeom>
          <a:noFill/>
          <a:ln/>
        </p:spPr>
        <p:txBody>
          <a:bodyPr wrap="square" rtlCol="0" anchor="ctr"/>
          <a:lstStyle/>
          <a:p>
            <a:pPr algn="l" indent="0" marL="0">
              <a:buNone/>
            </a:pPr>
            <a:r>
              <a:rPr lang="en-US" sz="1200" i="1" dirty="0">
                <a:solidFill>
                  <a:srgbClr val="D97706"/>
                </a:solidFill>
                <a:latin typeface="Calibri" pitchFamily="34" charset="0"/>
                <a:ea typeface="Calibri" pitchFamily="34" charset="-122"/>
                <a:cs typeface="Calibri" pitchFamily="34" charset="-120"/>
              </a:rPr>
              <a:t>(the slip was getting there burned out)</a:t>
            </a:r>
            <a:endParaRPr lang="en-US" sz="1200" dirty="0"/>
          </a:p>
        </p:txBody>
      </p:sp>
      <p:sp>
        <p:nvSpPr>
          <p:cNvPr id="7" name="Text 5"/>
          <p:cNvSpPr/>
          <p:nvPr/>
        </p:nvSpPr>
        <p:spPr>
          <a:xfrm>
            <a:off x="365760" y="1188720"/>
            <a:ext cx="2743200" cy="274320"/>
          </a:xfrm>
          <a:prstGeom prst="rect">
            <a:avLst/>
          </a:prstGeom>
          <a:noFill/>
          <a:ln/>
        </p:spPr>
        <p:txBody>
          <a:bodyPr wrap="square" rtlCol="0" anchor="ctr"/>
          <a:lstStyle/>
          <a:p>
            <a:pPr algn="l" indent="0" marL="0">
              <a:buNone/>
            </a:pPr>
            <a:r>
              <a:rPr lang="en-US" sz="1200" b="1" dirty="0">
                <a:solidFill>
                  <a:srgbClr val="2D6A9F"/>
                </a:solidFill>
                <a:latin typeface="Calibri" pitchFamily="34" charset="0"/>
                <a:ea typeface="Calibri" pitchFamily="34" charset="-122"/>
                <a:cs typeface="Calibri" pitchFamily="34" charset="-120"/>
              </a:rPr>
              <a:t>Log collection path:</a:t>
            </a:r>
            <a:endParaRPr lang="en-US" sz="1200" dirty="0"/>
          </a:p>
        </p:txBody>
      </p:sp>
      <p:sp>
        <p:nvSpPr>
          <p:cNvPr id="8" name="Shape 6"/>
          <p:cNvSpPr/>
          <p:nvPr/>
        </p:nvSpPr>
        <p:spPr>
          <a:xfrm>
            <a:off x="365760" y="1645920"/>
            <a:ext cx="1828800" cy="1097280"/>
          </a:xfrm>
          <a:prstGeom prst="rect">
            <a:avLst/>
          </a:prstGeom>
          <a:solidFill>
            <a:srgbClr val="2D6A9F"/>
          </a:solidFill>
          <a:ln w="12700">
            <a:solidFill>
              <a:srgbClr val="2D6A9F"/>
            </a:solidFill>
            <a:prstDash val="solid"/>
          </a:ln>
        </p:spPr>
      </p:sp>
      <p:sp>
        <p:nvSpPr>
          <p:cNvPr id="9" name="Text 7"/>
          <p:cNvSpPr/>
          <p:nvPr/>
        </p:nvSpPr>
        <p:spPr>
          <a:xfrm>
            <a:off x="411480" y="1737360"/>
            <a:ext cx="173736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fluent-bit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(DaemonSet)</a:t>
            </a:r>
            <a:endParaRPr lang="en-US" sz="1100" dirty="0"/>
          </a:p>
        </p:txBody>
      </p:sp>
      <p:sp>
        <p:nvSpPr>
          <p:cNvPr id="10" name="Text 8"/>
          <p:cNvSpPr/>
          <p:nvPr/>
        </p:nvSpPr>
        <p:spPr>
          <a:xfrm>
            <a:off x="411480" y="2240280"/>
            <a:ext cx="1737360" cy="411480"/>
          </a:xfrm>
          <a:prstGeom prst="rect">
            <a:avLst/>
          </a:prstGeom>
          <a:noFill/>
          <a:ln/>
        </p:spPr>
        <p:txBody>
          <a:bodyPr wrap="square" rtlCol="0" anchor="ctr"/>
          <a:lstStyle/>
          <a:p>
            <a:pPr algn="ctr" indent="0" marL="0">
              <a:buNone/>
            </a:pPr>
            <a:r>
              <a:rPr lang="en-US" sz="1000" dirty="0">
                <a:solidFill>
                  <a:srgbClr val="E8F4FD"/>
                </a:solidFill>
                <a:latin typeface="Calibri" pitchFamily="34" charset="0"/>
                <a:ea typeface="Calibri" pitchFamily="34" charset="-122"/>
                <a:cs typeface="Calibri" pitchFamily="34" charset="-120"/>
              </a:rPr>
              <a:t>Parses</a:t>
            </a:r>
            <a:endParaRPr lang="en-US" sz="1000" dirty="0"/>
          </a:p>
          <a:p>
            <a:pPr algn="ctr" indent="0" marL="0">
              <a:buNone/>
            </a:pPr>
            <a:r>
              <a:rPr lang="en-US" sz="1000" dirty="0">
                <a:solidFill>
                  <a:srgbClr val="E8F4FD"/>
                </a:solidFill>
                <a:latin typeface="Calibri" pitchFamily="34" charset="0"/>
                <a:ea typeface="Calibri" pitchFamily="34" charset="-122"/>
                <a:cs typeface="Calibri" pitchFamily="34" charset="-120"/>
              </a:rPr>
              <a:t>log files</a:t>
            </a:r>
            <a:endParaRPr lang="en-US" sz="1000" dirty="0"/>
          </a:p>
        </p:txBody>
      </p:sp>
      <p:sp>
        <p:nvSpPr>
          <p:cNvPr id="11" name="Shape 9"/>
          <p:cNvSpPr/>
          <p:nvPr/>
        </p:nvSpPr>
        <p:spPr>
          <a:xfrm>
            <a:off x="2194560" y="2194560"/>
            <a:ext cx="365760" cy="0"/>
          </a:xfrm>
          <a:prstGeom prst="line">
            <a:avLst/>
          </a:prstGeom>
          <a:noFill/>
          <a:ln w="25400">
            <a:solidFill>
              <a:srgbClr val="00B4D8"/>
            </a:solidFill>
            <a:prstDash val="solid"/>
            <a:tailEnd type="open"/>
          </a:ln>
        </p:spPr>
      </p:sp>
      <p:sp>
        <p:nvSpPr>
          <p:cNvPr id="12" name="Shape 10"/>
          <p:cNvSpPr/>
          <p:nvPr/>
        </p:nvSpPr>
        <p:spPr>
          <a:xfrm>
            <a:off x="2560320" y="1645920"/>
            <a:ext cx="1828800" cy="1097280"/>
          </a:xfrm>
          <a:prstGeom prst="rect">
            <a:avLst/>
          </a:prstGeom>
          <a:solidFill>
            <a:srgbClr val="2D6A9F"/>
          </a:solidFill>
          <a:ln w="12700">
            <a:solidFill>
              <a:srgbClr val="2D6A9F"/>
            </a:solidFill>
            <a:prstDash val="solid"/>
          </a:ln>
        </p:spPr>
      </p:sp>
      <p:sp>
        <p:nvSpPr>
          <p:cNvPr id="13" name="Text 11"/>
          <p:cNvSpPr/>
          <p:nvPr/>
        </p:nvSpPr>
        <p:spPr>
          <a:xfrm>
            <a:off x="2606040" y="1737360"/>
            <a:ext cx="173736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OTel Collector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(Agent)</a:t>
            </a:r>
            <a:endParaRPr lang="en-US" sz="1100" dirty="0"/>
          </a:p>
        </p:txBody>
      </p:sp>
      <p:sp>
        <p:nvSpPr>
          <p:cNvPr id="14" name="Text 12"/>
          <p:cNvSpPr/>
          <p:nvPr/>
        </p:nvSpPr>
        <p:spPr>
          <a:xfrm>
            <a:off x="2606040" y="2240280"/>
            <a:ext cx="1737360" cy="411480"/>
          </a:xfrm>
          <a:prstGeom prst="rect">
            <a:avLst/>
          </a:prstGeom>
          <a:noFill/>
          <a:ln/>
        </p:spPr>
        <p:txBody>
          <a:bodyPr wrap="square" rtlCol="0" anchor="ctr"/>
          <a:lstStyle/>
          <a:p>
            <a:pPr algn="ctr" indent="0" marL="0">
              <a:buNone/>
            </a:pPr>
            <a:r>
              <a:rPr lang="en-US" sz="1000" dirty="0">
                <a:solidFill>
                  <a:srgbClr val="E8F4FD"/>
                </a:solidFill>
                <a:latin typeface="Calibri" pitchFamily="34" charset="0"/>
                <a:ea typeface="Calibri" pitchFamily="34" charset="-122"/>
                <a:cs typeface="Calibri" pitchFamily="34" charset="-120"/>
              </a:rPr>
              <a:t>OTLP log</a:t>
            </a:r>
            <a:endParaRPr lang="en-US" sz="1000" dirty="0"/>
          </a:p>
          <a:p>
            <a:pPr algn="ctr" indent="0" marL="0">
              <a:buNone/>
            </a:pPr>
            <a:r>
              <a:rPr lang="en-US" sz="1000" dirty="0">
                <a:solidFill>
                  <a:srgbClr val="E8F4FD"/>
                </a:solidFill>
                <a:latin typeface="Calibri" pitchFamily="34" charset="0"/>
                <a:ea typeface="Calibri" pitchFamily="34" charset="-122"/>
                <a:cs typeface="Calibri" pitchFamily="34" charset="-120"/>
              </a:rPr>
              <a:t>receiver</a:t>
            </a:r>
            <a:endParaRPr lang="en-US" sz="1000" dirty="0"/>
          </a:p>
        </p:txBody>
      </p:sp>
      <p:sp>
        <p:nvSpPr>
          <p:cNvPr id="15" name="Shape 13"/>
          <p:cNvSpPr/>
          <p:nvPr/>
        </p:nvSpPr>
        <p:spPr>
          <a:xfrm>
            <a:off x="4389120" y="2194560"/>
            <a:ext cx="365760" cy="0"/>
          </a:xfrm>
          <a:prstGeom prst="line">
            <a:avLst/>
          </a:prstGeom>
          <a:noFill/>
          <a:ln w="25400">
            <a:solidFill>
              <a:srgbClr val="00B4D8"/>
            </a:solidFill>
            <a:prstDash val="solid"/>
            <a:tailEnd type="open"/>
          </a:ln>
        </p:spPr>
      </p:sp>
      <p:sp>
        <p:nvSpPr>
          <p:cNvPr id="16" name="Shape 14"/>
          <p:cNvSpPr/>
          <p:nvPr/>
        </p:nvSpPr>
        <p:spPr>
          <a:xfrm>
            <a:off x="4754880" y="1645920"/>
            <a:ext cx="1828800" cy="1097280"/>
          </a:xfrm>
          <a:prstGeom prst="rect">
            <a:avLst/>
          </a:prstGeom>
          <a:solidFill>
            <a:srgbClr val="00B4D8"/>
          </a:solidFill>
          <a:ln w="12700">
            <a:solidFill>
              <a:srgbClr val="00B4D8"/>
            </a:solidFill>
            <a:prstDash val="solid"/>
          </a:ln>
        </p:spPr>
      </p:sp>
      <p:sp>
        <p:nvSpPr>
          <p:cNvPr id="17" name="Text 15"/>
          <p:cNvSpPr/>
          <p:nvPr/>
        </p:nvSpPr>
        <p:spPr>
          <a:xfrm>
            <a:off x="4800600" y="1737360"/>
            <a:ext cx="173736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OTel Collector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(Gateway)</a:t>
            </a:r>
            <a:endParaRPr lang="en-US" sz="1100" dirty="0"/>
          </a:p>
        </p:txBody>
      </p:sp>
      <p:sp>
        <p:nvSpPr>
          <p:cNvPr id="18" name="Text 16"/>
          <p:cNvSpPr/>
          <p:nvPr/>
        </p:nvSpPr>
        <p:spPr>
          <a:xfrm>
            <a:off x="4800600" y="2240280"/>
            <a:ext cx="1737360" cy="411480"/>
          </a:xfrm>
          <a:prstGeom prst="rect">
            <a:avLst/>
          </a:prstGeom>
          <a:noFill/>
          <a:ln/>
        </p:spPr>
        <p:txBody>
          <a:bodyPr wrap="square" rtlCol="0" anchor="ctr"/>
          <a:lstStyle/>
          <a:p>
            <a:pPr algn="ctr" indent="0" marL="0">
              <a:buNone/>
            </a:pPr>
            <a:r>
              <a:rPr lang="en-US" sz="1000" dirty="0">
                <a:solidFill>
                  <a:srgbClr val="E8F4FD"/>
                </a:solidFill>
                <a:latin typeface="Calibri" pitchFamily="34" charset="0"/>
                <a:ea typeface="Calibri" pitchFamily="34" charset="-122"/>
                <a:cs typeface="Calibri" pitchFamily="34" charset="-120"/>
              </a:rPr>
              <a:t>Loki exporter</a:t>
            </a:r>
            <a:endParaRPr lang="en-US" sz="1000" dirty="0"/>
          </a:p>
          <a:p>
            <a:pPr algn="ctr" indent="0" marL="0">
              <a:buNone/>
            </a:pPr>
            <a:r>
              <a:rPr lang="en-US" sz="1000" dirty="0">
                <a:solidFill>
                  <a:srgbClr val="E8F4FD"/>
                </a:solidFill>
                <a:latin typeface="Calibri" pitchFamily="34" charset="0"/>
                <a:ea typeface="Calibri" pitchFamily="34" charset="-122"/>
                <a:cs typeface="Calibri" pitchFamily="34" charset="-120"/>
              </a:rPr>
              <a:t>+ filtering</a:t>
            </a:r>
            <a:endParaRPr lang="en-US" sz="1000" dirty="0"/>
          </a:p>
        </p:txBody>
      </p:sp>
      <p:sp>
        <p:nvSpPr>
          <p:cNvPr id="19" name="Shape 17"/>
          <p:cNvSpPr/>
          <p:nvPr/>
        </p:nvSpPr>
        <p:spPr>
          <a:xfrm>
            <a:off x="6583680" y="2194560"/>
            <a:ext cx="365760" cy="0"/>
          </a:xfrm>
          <a:prstGeom prst="line">
            <a:avLst/>
          </a:prstGeom>
          <a:noFill/>
          <a:ln w="25400">
            <a:solidFill>
              <a:srgbClr val="00B4D8"/>
            </a:solidFill>
            <a:prstDash val="solid"/>
            <a:tailEnd type="open"/>
          </a:ln>
        </p:spPr>
      </p:sp>
      <p:sp>
        <p:nvSpPr>
          <p:cNvPr id="20" name="Shape 18"/>
          <p:cNvSpPr/>
          <p:nvPr/>
        </p:nvSpPr>
        <p:spPr>
          <a:xfrm>
            <a:off x="6949440" y="1645920"/>
            <a:ext cx="1828800" cy="1097280"/>
          </a:xfrm>
          <a:prstGeom prst="rect">
            <a:avLst/>
          </a:prstGeom>
          <a:solidFill>
            <a:srgbClr val="1B2A4A"/>
          </a:solidFill>
          <a:ln w="12700">
            <a:solidFill>
              <a:srgbClr val="1B2A4A"/>
            </a:solidFill>
            <a:prstDash val="solid"/>
          </a:ln>
        </p:spPr>
      </p:sp>
      <p:sp>
        <p:nvSpPr>
          <p:cNvPr id="21" name="Text 19"/>
          <p:cNvSpPr/>
          <p:nvPr/>
        </p:nvSpPr>
        <p:spPr>
          <a:xfrm>
            <a:off x="6995160" y="1737360"/>
            <a:ext cx="173736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Loki</a:t>
            </a:r>
            <a:endParaRPr lang="en-US" sz="1100" dirty="0"/>
          </a:p>
        </p:txBody>
      </p:sp>
      <p:sp>
        <p:nvSpPr>
          <p:cNvPr id="22" name="Text 20"/>
          <p:cNvSpPr/>
          <p:nvPr/>
        </p:nvSpPr>
        <p:spPr>
          <a:xfrm>
            <a:off x="6995160" y="2240280"/>
            <a:ext cx="1737360" cy="411480"/>
          </a:xfrm>
          <a:prstGeom prst="rect">
            <a:avLst/>
          </a:prstGeom>
          <a:noFill/>
          <a:ln/>
        </p:spPr>
        <p:txBody>
          <a:bodyPr wrap="square" rtlCol="0" anchor="ctr"/>
          <a:lstStyle/>
          <a:p>
            <a:pPr algn="ctr" indent="0" marL="0">
              <a:buNone/>
            </a:pPr>
            <a:r>
              <a:rPr lang="en-US" sz="1000" dirty="0">
                <a:solidFill>
                  <a:srgbClr val="E8F4FD"/>
                </a:solidFill>
                <a:latin typeface="Calibri" pitchFamily="34" charset="0"/>
                <a:ea typeface="Calibri" pitchFamily="34" charset="-122"/>
                <a:cs typeface="Calibri" pitchFamily="34" charset="-120"/>
              </a:rPr>
              <a:t>LogQL queries</a:t>
            </a:r>
            <a:endParaRPr lang="en-US" sz="1000" dirty="0"/>
          </a:p>
          <a:p>
            <a:pPr algn="ctr" indent="0" marL="0">
              <a:buNone/>
            </a:pPr>
            <a:r>
              <a:rPr lang="en-US" sz="1000" dirty="0">
                <a:solidFill>
                  <a:srgbClr val="E8F4FD"/>
                </a:solidFill>
                <a:latin typeface="Calibri" pitchFamily="34" charset="0"/>
                <a:ea typeface="Calibri" pitchFamily="34" charset="-122"/>
                <a:cs typeface="Calibri" pitchFamily="34" charset="-120"/>
              </a:rPr>
              <a:t>+ alerting</a:t>
            </a:r>
            <a:endParaRPr lang="en-US" sz="1000" dirty="0"/>
          </a:p>
        </p:txBody>
      </p:sp>
      <p:sp>
        <p:nvSpPr>
          <p:cNvPr id="23" name="Shape 21"/>
          <p:cNvSpPr/>
          <p:nvPr/>
        </p:nvSpPr>
        <p:spPr>
          <a:xfrm>
            <a:off x="365760" y="3017520"/>
            <a:ext cx="2743200" cy="237744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24" name="Shape 22"/>
          <p:cNvSpPr/>
          <p:nvPr/>
        </p:nvSpPr>
        <p:spPr>
          <a:xfrm>
            <a:off x="365760" y="3017520"/>
            <a:ext cx="54864" cy="2377440"/>
          </a:xfrm>
          <a:prstGeom prst="rect">
            <a:avLst/>
          </a:prstGeom>
          <a:solidFill>
            <a:srgbClr val="00B4D8"/>
          </a:solidFill>
          <a:ln w="12700">
            <a:solidFill>
              <a:srgbClr val="00B4D8"/>
            </a:solidFill>
            <a:prstDash val="solid"/>
          </a:ln>
        </p:spPr>
      </p:sp>
      <p:sp>
        <p:nvSpPr>
          <p:cNvPr id="25" name="Text 23"/>
          <p:cNvSpPr/>
          <p:nvPr/>
        </p:nvSpPr>
        <p:spPr>
          <a:xfrm>
            <a:off x="502920" y="3108960"/>
            <a:ext cx="251460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Log format standardization</a:t>
            </a:r>
            <a:endParaRPr lang="en-US" sz="1300" dirty="0"/>
          </a:p>
        </p:txBody>
      </p:sp>
      <p:sp>
        <p:nvSpPr>
          <p:cNvPr id="26" name="Text 24"/>
          <p:cNvSpPr/>
          <p:nvPr/>
        </p:nvSpPr>
        <p:spPr>
          <a:xfrm>
            <a:off x="502920" y="3401568"/>
            <a:ext cx="2514600" cy="1901952"/>
          </a:xfrm>
          <a:prstGeom prst="rect">
            <a:avLst/>
          </a:prstGeom>
          <a:noFill/>
          <a:ln/>
        </p:spPr>
        <p:txBody>
          <a:bodyPr wrap="square" rtlCol="0" anchor="t"/>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Structured JSON → OTLP LogRecord. One-time fluent-bit config update.</a:t>
            </a:r>
            <a:endParaRPr lang="en-US" sz="1100" dirty="0"/>
          </a:p>
        </p:txBody>
      </p:sp>
      <p:sp>
        <p:nvSpPr>
          <p:cNvPr id="27" name="Shape 25"/>
          <p:cNvSpPr/>
          <p:nvPr/>
        </p:nvSpPr>
        <p:spPr>
          <a:xfrm>
            <a:off x="3246120" y="3017520"/>
            <a:ext cx="2743200" cy="237744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28" name="Shape 26"/>
          <p:cNvSpPr/>
          <p:nvPr/>
        </p:nvSpPr>
        <p:spPr>
          <a:xfrm>
            <a:off x="3246120" y="3017520"/>
            <a:ext cx="54864" cy="2377440"/>
          </a:xfrm>
          <a:prstGeom prst="rect">
            <a:avLst/>
          </a:prstGeom>
          <a:solidFill>
            <a:srgbClr val="00B4D8"/>
          </a:solidFill>
          <a:ln w="12700">
            <a:solidFill>
              <a:srgbClr val="00B4D8"/>
            </a:solidFill>
            <a:prstDash val="solid"/>
          </a:ln>
        </p:spPr>
      </p:sp>
      <p:sp>
        <p:nvSpPr>
          <p:cNvPr id="29" name="Text 27"/>
          <p:cNvSpPr/>
          <p:nvPr/>
        </p:nvSpPr>
        <p:spPr>
          <a:xfrm>
            <a:off x="3383280" y="3108960"/>
            <a:ext cx="251460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Label explosion avoided</a:t>
            </a:r>
            <a:endParaRPr lang="en-US" sz="1300" dirty="0"/>
          </a:p>
        </p:txBody>
      </p:sp>
      <p:sp>
        <p:nvSpPr>
          <p:cNvPr id="30" name="Text 28"/>
          <p:cNvSpPr/>
          <p:nvPr/>
        </p:nvSpPr>
        <p:spPr>
          <a:xfrm>
            <a:off x="3383280" y="3401568"/>
            <a:ext cx="2514600" cy="1901952"/>
          </a:xfrm>
          <a:prstGeom prst="rect">
            <a:avLst/>
          </a:prstGeom>
          <a:noFill/>
          <a:ln/>
        </p:spPr>
        <p:txBody>
          <a:bodyPr wrap="square" rtlCol="0" anchor="t"/>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Loki labels kept minimal: namespace, app, level. Everything else as indexed fields.</a:t>
            </a:r>
            <a:endParaRPr lang="en-US" sz="1100" dirty="0"/>
          </a:p>
        </p:txBody>
      </p:sp>
      <p:sp>
        <p:nvSpPr>
          <p:cNvPr id="31" name="Shape 29"/>
          <p:cNvSpPr/>
          <p:nvPr/>
        </p:nvSpPr>
        <p:spPr>
          <a:xfrm>
            <a:off x="6126480" y="3017520"/>
            <a:ext cx="2743200" cy="237744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32" name="Shape 30"/>
          <p:cNvSpPr/>
          <p:nvPr/>
        </p:nvSpPr>
        <p:spPr>
          <a:xfrm>
            <a:off x="6126480" y="3017520"/>
            <a:ext cx="54864" cy="2377440"/>
          </a:xfrm>
          <a:prstGeom prst="rect">
            <a:avLst/>
          </a:prstGeom>
          <a:solidFill>
            <a:srgbClr val="00B4D8"/>
          </a:solidFill>
          <a:ln w="12700">
            <a:solidFill>
              <a:srgbClr val="00B4D8"/>
            </a:solidFill>
            <a:prstDash val="solid"/>
          </a:ln>
        </p:spPr>
      </p:sp>
      <p:sp>
        <p:nvSpPr>
          <p:cNvPr id="33" name="Text 31"/>
          <p:cNvSpPr/>
          <p:nvPr/>
        </p:nvSpPr>
        <p:spPr>
          <a:xfrm>
            <a:off x="6263640" y="3108960"/>
            <a:ext cx="251460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LogQL vs Datadog Log search</a:t>
            </a:r>
            <a:endParaRPr lang="en-US" sz="1300" dirty="0"/>
          </a:p>
        </p:txBody>
      </p:sp>
      <p:sp>
        <p:nvSpPr>
          <p:cNvPr id="34" name="Text 32"/>
          <p:cNvSpPr/>
          <p:nvPr/>
        </p:nvSpPr>
        <p:spPr>
          <a:xfrm>
            <a:off x="6263640" y="3401568"/>
            <a:ext cx="2514600" cy="1901952"/>
          </a:xfrm>
          <a:prstGeom prst="rect">
            <a:avLst/>
          </a:prstGeom>
          <a:noFill/>
          <a:ln/>
        </p:spPr>
        <p:txBody>
          <a:bodyPr wrap="square" rtlCol="0" anchor="t"/>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Different syntax but teams adapted in ~1 week. LogQL is more powerful for structured logs.</a:t>
            </a:r>
            <a:endParaRPr lang="en-US" sz="1100" dirty="0"/>
          </a:p>
        </p:txBody>
      </p:sp>
      <p:sp>
        <p:nvSpPr>
          <p:cNvPr id="35" name="Shape 33"/>
          <p:cNvSpPr/>
          <p:nvPr/>
        </p:nvSpPr>
        <p:spPr>
          <a:xfrm>
            <a:off x="0" y="6583680"/>
            <a:ext cx="12192000" cy="274320"/>
          </a:xfrm>
          <a:prstGeom prst="rect">
            <a:avLst/>
          </a:prstGeom>
          <a:solidFill>
            <a:srgbClr val="1B2A4A"/>
          </a:solidFill>
          <a:ln w="12700">
            <a:solidFill>
              <a:srgbClr val="1B2A4A"/>
            </a:solidFill>
            <a:prstDash val="solid"/>
          </a:ln>
        </p:spPr>
      </p:sp>
      <p:sp>
        <p:nvSpPr>
          <p:cNvPr id="36" name="Text 34"/>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3 — THE MIGRATION IN FOUR ACTS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400" b="1" dirty="0">
                <a:solidFill>
                  <a:srgbClr val="1E3A5F"/>
                </a:solidFill>
                <a:latin typeface="Calibri" pitchFamily="34" charset="0"/>
                <a:ea typeface="Calibri" pitchFamily="34" charset="-122"/>
                <a:cs typeface="Calibri" pitchFamily="34" charset="-120"/>
              </a:rPr>
              <a:t>By the numbers: actual vs. planned</a:t>
            </a:r>
            <a:endParaRPr lang="en-US" sz="2400" dirty="0"/>
          </a:p>
        </p:txBody>
      </p:sp>
      <p:sp>
        <p:nvSpPr>
          <p:cNvPr id="5" name="Text 3"/>
          <p:cNvSpPr/>
          <p:nvPr/>
        </p:nvSpPr>
        <p:spPr>
          <a:xfrm>
            <a:off x="365760" y="1097280"/>
            <a:ext cx="2560320" cy="822960"/>
          </a:xfrm>
          <a:prstGeom prst="rect">
            <a:avLst/>
          </a:prstGeom>
          <a:noFill/>
          <a:ln/>
        </p:spPr>
        <p:txBody>
          <a:bodyPr wrap="square" rtlCol="0" anchor="ctr"/>
          <a:lstStyle/>
          <a:p>
            <a:pPr algn="ctr" indent="0" marL="0">
              <a:buNone/>
            </a:pPr>
            <a:r>
              <a:rPr lang="en-US" sz="5400" b="1" dirty="0">
                <a:solidFill>
                  <a:srgbClr val="2D6A9F"/>
                </a:solidFill>
                <a:latin typeface="Calibri" pitchFamily="34" charset="0"/>
                <a:ea typeface="Calibri" pitchFamily="34" charset="-122"/>
                <a:cs typeface="Calibri" pitchFamily="34" charset="-120"/>
              </a:rPr>
              <a:t>6 mo</a:t>
            </a:r>
            <a:endParaRPr lang="en-US" sz="5400" dirty="0"/>
          </a:p>
        </p:txBody>
      </p:sp>
      <p:sp>
        <p:nvSpPr>
          <p:cNvPr id="6" name="Text 4"/>
          <p:cNvSpPr/>
          <p:nvPr/>
        </p:nvSpPr>
        <p:spPr>
          <a:xfrm>
            <a:off x="365760" y="1874520"/>
            <a:ext cx="2560320" cy="320040"/>
          </a:xfrm>
          <a:prstGeom prst="rect">
            <a:avLst/>
          </a:prstGeom>
          <a:noFill/>
          <a:ln/>
        </p:spPr>
        <p:txBody>
          <a:bodyPr wrap="square" rtlCol="0" anchor="ctr"/>
          <a:lstStyle/>
          <a:p>
            <a:pPr algn="ctr" indent="0" marL="0">
              <a:buNone/>
            </a:pPr>
            <a:r>
              <a:rPr lang="en-US" sz="1300" b="1" dirty="0">
                <a:solidFill>
                  <a:srgbClr val="2D6A9F"/>
                </a:solidFill>
                <a:latin typeface="Calibri" pitchFamily="34" charset="0"/>
                <a:ea typeface="Calibri" pitchFamily="34" charset="-122"/>
                <a:cs typeface="Calibri" pitchFamily="34" charset="-120"/>
              </a:rPr>
              <a:t>Planned</a:t>
            </a:r>
            <a:endParaRPr lang="en-US" sz="1300" dirty="0"/>
          </a:p>
        </p:txBody>
      </p:sp>
      <p:sp>
        <p:nvSpPr>
          <p:cNvPr id="7" name="Text 5"/>
          <p:cNvSpPr/>
          <p:nvPr/>
        </p:nvSpPr>
        <p:spPr>
          <a:xfrm>
            <a:off x="365760" y="2212848"/>
            <a:ext cx="2560320" cy="365760"/>
          </a:xfrm>
          <a:prstGeom prst="rect">
            <a:avLst/>
          </a:prstGeom>
          <a:noFill/>
          <a:ln/>
        </p:spPr>
        <p:txBody>
          <a:bodyPr wrap="square" rtlCol="0" anchor="ctr"/>
          <a:lstStyle/>
          <a:p>
            <a:pPr algn="ctr" indent="0" marL="0">
              <a:buNone/>
            </a:pPr>
            <a:r>
              <a:rPr lang="en-US" sz="1000" i="1" dirty="0">
                <a:solidFill>
                  <a:srgbClr val="1E3A5F"/>
                </a:solidFill>
                <a:latin typeface="Calibri" pitchFamily="34" charset="0"/>
                <a:ea typeface="Calibri" pitchFamily="34" charset="-122"/>
                <a:cs typeface="Calibri" pitchFamily="34" charset="-120"/>
              </a:rPr>
              <a:t>Original approved timeline</a:t>
            </a:r>
            <a:endParaRPr lang="en-US" sz="1000" dirty="0"/>
          </a:p>
        </p:txBody>
      </p:sp>
      <p:sp>
        <p:nvSpPr>
          <p:cNvPr id="8" name="Text 6"/>
          <p:cNvSpPr/>
          <p:nvPr/>
        </p:nvSpPr>
        <p:spPr>
          <a:xfrm>
            <a:off x="3200400" y="1097280"/>
            <a:ext cx="2560320" cy="822960"/>
          </a:xfrm>
          <a:prstGeom prst="rect">
            <a:avLst/>
          </a:prstGeom>
          <a:noFill/>
          <a:ln/>
        </p:spPr>
        <p:txBody>
          <a:bodyPr wrap="square" rtlCol="0" anchor="ctr"/>
          <a:lstStyle/>
          <a:p>
            <a:pPr algn="ctr" indent="0" marL="0">
              <a:buNone/>
            </a:pPr>
            <a:r>
              <a:rPr lang="en-US" sz="5400" b="1" dirty="0">
                <a:solidFill>
                  <a:srgbClr val="D97706"/>
                </a:solidFill>
                <a:latin typeface="Calibri" pitchFamily="34" charset="0"/>
                <a:ea typeface="Calibri" pitchFamily="34" charset="-122"/>
                <a:cs typeface="Calibri" pitchFamily="34" charset="-120"/>
              </a:rPr>
              <a:t>10 mo</a:t>
            </a:r>
            <a:endParaRPr lang="en-US" sz="5400" dirty="0"/>
          </a:p>
        </p:txBody>
      </p:sp>
      <p:sp>
        <p:nvSpPr>
          <p:cNvPr id="9" name="Text 7"/>
          <p:cNvSpPr/>
          <p:nvPr/>
        </p:nvSpPr>
        <p:spPr>
          <a:xfrm>
            <a:off x="3200400" y="1874520"/>
            <a:ext cx="2560320" cy="320040"/>
          </a:xfrm>
          <a:prstGeom prst="rect">
            <a:avLst/>
          </a:prstGeom>
          <a:noFill/>
          <a:ln/>
        </p:spPr>
        <p:txBody>
          <a:bodyPr wrap="square" rtlCol="0" anchor="ctr"/>
          <a:lstStyle/>
          <a:p>
            <a:pPr algn="ctr" indent="0" marL="0">
              <a:buNone/>
            </a:pPr>
            <a:r>
              <a:rPr lang="en-US" sz="1300" b="1" dirty="0">
                <a:solidFill>
                  <a:srgbClr val="2D6A9F"/>
                </a:solidFill>
                <a:latin typeface="Calibri" pitchFamily="34" charset="0"/>
                <a:ea typeface="Calibri" pitchFamily="34" charset="-122"/>
                <a:cs typeface="Calibri" pitchFamily="34" charset="-120"/>
              </a:rPr>
              <a:t>Actual</a:t>
            </a:r>
            <a:endParaRPr lang="en-US" sz="1300" dirty="0"/>
          </a:p>
        </p:txBody>
      </p:sp>
      <p:sp>
        <p:nvSpPr>
          <p:cNvPr id="10" name="Text 8"/>
          <p:cNvSpPr/>
          <p:nvPr/>
        </p:nvSpPr>
        <p:spPr>
          <a:xfrm>
            <a:off x="3200400" y="2212848"/>
            <a:ext cx="2560320" cy="365760"/>
          </a:xfrm>
          <a:prstGeom prst="rect">
            <a:avLst/>
          </a:prstGeom>
          <a:noFill/>
          <a:ln/>
        </p:spPr>
        <p:txBody>
          <a:bodyPr wrap="square" rtlCol="0" anchor="ctr"/>
          <a:lstStyle/>
          <a:p>
            <a:pPr algn="ctr" indent="0" marL="0">
              <a:buNone/>
            </a:pPr>
            <a:r>
              <a:rPr lang="en-US" sz="1000" i="1" dirty="0">
                <a:solidFill>
                  <a:srgbClr val="1E3A5F"/>
                </a:solidFill>
                <a:latin typeface="Calibri" pitchFamily="34" charset="0"/>
                <a:ea typeface="Calibri" pitchFamily="34" charset="-122"/>
                <a:cs typeface="Calibri" pitchFamily="34" charset="-120"/>
              </a:rPr>
              <a:t>4 months over plan</a:t>
            </a:r>
            <a:endParaRPr lang="en-US" sz="1000" dirty="0"/>
          </a:p>
        </p:txBody>
      </p:sp>
      <p:sp>
        <p:nvSpPr>
          <p:cNvPr id="11" name="Text 9"/>
          <p:cNvSpPr/>
          <p:nvPr/>
        </p:nvSpPr>
        <p:spPr>
          <a:xfrm>
            <a:off x="6035040" y="1097280"/>
            <a:ext cx="2560320" cy="822960"/>
          </a:xfrm>
          <a:prstGeom prst="rect">
            <a:avLst/>
          </a:prstGeom>
          <a:noFill/>
          <a:ln/>
        </p:spPr>
        <p:txBody>
          <a:bodyPr wrap="square" rtlCol="0" anchor="ctr"/>
          <a:lstStyle/>
          <a:p>
            <a:pPr algn="ctr" indent="0" marL="0">
              <a:buNone/>
            </a:pPr>
            <a:r>
              <a:rPr lang="en-US" sz="5400" b="1" dirty="0">
                <a:solidFill>
                  <a:srgbClr val="DC3545"/>
                </a:solidFill>
                <a:latin typeface="Calibri" pitchFamily="34" charset="0"/>
                <a:ea typeface="Calibri" pitchFamily="34" charset="-122"/>
                <a:cs typeface="Calibri" pitchFamily="34" charset="-120"/>
              </a:rPr>
              <a:t>120</a:t>
            </a:r>
            <a:endParaRPr lang="en-US" sz="5400" dirty="0"/>
          </a:p>
        </p:txBody>
      </p:sp>
      <p:sp>
        <p:nvSpPr>
          <p:cNvPr id="12" name="Text 10"/>
          <p:cNvSpPr/>
          <p:nvPr/>
        </p:nvSpPr>
        <p:spPr>
          <a:xfrm>
            <a:off x="6035040" y="1874520"/>
            <a:ext cx="2560320" cy="320040"/>
          </a:xfrm>
          <a:prstGeom prst="rect">
            <a:avLst/>
          </a:prstGeom>
          <a:noFill/>
          <a:ln/>
        </p:spPr>
        <p:txBody>
          <a:bodyPr wrap="square" rtlCol="0" anchor="ctr"/>
          <a:lstStyle/>
          <a:p>
            <a:pPr algn="ctr" indent="0" marL="0">
              <a:buNone/>
            </a:pPr>
            <a:r>
              <a:rPr lang="en-US" sz="1300" b="1" dirty="0">
                <a:solidFill>
                  <a:srgbClr val="2D6A9F"/>
                </a:solidFill>
                <a:latin typeface="Calibri" pitchFamily="34" charset="0"/>
                <a:ea typeface="Calibri" pitchFamily="34" charset="-122"/>
                <a:cs typeface="Calibri" pitchFamily="34" charset="-120"/>
              </a:rPr>
              <a:t>Alert rules rewritten</a:t>
            </a:r>
            <a:endParaRPr lang="en-US" sz="1300" dirty="0"/>
          </a:p>
        </p:txBody>
      </p:sp>
      <p:sp>
        <p:nvSpPr>
          <p:cNvPr id="13" name="Text 11"/>
          <p:cNvSpPr/>
          <p:nvPr/>
        </p:nvSpPr>
        <p:spPr>
          <a:xfrm>
            <a:off x="6035040" y="2212848"/>
            <a:ext cx="2560320" cy="365760"/>
          </a:xfrm>
          <a:prstGeom prst="rect">
            <a:avLst/>
          </a:prstGeom>
          <a:noFill/>
          <a:ln/>
        </p:spPr>
        <p:txBody>
          <a:bodyPr wrap="square" rtlCol="0" anchor="ctr"/>
          <a:lstStyle/>
          <a:p>
            <a:pPr algn="ctr" indent="0" marL="0">
              <a:buNone/>
            </a:pPr>
            <a:r>
              <a:rPr lang="en-US" sz="1000" i="1" dirty="0">
                <a:solidFill>
                  <a:srgbClr val="1E3A5F"/>
                </a:solidFill>
                <a:latin typeface="Calibri" pitchFamily="34" charset="0"/>
                <a:ea typeface="Calibri" pitchFamily="34" charset="-122"/>
                <a:cs typeface="Calibri" pitchFamily="34" charset="-120"/>
              </a:rPr>
              <a:t>~30% of total effort</a:t>
            </a:r>
            <a:endParaRPr lang="en-US" sz="1000" dirty="0"/>
          </a:p>
        </p:txBody>
      </p:sp>
      <p:sp>
        <p:nvSpPr>
          <p:cNvPr id="14" name="Shape 12"/>
          <p:cNvSpPr/>
          <p:nvPr/>
        </p:nvSpPr>
        <p:spPr>
          <a:xfrm>
            <a:off x="365760" y="2834640"/>
            <a:ext cx="8412480" cy="1737360"/>
          </a:xfrm>
          <a:prstGeom prst="rect">
            <a:avLst/>
          </a:prstGeom>
          <a:solidFill>
            <a:srgbClr val="1B2A4A"/>
          </a:solidFill>
          <a:ln w="12700">
            <a:solidFill>
              <a:srgbClr val="1B2A4A"/>
            </a:solidFill>
            <a:prstDash val="solid"/>
          </a:ln>
        </p:spPr>
      </p:sp>
      <p:sp>
        <p:nvSpPr>
          <p:cNvPr id="15" name="Text 13"/>
          <p:cNvSpPr/>
          <p:nvPr/>
        </p:nvSpPr>
        <p:spPr>
          <a:xfrm>
            <a:off x="457200" y="2834640"/>
            <a:ext cx="8229600" cy="1737360"/>
          </a:xfrm>
          <a:prstGeom prst="rect">
            <a:avLst/>
          </a:prstGeom>
          <a:noFill/>
          <a:ln/>
        </p:spPr>
        <p:txBody>
          <a:bodyPr wrap="square" rtlCol="0" anchor="ctr"/>
          <a:lstStyle/>
          <a:p>
            <a:pPr algn="ctr" indent="0" marL="0">
              <a:buNone/>
            </a:pPr>
            <a:r>
              <a:rPr lang="en-US" sz="1800" b="1" dirty="0">
                <a:solidFill>
                  <a:srgbClr val="E8F4FD"/>
                </a:solidFill>
                <a:latin typeface="Calibri" pitchFamily="34" charset="0"/>
                <a:ea typeface="Calibri" pitchFamily="34" charset="-122"/>
                <a:cs typeface="Calibri" pitchFamily="34" charset="-120"/>
              </a:rPr>
              <a:t>The single biggest underestimate: the alerting rewrite.</a:t>
            </a:r>
            <a:endParaRPr lang="en-US" sz="1800" dirty="0"/>
          </a:p>
          <a:p>
            <a:pPr algn="ctr" indent="0" marL="0">
              <a:buNone/>
            </a:pPr>
            <a:r>
              <a:rPr lang="en-US" sz="1800" b="1" dirty="0">
                <a:solidFill>
                  <a:srgbClr val="E8F4FD"/>
                </a:solidFill>
                <a:latin typeface="Calibri" pitchFamily="34" charset="0"/>
                <a:ea typeface="Calibri" pitchFamily="34" charset="-122"/>
                <a:cs typeface="Calibri" pitchFamily="34" charset="-120"/>
              </a:rPr>
              <a:t>It's not a migration task — it's a system rebuild.</a:t>
            </a:r>
            <a:endParaRPr lang="en-US" sz="1800" dirty="0"/>
          </a:p>
        </p:txBody>
      </p:sp>
      <p:sp>
        <p:nvSpPr>
          <p:cNvPr id="16" name="Shape 14"/>
          <p:cNvSpPr/>
          <p:nvPr/>
        </p:nvSpPr>
        <p:spPr>
          <a:xfrm>
            <a:off x="0" y="6583680"/>
            <a:ext cx="12192000" cy="274320"/>
          </a:xfrm>
          <a:prstGeom prst="rect">
            <a:avLst/>
          </a:prstGeom>
          <a:solidFill>
            <a:srgbClr val="1B2A4A"/>
          </a:solidFill>
          <a:ln w="12700">
            <a:solidFill>
              <a:srgbClr val="1B2A4A"/>
            </a:solidFill>
            <a:prstDash val="solid"/>
          </a:ln>
        </p:spPr>
      </p:sp>
      <p:sp>
        <p:nvSpPr>
          <p:cNvPr id="17" name="Text 15"/>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3 — THE MIGRATION IN FOUR ACTS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2A4A"/>
          </a:solidFill>
          <a:ln w="12700">
            <a:solidFill>
              <a:srgbClr val="1B2A4A"/>
            </a:solidFill>
            <a:prstDash val="solid"/>
          </a:ln>
        </p:spPr>
      </p:sp>
      <p:sp>
        <p:nvSpPr>
          <p:cNvPr id="3" name="Text 1"/>
          <p:cNvSpPr/>
          <p:nvPr/>
        </p:nvSpPr>
        <p:spPr>
          <a:xfrm>
            <a:off x="365760" y="274320"/>
            <a:ext cx="1645920" cy="320040"/>
          </a:xfrm>
          <a:prstGeom prst="rect">
            <a:avLst/>
          </a:prstGeom>
          <a:noFill/>
          <a:ln/>
        </p:spPr>
        <p:txBody>
          <a:bodyPr wrap="square" rtlCol="0" anchor="ctr"/>
          <a:lstStyle/>
          <a:p>
            <a:pPr algn="l" indent="0" marL="0">
              <a:buNone/>
            </a:pPr>
            <a:r>
              <a:rPr lang="en-US" sz="1100" b="1" dirty="0">
                <a:solidFill>
                  <a:srgbClr val="00B4D8"/>
                </a:solidFill>
                <a:latin typeface="Calibri" pitchFamily="34" charset="0"/>
                <a:ea typeface="Calibri" pitchFamily="34" charset="-122"/>
                <a:cs typeface="Calibri" pitchFamily="34" charset="-120"/>
              </a:rPr>
              <a:t>SECTION 4</a:t>
            </a:r>
            <a:endParaRPr lang="en-US" sz="1100" dirty="0"/>
          </a:p>
        </p:txBody>
      </p:sp>
      <p:sp>
        <p:nvSpPr>
          <p:cNvPr id="4" name="Text 2"/>
          <p:cNvSpPr/>
          <p:nvPr/>
        </p:nvSpPr>
        <p:spPr>
          <a:xfrm>
            <a:off x="365760" y="2560320"/>
            <a:ext cx="8229600" cy="1645920"/>
          </a:xfrm>
          <a:prstGeom prst="rect">
            <a:avLst/>
          </a:prstGeom>
          <a:noFill/>
          <a:ln/>
          <a:effectLst>
            <a:outerShdw sx="100000" sy="100000" kx="0" ky="0" algn="bl" rotWithShape="0" blurRad="76200" dist="38100" dir="2700000">
              <a:srgbClr val="00000040">
                <a:alpha val="25000"/>
              </a:srgbClr>
            </a:outerShdw>
          </a:effectLst>
        </p:spPr>
        <p:txBody>
          <a:bodyPr wrap="square" rtlCol="0" anchor="ctr"/>
          <a:lstStyle/>
          <a:p>
            <a:pPr algn="l" indent="0" marL="0">
              <a:buNone/>
            </a:pPr>
            <a:r>
              <a:rPr lang="en-US" sz="4000" b="1" dirty="0">
                <a:solidFill>
                  <a:srgbClr val="E8F4FD"/>
                </a:solidFill>
                <a:latin typeface="Calibri" pitchFamily="34" charset="0"/>
                <a:ea typeface="Calibri" pitchFamily="34" charset="-122"/>
                <a:cs typeface="Calibri" pitchFamily="34" charset="-120"/>
              </a:rPr>
              <a:t>The three traps</a:t>
            </a:r>
            <a:endParaRPr lang="en-US" sz="4000" dirty="0"/>
          </a:p>
          <a:p>
            <a:pPr algn="l" indent="0" marL="0">
              <a:buNone/>
            </a:pPr>
            <a:r>
              <a:rPr lang="en-US" sz="4000" b="1" dirty="0">
                <a:solidFill>
                  <a:srgbClr val="E8F4FD"/>
                </a:solidFill>
                <a:latin typeface="Calibri" pitchFamily="34" charset="0"/>
                <a:ea typeface="Calibri" pitchFamily="34" charset="-122"/>
                <a:cs typeface="Calibri" pitchFamily="34" charset="-120"/>
              </a:rPr>
              <a:t>we didn't see coming</a:t>
            </a:r>
            <a:endParaRPr lang="en-US" sz="4000" dirty="0"/>
          </a:p>
        </p:txBody>
      </p:sp>
      <p:sp>
        <p:nvSpPr>
          <p:cNvPr id="5" name="Text 3"/>
          <p:cNvSpPr/>
          <p:nvPr/>
        </p:nvSpPr>
        <p:spPr>
          <a:xfrm>
            <a:off x="365760" y="4297680"/>
            <a:ext cx="8229600" cy="457200"/>
          </a:xfrm>
          <a:prstGeom prst="rect">
            <a:avLst/>
          </a:prstGeom>
          <a:noFill/>
          <a:ln/>
        </p:spPr>
        <p:txBody>
          <a:bodyPr wrap="square" rtlCol="0" anchor="ctr"/>
          <a:lstStyle/>
          <a:p>
            <a:pPr algn="l" indent="0" marL="0">
              <a:buNone/>
            </a:pPr>
            <a:r>
              <a:rPr lang="en-US" sz="1800" dirty="0">
                <a:solidFill>
                  <a:srgbClr val="00B4D8"/>
                </a:solidFill>
                <a:latin typeface="Calibri" pitchFamily="34" charset="0"/>
                <a:ea typeface="Calibri" pitchFamily="34" charset="-122"/>
                <a:cs typeface="Calibri" pitchFamily="34" charset="-120"/>
              </a:rPr>
              <a:t>Things OTel documentation doesn't warn you about</a:t>
            </a:r>
            <a:endParaRPr lang="en-US" sz="1800" dirty="0"/>
          </a:p>
        </p:txBody>
      </p:sp>
      <p:sp>
        <p:nvSpPr>
          <p:cNvPr id="6" name="Shape 4"/>
          <p:cNvSpPr/>
          <p:nvPr/>
        </p:nvSpPr>
        <p:spPr>
          <a:xfrm>
            <a:off x="7406640" y="6400800"/>
            <a:ext cx="109728" cy="109728"/>
          </a:xfrm>
          <a:prstGeom prst="ellipse">
            <a:avLst/>
          </a:prstGeom>
          <a:solidFill>
            <a:srgbClr val="2D6A9F"/>
          </a:solidFill>
          <a:ln w="12700">
            <a:solidFill>
              <a:srgbClr val="2D6A9F"/>
            </a:solidFill>
            <a:prstDash val="solid"/>
          </a:ln>
        </p:spPr>
      </p:sp>
      <p:sp>
        <p:nvSpPr>
          <p:cNvPr id="7" name="Shape 5"/>
          <p:cNvSpPr/>
          <p:nvPr/>
        </p:nvSpPr>
        <p:spPr>
          <a:xfrm>
            <a:off x="7607808" y="6400800"/>
            <a:ext cx="109728" cy="109728"/>
          </a:xfrm>
          <a:prstGeom prst="ellipse">
            <a:avLst/>
          </a:prstGeom>
          <a:solidFill>
            <a:srgbClr val="2D6A9F"/>
          </a:solidFill>
          <a:ln w="12700">
            <a:solidFill>
              <a:srgbClr val="2D6A9F"/>
            </a:solidFill>
            <a:prstDash val="solid"/>
          </a:ln>
        </p:spPr>
      </p:sp>
      <p:sp>
        <p:nvSpPr>
          <p:cNvPr id="8" name="Shape 6"/>
          <p:cNvSpPr/>
          <p:nvPr/>
        </p:nvSpPr>
        <p:spPr>
          <a:xfrm>
            <a:off x="7808976" y="6400800"/>
            <a:ext cx="109728" cy="109728"/>
          </a:xfrm>
          <a:prstGeom prst="ellipse">
            <a:avLst/>
          </a:prstGeom>
          <a:solidFill>
            <a:srgbClr val="2D6A9F"/>
          </a:solidFill>
          <a:ln w="12700">
            <a:solidFill>
              <a:srgbClr val="2D6A9F"/>
            </a:solidFill>
            <a:prstDash val="solid"/>
          </a:ln>
        </p:spPr>
      </p:sp>
      <p:sp>
        <p:nvSpPr>
          <p:cNvPr id="9" name="Shape 7"/>
          <p:cNvSpPr/>
          <p:nvPr/>
        </p:nvSpPr>
        <p:spPr>
          <a:xfrm>
            <a:off x="8010144" y="6400800"/>
            <a:ext cx="109728" cy="109728"/>
          </a:xfrm>
          <a:prstGeom prst="ellipse">
            <a:avLst/>
          </a:prstGeom>
          <a:solidFill>
            <a:srgbClr val="00B4D8"/>
          </a:solidFill>
          <a:ln w="12700">
            <a:solidFill>
              <a:srgbClr val="00B4D8"/>
            </a:solidFill>
            <a:prstDash val="solid"/>
          </a:ln>
        </p:spPr>
      </p:sp>
      <p:sp>
        <p:nvSpPr>
          <p:cNvPr id="10" name="Shape 8"/>
          <p:cNvSpPr/>
          <p:nvPr/>
        </p:nvSpPr>
        <p:spPr>
          <a:xfrm>
            <a:off x="8211312" y="6400800"/>
            <a:ext cx="109728" cy="109728"/>
          </a:xfrm>
          <a:prstGeom prst="ellipse">
            <a:avLst/>
          </a:prstGeom>
          <a:ln w="12700">
            <a:solidFill>
              <a:srgbClr val="E8F4FD"/>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600" b="1" dirty="0">
                <a:solidFill>
                  <a:srgbClr val="1E3A5F"/>
                </a:solidFill>
                <a:latin typeface="Calibri" pitchFamily="34" charset="0"/>
                <a:ea typeface="Calibri" pitchFamily="34" charset="-122"/>
                <a:cs typeface="Calibri" pitchFamily="34" charset="-120"/>
              </a:rPr>
              <a:t>Trap 1: Cardinality still bites</a:t>
            </a:r>
            <a:endParaRPr lang="en-US" sz="2600" dirty="0"/>
          </a:p>
        </p:txBody>
      </p:sp>
      <p:sp>
        <p:nvSpPr>
          <p:cNvPr id="5" name="Shape 3"/>
          <p:cNvSpPr/>
          <p:nvPr/>
        </p:nvSpPr>
        <p:spPr>
          <a:xfrm>
            <a:off x="365760" y="822960"/>
            <a:ext cx="8412480" cy="640080"/>
          </a:xfrm>
          <a:prstGeom prst="rect">
            <a:avLst/>
          </a:prstGeom>
          <a:solidFill>
            <a:srgbClr val="1B2A4A"/>
          </a:solidFill>
          <a:ln w="12700">
            <a:solidFill>
              <a:srgbClr val="1B2A4A"/>
            </a:solidFill>
            <a:prstDash val="solid"/>
          </a:ln>
        </p:spPr>
      </p:sp>
      <p:sp>
        <p:nvSpPr>
          <p:cNvPr id="6" name="Text 4"/>
          <p:cNvSpPr/>
          <p:nvPr/>
        </p:nvSpPr>
        <p:spPr>
          <a:xfrm>
            <a:off x="457200" y="841248"/>
            <a:ext cx="8229600" cy="603504"/>
          </a:xfrm>
          <a:prstGeom prst="rect">
            <a:avLst/>
          </a:prstGeom>
          <a:noFill/>
          <a:ln/>
        </p:spPr>
        <p:txBody>
          <a:bodyPr wrap="square" rtlCol="0" anchor="ctr"/>
          <a:lstStyle/>
          <a:p>
            <a:pPr algn="l" indent="0" marL="0">
              <a:buNone/>
            </a:pPr>
            <a:r>
              <a:rPr lang="en-US" sz="1300" i="1" dirty="0">
                <a:solidFill>
                  <a:srgbClr val="00B4D8"/>
                </a:solidFill>
                <a:latin typeface="Calibri" pitchFamily="34" charset="0"/>
                <a:ea typeface="Calibri" pitchFamily="34" charset="-122"/>
                <a:cs typeface="Calibri" pitchFamily="34" charset="-120"/>
              </a:rPr>
              <a:t>"Day 14 post-migration. Alerting system fired 4,000 times in one hour. A new service had added user_id as a metric label."</a:t>
            </a:r>
            <a:endParaRPr lang="en-US" sz="1300" dirty="0"/>
          </a:p>
        </p:txBody>
      </p:sp>
      <p:sp>
        <p:nvSpPr>
          <p:cNvPr id="7" name="Text 5"/>
          <p:cNvSpPr/>
          <p:nvPr/>
        </p:nvSpPr>
        <p:spPr>
          <a:xfrm>
            <a:off x="365760" y="1645920"/>
            <a:ext cx="2560320" cy="822960"/>
          </a:xfrm>
          <a:prstGeom prst="rect">
            <a:avLst/>
          </a:prstGeom>
          <a:noFill/>
          <a:ln/>
        </p:spPr>
        <p:txBody>
          <a:bodyPr wrap="square" rtlCol="0" anchor="ctr"/>
          <a:lstStyle/>
          <a:p>
            <a:pPr algn="ctr" indent="0" marL="0">
              <a:buNone/>
            </a:pPr>
            <a:r>
              <a:rPr lang="en-US" sz="5400" b="1" dirty="0">
                <a:solidFill>
                  <a:srgbClr val="DC3545"/>
                </a:solidFill>
                <a:latin typeface="Calibri" pitchFamily="34" charset="0"/>
                <a:ea typeface="Calibri" pitchFamily="34" charset="-122"/>
                <a:cs typeface="Calibri" pitchFamily="34" charset="-120"/>
              </a:rPr>
              <a:t>3×</a:t>
            </a:r>
            <a:endParaRPr lang="en-US" sz="5400" dirty="0"/>
          </a:p>
        </p:txBody>
      </p:sp>
      <p:sp>
        <p:nvSpPr>
          <p:cNvPr id="8" name="Text 6"/>
          <p:cNvSpPr/>
          <p:nvPr/>
        </p:nvSpPr>
        <p:spPr>
          <a:xfrm>
            <a:off x="365760" y="2423160"/>
            <a:ext cx="2560320" cy="320040"/>
          </a:xfrm>
          <a:prstGeom prst="rect">
            <a:avLst/>
          </a:prstGeom>
          <a:noFill/>
          <a:ln/>
        </p:spPr>
        <p:txBody>
          <a:bodyPr wrap="square" rtlCol="0" anchor="ctr"/>
          <a:lstStyle/>
          <a:p>
            <a:pPr algn="ctr" indent="0" marL="0">
              <a:buNone/>
            </a:pPr>
            <a:r>
              <a:rPr lang="en-US" sz="1300" b="1" dirty="0">
                <a:solidFill>
                  <a:srgbClr val="2D6A9F"/>
                </a:solidFill>
                <a:latin typeface="Calibri" pitchFamily="34" charset="0"/>
                <a:ea typeface="Calibri" pitchFamily="34" charset="-122"/>
                <a:cs typeface="Calibri" pitchFamily="34" charset="-120"/>
              </a:rPr>
              <a:t>cardinality spike in 2 weeks</a:t>
            </a:r>
            <a:endParaRPr lang="en-US" sz="1300" dirty="0"/>
          </a:p>
        </p:txBody>
      </p:sp>
      <p:sp>
        <p:nvSpPr>
          <p:cNvPr id="9" name="Text 7"/>
          <p:cNvSpPr/>
          <p:nvPr/>
        </p:nvSpPr>
        <p:spPr>
          <a:xfrm>
            <a:off x="365760" y="2761488"/>
            <a:ext cx="2560320" cy="365760"/>
          </a:xfrm>
          <a:prstGeom prst="rect">
            <a:avLst/>
          </a:prstGeom>
          <a:noFill/>
          <a:ln/>
        </p:spPr>
        <p:txBody>
          <a:bodyPr wrap="square" rtlCol="0" anchor="ctr"/>
          <a:lstStyle/>
          <a:p>
            <a:pPr algn="ctr" indent="0" marL="0">
              <a:buNone/>
            </a:pPr>
            <a:r>
              <a:rPr lang="en-US" sz="1000" i="1" dirty="0">
                <a:solidFill>
                  <a:srgbClr val="1E3A5F"/>
                </a:solidFill>
                <a:latin typeface="Calibri" pitchFamily="34" charset="0"/>
                <a:ea typeface="Calibri" pitchFamily="34" charset="-122"/>
                <a:cs typeface="Calibri" pitchFamily="34" charset="-120"/>
              </a:rPr>
              <a:t>New service, 1 bad label</a:t>
            </a:r>
            <a:endParaRPr lang="en-US" sz="1000" dirty="0"/>
          </a:p>
        </p:txBody>
      </p:sp>
      <p:sp>
        <p:nvSpPr>
          <p:cNvPr id="10" name="Shape 8"/>
          <p:cNvSpPr/>
          <p:nvPr/>
        </p:nvSpPr>
        <p:spPr>
          <a:xfrm>
            <a:off x="3200400" y="1645920"/>
            <a:ext cx="5486400" cy="2011680"/>
          </a:xfrm>
          <a:prstGeom prst="rect">
            <a:avLst/>
          </a:prstGeom>
          <a:solidFill>
            <a:srgbClr val="1E3A5F"/>
          </a:solidFill>
          <a:ln w="12700">
            <a:solidFill>
              <a:srgbClr val="1E3A5F"/>
            </a:solidFill>
            <a:prstDash val="solid"/>
          </a:ln>
        </p:spPr>
      </p:sp>
      <p:sp>
        <p:nvSpPr>
          <p:cNvPr id="11" name="Text 9"/>
          <p:cNvSpPr/>
          <p:nvPr/>
        </p:nvSpPr>
        <p:spPr>
          <a:xfrm>
            <a:off x="3337560" y="1737360"/>
            <a:ext cx="5212080" cy="1828800"/>
          </a:xfrm>
          <a:prstGeom prst="rect">
            <a:avLst/>
          </a:prstGeom>
          <a:noFill/>
          <a:ln/>
        </p:spPr>
        <p:txBody>
          <a:bodyPr wrap="square" rtlCol="0" anchor="t"/>
          <a:lstStyle/>
          <a:p>
            <a:pPr algn="l" indent="0" marL="0">
              <a:buNone/>
            </a:pPr>
            <a:r>
              <a:rPr lang="en-US" sz="1100" dirty="0">
                <a:solidFill>
                  <a:srgbClr val="E8F4FD"/>
                </a:solidFill>
                <a:latin typeface="Consolas" pitchFamily="34" charset="0"/>
                <a:ea typeface="Consolas" pitchFamily="34" charset="-122"/>
                <a:cs typeface="Consolas" pitchFamily="34" charset="-120"/>
              </a:rPr>
              <a:t># Bad: user_id on a high-frequency counter</a:t>
            </a:r>
            <a:endParaRPr lang="en-US" sz="1100" dirty="0"/>
          </a:p>
          <a:p>
            <a:pPr algn="l" indent="0" marL="0">
              <a:buNone/>
            </a:pPr>
            <a:r>
              <a:rPr lang="en-US" sz="1100" dirty="0">
                <a:solidFill>
                  <a:srgbClr val="E8F4FD"/>
                </a:solidFill>
                <a:latin typeface="Consolas" pitchFamily="34" charset="0"/>
                <a:ea typeface="Consolas" pitchFamily="34" charset="-122"/>
                <a:cs typeface="Consolas" pitchFamily="34" charset="-120"/>
              </a:rPr>
              <a:t>http_requests_total{</a:t>
            </a:r>
            <a:endParaRPr lang="en-US" sz="1100" dirty="0"/>
          </a:p>
          <a:p>
            <a:pPr algn="l" indent="0" marL="0">
              <a:buNone/>
            </a:pPr>
            <a:r>
              <a:rPr lang="en-US" sz="1100" dirty="0">
                <a:solidFill>
                  <a:srgbClr val="E8F4FD"/>
                </a:solidFill>
                <a:latin typeface="Consolas" pitchFamily="34" charset="0"/>
                <a:ea typeface="Consolas" pitchFamily="34" charset="-122"/>
                <a:cs typeface="Consolas" pitchFamily="34" charset="-120"/>
              </a:rPr>
              <a:t>  service="payments",</a:t>
            </a:r>
            <a:endParaRPr lang="en-US" sz="1100" dirty="0"/>
          </a:p>
          <a:p>
            <a:pPr algn="l" indent="0" marL="0">
              <a:buNone/>
            </a:pPr>
            <a:r>
              <a:rPr lang="en-US" sz="1100" dirty="0">
                <a:solidFill>
                  <a:srgbClr val="E8F4FD"/>
                </a:solidFill>
                <a:latin typeface="Consolas" pitchFamily="34" charset="0"/>
                <a:ea typeface="Consolas" pitchFamily="34" charset="-122"/>
                <a:cs typeface="Consolas" pitchFamily="34" charset="-120"/>
              </a:rPr>
              <a:t>  user_id="u_8f3k2",    # &lt;-- cardinality bomb</a:t>
            </a:r>
            <a:endParaRPr lang="en-US" sz="1100" dirty="0"/>
          </a:p>
          <a:p>
            <a:pPr algn="l" indent="0" marL="0">
              <a:buNone/>
            </a:pPr>
            <a:r>
              <a:rPr lang="en-US" sz="1100" dirty="0">
                <a:solidFill>
                  <a:srgbClr val="E8F4FD"/>
                </a:solidFill>
                <a:latin typeface="Consolas" pitchFamily="34" charset="0"/>
                <a:ea typeface="Consolas" pitchFamily="34" charset="-122"/>
                <a:cs typeface="Consolas" pitchFamily="34" charset="-120"/>
              </a:rPr>
              <a:t>  method="POST",</a:t>
            </a:r>
            <a:endParaRPr lang="en-US" sz="1100" dirty="0"/>
          </a:p>
          <a:p>
            <a:pPr algn="l" indent="0" marL="0">
              <a:buNone/>
            </a:pPr>
            <a:r>
              <a:rPr lang="en-US" sz="1100" dirty="0">
                <a:solidFill>
                  <a:srgbClr val="E8F4FD"/>
                </a:solidFill>
                <a:latin typeface="Consolas" pitchFamily="34" charset="0"/>
                <a:ea typeface="Consolas" pitchFamily="34" charset="-122"/>
                <a:cs typeface="Consolas" pitchFamily="34" charset="-120"/>
              </a:rPr>
              <a:t>  status="200"</a:t>
            </a:r>
            <a:endParaRPr lang="en-US" sz="1100" dirty="0"/>
          </a:p>
          <a:p>
            <a:pPr algn="l" indent="0" marL="0">
              <a:buNone/>
            </a:pPr>
            <a:r>
              <a:rPr lang="en-US" sz="1100" dirty="0">
                <a:solidFill>
                  <a:srgbClr val="E8F4FD"/>
                </a:solidFill>
                <a:latin typeface="Consolas" pitchFamily="34" charset="0"/>
                <a:ea typeface="Consolas" pitchFamily="34" charset="-122"/>
                <a:cs typeface="Consolas" pitchFamily="34" charset="-120"/>
              </a:rPr>
              <a:t>}</a:t>
            </a:r>
            <a:endParaRPr lang="en-US" sz="1100" dirty="0"/>
          </a:p>
          <a:p>
            <a:pPr algn="l" indent="0" marL="0">
              <a:buNone/>
            </a:pPr>
            <a:r>
              <a:rPr lang="en-US" sz="1100" dirty="0">
                <a:solidFill>
                  <a:srgbClr val="E8F4FD"/>
                </a:solidFill>
                <a:latin typeface="Consolas" pitchFamily="34" charset="0"/>
                <a:ea typeface="Consolas" pitchFamily="34" charset="-122"/>
                <a:cs typeface="Consolas" pitchFamily="34" charset="-120"/>
              </a:rPr>
              <a:t># user_id × tenants × methods × statuses</a:t>
            </a:r>
            <a:endParaRPr lang="en-US" sz="1100" dirty="0"/>
          </a:p>
          <a:p>
            <a:pPr algn="l" indent="0" marL="0">
              <a:buNone/>
            </a:pPr>
            <a:r>
              <a:rPr lang="en-US" sz="1100" dirty="0">
                <a:solidFill>
                  <a:srgbClr val="E8F4FD"/>
                </a:solidFill>
                <a:latin typeface="Consolas" pitchFamily="34" charset="0"/>
                <a:ea typeface="Consolas" pitchFamily="34" charset="-122"/>
                <a:cs typeface="Consolas" pitchFamily="34" charset="-120"/>
              </a:rPr>
              <a:t># = 850K users × 900 tenants = ~765M series</a:t>
            </a:r>
            <a:endParaRPr lang="en-US" sz="1100" dirty="0"/>
          </a:p>
        </p:txBody>
      </p:sp>
      <p:sp>
        <p:nvSpPr>
          <p:cNvPr id="12" name="Shape 10"/>
          <p:cNvSpPr/>
          <p:nvPr/>
        </p:nvSpPr>
        <p:spPr>
          <a:xfrm>
            <a:off x="365760" y="3840480"/>
            <a:ext cx="8412480" cy="201168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13" name="Shape 11"/>
          <p:cNvSpPr/>
          <p:nvPr/>
        </p:nvSpPr>
        <p:spPr>
          <a:xfrm>
            <a:off x="365760" y="3840480"/>
            <a:ext cx="54864" cy="2011680"/>
          </a:xfrm>
          <a:prstGeom prst="rect">
            <a:avLst/>
          </a:prstGeom>
          <a:solidFill>
            <a:srgbClr val="00B4D8"/>
          </a:solidFill>
          <a:ln w="12700">
            <a:solidFill>
              <a:srgbClr val="00B4D8"/>
            </a:solidFill>
            <a:prstDash val="solid"/>
          </a:ln>
        </p:spPr>
      </p:sp>
      <p:sp>
        <p:nvSpPr>
          <p:cNvPr id="14" name="Text 12"/>
          <p:cNvSpPr/>
          <p:nvPr/>
        </p:nvSpPr>
        <p:spPr>
          <a:xfrm>
            <a:off x="502920" y="3931920"/>
            <a:ext cx="818388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The OTel difference (and the trap):</a:t>
            </a:r>
            <a:endParaRPr lang="en-US" sz="1300" dirty="0"/>
          </a:p>
        </p:txBody>
      </p:sp>
      <p:sp>
        <p:nvSpPr>
          <p:cNvPr id="15" name="Text 13"/>
          <p:cNvSpPr/>
          <p:nvPr/>
        </p:nvSpPr>
        <p:spPr>
          <a:xfrm>
            <a:off x="502920" y="4224528"/>
            <a:ext cx="8183880" cy="1536192"/>
          </a:xfrm>
          <a:prstGeom prst="rect">
            <a:avLst/>
          </a:prstGeom>
          <a:noFill/>
          <a:ln/>
        </p:spPr>
        <p:txBody>
          <a:bodyPr wrap="square" rtlCol="0" anchor="t"/>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With Datadog: high-cardinality label = expensive invoice</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With OTel + Mimir: high-cardinality label = expensive compute (still bad, just differently)</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Mimir enforces cardinality limits at ingest — exceeding them causes dropped metrics, not bills</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Set cardinality budgets per service at onboarding, not after the incident</a:t>
            </a:r>
            <a:endParaRPr lang="en-US" sz="1100" dirty="0"/>
          </a:p>
        </p:txBody>
      </p:sp>
      <p:sp>
        <p:nvSpPr>
          <p:cNvPr id="16" name="Shape 14"/>
          <p:cNvSpPr/>
          <p:nvPr/>
        </p:nvSpPr>
        <p:spPr>
          <a:xfrm>
            <a:off x="0" y="6583680"/>
            <a:ext cx="12192000" cy="274320"/>
          </a:xfrm>
          <a:prstGeom prst="rect">
            <a:avLst/>
          </a:prstGeom>
          <a:solidFill>
            <a:srgbClr val="1B2A4A"/>
          </a:solidFill>
          <a:ln w="12700">
            <a:solidFill>
              <a:srgbClr val="1B2A4A"/>
            </a:solidFill>
            <a:prstDash val="solid"/>
          </a:ln>
        </p:spPr>
      </p:sp>
      <p:sp>
        <p:nvSpPr>
          <p:cNvPr id="17" name="Text 15"/>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4 — THE THREE TRAPS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600" b="1" dirty="0">
                <a:solidFill>
                  <a:srgbClr val="1E3A5F"/>
                </a:solidFill>
                <a:latin typeface="Calibri" pitchFamily="34" charset="0"/>
                <a:ea typeface="Calibri" pitchFamily="34" charset="-122"/>
                <a:cs typeface="Calibri" pitchFamily="34" charset="-120"/>
              </a:rPr>
              <a:t>Trap 2: Sampling is harder than you think</a:t>
            </a:r>
            <a:endParaRPr lang="en-US" sz="2600" dirty="0"/>
          </a:p>
        </p:txBody>
      </p:sp>
      <p:sp>
        <p:nvSpPr>
          <p:cNvPr id="5" name="Text 3"/>
          <p:cNvSpPr/>
          <p:nvPr/>
        </p:nvSpPr>
        <p:spPr>
          <a:xfrm>
            <a:off x="365760" y="868680"/>
            <a:ext cx="1828800" cy="274320"/>
          </a:xfrm>
          <a:prstGeom prst="rect">
            <a:avLst/>
          </a:prstGeom>
          <a:noFill/>
          <a:ln/>
        </p:spPr>
        <p:txBody>
          <a:bodyPr wrap="square" rtlCol="0" anchor="ctr"/>
          <a:lstStyle/>
          <a:p>
            <a:pPr algn="l" indent="0" marL="0">
              <a:buNone/>
            </a:pPr>
            <a:r>
              <a:rPr lang="en-US" sz="1200" b="1" dirty="0">
                <a:solidFill>
                  <a:srgbClr val="2D6A9F"/>
                </a:solidFill>
                <a:latin typeface="Calibri" pitchFamily="34" charset="0"/>
                <a:ea typeface="Calibri" pitchFamily="34" charset="-122"/>
                <a:cs typeface="Calibri" pitchFamily="34" charset="-120"/>
              </a:rPr>
              <a:t>Start here:</a:t>
            </a:r>
            <a:endParaRPr lang="en-US" sz="1200" dirty="0"/>
          </a:p>
        </p:txBody>
      </p:sp>
      <p:sp>
        <p:nvSpPr>
          <p:cNvPr id="6" name="Shape 4"/>
          <p:cNvSpPr/>
          <p:nvPr/>
        </p:nvSpPr>
        <p:spPr>
          <a:xfrm>
            <a:off x="2743200" y="868680"/>
            <a:ext cx="3291840" cy="548640"/>
          </a:xfrm>
          <a:prstGeom prst="rect">
            <a:avLst/>
          </a:prstGeom>
          <a:solidFill>
            <a:srgbClr val="1B2A4A"/>
          </a:solidFill>
          <a:ln w="12700">
            <a:solidFill>
              <a:srgbClr val="1B2A4A"/>
            </a:solidFill>
            <a:prstDash val="solid"/>
          </a:ln>
        </p:spPr>
      </p:sp>
      <p:sp>
        <p:nvSpPr>
          <p:cNvPr id="7" name="Text 5"/>
          <p:cNvSpPr/>
          <p:nvPr/>
        </p:nvSpPr>
        <p:spPr>
          <a:xfrm>
            <a:off x="2743200" y="868680"/>
            <a:ext cx="3291840" cy="548640"/>
          </a:xfrm>
          <a:prstGeom prst="rect">
            <a:avLst/>
          </a:prstGeom>
          <a:noFill/>
          <a:ln/>
        </p:spPr>
        <p:txBody>
          <a:bodyPr wrap="square" rtlCol="0" anchor="ctr"/>
          <a:lstStyle/>
          <a:p>
            <a:pPr algn="ctr" indent="0" marL="0">
              <a:buNone/>
            </a:pPr>
            <a:r>
              <a:rPr lang="en-US" sz="1200" b="1" dirty="0">
                <a:solidFill>
                  <a:srgbClr val="E8F4FD"/>
                </a:solidFill>
                <a:latin typeface="Calibri" pitchFamily="34" charset="0"/>
                <a:ea typeface="Calibri" pitchFamily="34" charset="-122"/>
                <a:cs typeface="Calibri" pitchFamily="34" charset="-120"/>
              </a:rPr>
              <a:t>What's your backend retention cost?</a:t>
            </a:r>
            <a:endParaRPr lang="en-US" sz="1200" dirty="0"/>
          </a:p>
        </p:txBody>
      </p:sp>
      <p:sp>
        <p:nvSpPr>
          <p:cNvPr id="8" name="Shape 6"/>
          <p:cNvSpPr/>
          <p:nvPr/>
        </p:nvSpPr>
        <p:spPr>
          <a:xfrm>
            <a:off x="3200400" y="1417320"/>
            <a:ext cx="0" cy="365760"/>
          </a:xfrm>
          <a:prstGeom prst="line">
            <a:avLst/>
          </a:prstGeom>
          <a:noFill/>
          <a:ln w="19050">
            <a:solidFill>
              <a:srgbClr val="00B4D8"/>
            </a:solidFill>
            <a:prstDash val="solid"/>
          </a:ln>
        </p:spPr>
      </p:sp>
      <p:sp>
        <p:nvSpPr>
          <p:cNvPr id="9" name="Shape 7"/>
          <p:cNvSpPr/>
          <p:nvPr/>
        </p:nvSpPr>
        <p:spPr>
          <a:xfrm>
            <a:off x="548640" y="1828800"/>
            <a:ext cx="2286000" cy="548640"/>
          </a:xfrm>
          <a:prstGeom prst="rect">
            <a:avLst/>
          </a:prstGeom>
          <a:solidFill>
            <a:srgbClr val="F8FAFC"/>
          </a:solidFill>
          <a:ln w="12700">
            <a:solidFill>
              <a:srgbClr val="2D6A9F"/>
            </a:solidFill>
            <a:prstDash val="solid"/>
          </a:ln>
        </p:spPr>
      </p:sp>
      <p:sp>
        <p:nvSpPr>
          <p:cNvPr id="10" name="Text 8"/>
          <p:cNvSpPr/>
          <p:nvPr/>
        </p:nvSpPr>
        <p:spPr>
          <a:xfrm>
            <a:off x="548640" y="1828800"/>
            <a:ext cx="2286000" cy="548640"/>
          </a:xfrm>
          <a:prstGeom prst="rect">
            <a:avLst/>
          </a:prstGeom>
          <a:noFill/>
          <a:ln/>
        </p:spPr>
        <p:txBody>
          <a:bodyPr wrap="square" rtlCol="0" anchor="ctr"/>
          <a:lstStyle/>
          <a:p>
            <a:pPr algn="ctr" indent="0" marL="0">
              <a:buNone/>
            </a:pPr>
            <a:r>
              <a:rPr lang="en-US" sz="1100" dirty="0">
                <a:solidFill>
                  <a:srgbClr val="1E3A5F"/>
                </a:solidFill>
                <a:latin typeface="Calibri" pitchFamily="34" charset="0"/>
                <a:ea typeface="Calibri" pitchFamily="34" charset="-122"/>
                <a:cs typeface="Calibri" pitchFamily="34" charset="-120"/>
              </a:rPr>
              <a:t>High volume</a:t>
            </a:r>
            <a:endParaRPr lang="en-US" sz="1100" dirty="0"/>
          </a:p>
          <a:p>
            <a:pPr algn="ctr" indent="0" marL="0">
              <a:buNone/>
            </a:pPr>
            <a:r>
              <a:rPr lang="en-US" sz="1100" dirty="0">
                <a:solidFill>
                  <a:srgbClr val="1E3A5F"/>
                </a:solidFill>
                <a:latin typeface="Calibri" pitchFamily="34" charset="0"/>
                <a:ea typeface="Calibri" pitchFamily="34" charset="-122"/>
                <a:cs typeface="Calibri" pitchFamily="34" charset="-120"/>
              </a:rPr>
              <a:t>Low retention cost</a:t>
            </a:r>
            <a:endParaRPr lang="en-US" sz="1100" dirty="0"/>
          </a:p>
        </p:txBody>
      </p:sp>
      <p:sp>
        <p:nvSpPr>
          <p:cNvPr id="11" name="Shape 9"/>
          <p:cNvSpPr/>
          <p:nvPr/>
        </p:nvSpPr>
        <p:spPr>
          <a:xfrm>
            <a:off x="1691640" y="2377440"/>
            <a:ext cx="0" cy="365760"/>
          </a:xfrm>
          <a:prstGeom prst="line">
            <a:avLst/>
          </a:prstGeom>
          <a:noFill/>
          <a:ln w="19050">
            <a:solidFill>
              <a:srgbClr val="00B4D8"/>
            </a:solidFill>
            <a:prstDash val="solid"/>
          </a:ln>
        </p:spPr>
      </p:sp>
      <p:sp>
        <p:nvSpPr>
          <p:cNvPr id="12" name="Shape 10"/>
          <p:cNvSpPr/>
          <p:nvPr/>
        </p:nvSpPr>
        <p:spPr>
          <a:xfrm>
            <a:off x="365760" y="2743200"/>
            <a:ext cx="2651760" cy="640080"/>
          </a:xfrm>
          <a:prstGeom prst="rect">
            <a:avLst/>
          </a:prstGeom>
          <a:solidFill>
            <a:srgbClr val="2D6A9F"/>
          </a:solidFill>
          <a:ln w="12700">
            <a:solidFill>
              <a:srgbClr val="2D6A9F"/>
            </a:solidFill>
            <a:prstDash val="solid"/>
          </a:ln>
        </p:spPr>
      </p:sp>
      <p:sp>
        <p:nvSpPr>
          <p:cNvPr id="13" name="Text 11"/>
          <p:cNvSpPr/>
          <p:nvPr/>
        </p:nvSpPr>
        <p:spPr>
          <a:xfrm>
            <a:off x="365760" y="2743200"/>
            <a:ext cx="2651760" cy="6400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Tail-based sampling</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(gateway tier)</a:t>
            </a:r>
            <a:endParaRPr lang="en-US" sz="1100" dirty="0"/>
          </a:p>
        </p:txBody>
      </p:sp>
      <p:sp>
        <p:nvSpPr>
          <p:cNvPr id="14" name="Shape 12"/>
          <p:cNvSpPr/>
          <p:nvPr/>
        </p:nvSpPr>
        <p:spPr>
          <a:xfrm>
            <a:off x="2743200" y="1143000"/>
            <a:ext cx="-1051560" cy="0"/>
          </a:xfrm>
          <a:prstGeom prst="line">
            <a:avLst/>
          </a:prstGeom>
          <a:noFill/>
          <a:ln w="19050">
            <a:solidFill>
              <a:srgbClr val="00B4D8"/>
            </a:solidFill>
            <a:prstDash val="solid"/>
          </a:ln>
        </p:spPr>
      </p:sp>
      <p:sp>
        <p:nvSpPr>
          <p:cNvPr id="15" name="Shape 13"/>
          <p:cNvSpPr/>
          <p:nvPr/>
        </p:nvSpPr>
        <p:spPr>
          <a:xfrm>
            <a:off x="1691640" y="1143000"/>
            <a:ext cx="0" cy="685800"/>
          </a:xfrm>
          <a:prstGeom prst="line">
            <a:avLst/>
          </a:prstGeom>
          <a:noFill/>
          <a:ln w="19050">
            <a:solidFill>
              <a:srgbClr val="00B4D8"/>
            </a:solidFill>
            <a:prstDash val="solid"/>
          </a:ln>
        </p:spPr>
      </p:sp>
      <p:sp>
        <p:nvSpPr>
          <p:cNvPr id="16" name="Shape 14"/>
          <p:cNvSpPr/>
          <p:nvPr/>
        </p:nvSpPr>
        <p:spPr>
          <a:xfrm>
            <a:off x="6035040" y="1417320"/>
            <a:ext cx="0" cy="365760"/>
          </a:xfrm>
          <a:prstGeom prst="line">
            <a:avLst/>
          </a:prstGeom>
          <a:noFill/>
          <a:ln w="19050">
            <a:solidFill>
              <a:srgbClr val="00B4D8"/>
            </a:solidFill>
            <a:prstDash val="solid"/>
          </a:ln>
        </p:spPr>
      </p:sp>
      <p:sp>
        <p:nvSpPr>
          <p:cNvPr id="17" name="Shape 15"/>
          <p:cNvSpPr/>
          <p:nvPr/>
        </p:nvSpPr>
        <p:spPr>
          <a:xfrm>
            <a:off x="5120640" y="1828800"/>
            <a:ext cx="2286000" cy="548640"/>
          </a:xfrm>
          <a:prstGeom prst="rect">
            <a:avLst/>
          </a:prstGeom>
          <a:solidFill>
            <a:srgbClr val="F8FAFC"/>
          </a:solidFill>
          <a:ln w="12700">
            <a:solidFill>
              <a:srgbClr val="2D6A9F"/>
            </a:solidFill>
            <a:prstDash val="solid"/>
          </a:ln>
        </p:spPr>
      </p:sp>
      <p:sp>
        <p:nvSpPr>
          <p:cNvPr id="18" name="Text 16"/>
          <p:cNvSpPr/>
          <p:nvPr/>
        </p:nvSpPr>
        <p:spPr>
          <a:xfrm>
            <a:off x="5120640" y="1828800"/>
            <a:ext cx="2286000" cy="548640"/>
          </a:xfrm>
          <a:prstGeom prst="rect">
            <a:avLst/>
          </a:prstGeom>
          <a:noFill/>
          <a:ln/>
        </p:spPr>
        <p:txBody>
          <a:bodyPr wrap="square" rtlCol="0" anchor="ctr"/>
          <a:lstStyle/>
          <a:p>
            <a:pPr algn="ctr" indent="0" marL="0">
              <a:buNone/>
            </a:pPr>
            <a:r>
              <a:rPr lang="en-US" sz="1100" dirty="0">
                <a:solidFill>
                  <a:srgbClr val="1E3A5F"/>
                </a:solidFill>
                <a:latin typeface="Calibri" pitchFamily="34" charset="0"/>
                <a:ea typeface="Calibri" pitchFamily="34" charset="-122"/>
                <a:cs typeface="Calibri" pitchFamily="34" charset="-120"/>
              </a:rPr>
              <a:t>Low volume</a:t>
            </a:r>
            <a:endParaRPr lang="en-US" sz="1100" dirty="0"/>
          </a:p>
          <a:p>
            <a:pPr algn="ctr" indent="0" marL="0">
              <a:buNone/>
            </a:pPr>
            <a:r>
              <a:rPr lang="en-US" sz="1100" dirty="0">
                <a:solidFill>
                  <a:srgbClr val="1E3A5F"/>
                </a:solidFill>
                <a:latin typeface="Calibri" pitchFamily="34" charset="0"/>
                <a:ea typeface="Calibri" pitchFamily="34" charset="-122"/>
                <a:cs typeface="Calibri" pitchFamily="34" charset="-120"/>
              </a:rPr>
              <a:t>or high retention cost</a:t>
            </a:r>
            <a:endParaRPr lang="en-US" sz="1100" dirty="0"/>
          </a:p>
        </p:txBody>
      </p:sp>
      <p:sp>
        <p:nvSpPr>
          <p:cNvPr id="19" name="Shape 17"/>
          <p:cNvSpPr/>
          <p:nvPr/>
        </p:nvSpPr>
        <p:spPr>
          <a:xfrm>
            <a:off x="6263640" y="2377440"/>
            <a:ext cx="0" cy="365760"/>
          </a:xfrm>
          <a:prstGeom prst="line">
            <a:avLst/>
          </a:prstGeom>
          <a:noFill/>
          <a:ln w="19050">
            <a:solidFill>
              <a:srgbClr val="00B4D8"/>
            </a:solidFill>
            <a:prstDash val="solid"/>
          </a:ln>
        </p:spPr>
      </p:sp>
      <p:sp>
        <p:nvSpPr>
          <p:cNvPr id="20" name="Shape 18"/>
          <p:cNvSpPr/>
          <p:nvPr/>
        </p:nvSpPr>
        <p:spPr>
          <a:xfrm>
            <a:off x="4937760" y="2743200"/>
            <a:ext cx="2651760" cy="640080"/>
          </a:xfrm>
          <a:prstGeom prst="rect">
            <a:avLst/>
          </a:prstGeom>
          <a:solidFill>
            <a:srgbClr val="00B4D8"/>
          </a:solidFill>
          <a:ln w="12700">
            <a:solidFill>
              <a:srgbClr val="00B4D8"/>
            </a:solidFill>
            <a:prstDash val="solid"/>
          </a:ln>
        </p:spPr>
      </p:sp>
      <p:sp>
        <p:nvSpPr>
          <p:cNvPr id="21" name="Text 19"/>
          <p:cNvSpPr/>
          <p:nvPr/>
        </p:nvSpPr>
        <p:spPr>
          <a:xfrm>
            <a:off x="4937760" y="2743200"/>
            <a:ext cx="2651760" cy="6400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Head-based sampling</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(agent tier)</a:t>
            </a:r>
            <a:endParaRPr lang="en-US" sz="1100" dirty="0"/>
          </a:p>
        </p:txBody>
      </p:sp>
      <p:sp>
        <p:nvSpPr>
          <p:cNvPr id="22" name="Shape 20"/>
          <p:cNvSpPr/>
          <p:nvPr/>
        </p:nvSpPr>
        <p:spPr>
          <a:xfrm>
            <a:off x="6035040" y="1143000"/>
            <a:ext cx="1143000" cy="0"/>
          </a:xfrm>
          <a:prstGeom prst="line">
            <a:avLst/>
          </a:prstGeom>
          <a:noFill/>
          <a:ln w="19050">
            <a:solidFill>
              <a:srgbClr val="00B4D8"/>
            </a:solidFill>
            <a:prstDash val="solid"/>
          </a:ln>
        </p:spPr>
      </p:sp>
      <p:sp>
        <p:nvSpPr>
          <p:cNvPr id="23" name="Shape 21"/>
          <p:cNvSpPr/>
          <p:nvPr/>
        </p:nvSpPr>
        <p:spPr>
          <a:xfrm>
            <a:off x="6263640" y="1143000"/>
            <a:ext cx="0" cy="685800"/>
          </a:xfrm>
          <a:prstGeom prst="line">
            <a:avLst/>
          </a:prstGeom>
          <a:noFill/>
          <a:ln w="19050">
            <a:solidFill>
              <a:srgbClr val="00B4D8"/>
            </a:solidFill>
            <a:prstDash val="solid"/>
          </a:ln>
        </p:spPr>
      </p:sp>
      <p:sp>
        <p:nvSpPr>
          <p:cNvPr id="24" name="Shape 22"/>
          <p:cNvSpPr/>
          <p:nvPr/>
        </p:nvSpPr>
        <p:spPr>
          <a:xfrm>
            <a:off x="365760" y="3657600"/>
            <a:ext cx="8412480" cy="210312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25" name="Shape 23"/>
          <p:cNvSpPr/>
          <p:nvPr/>
        </p:nvSpPr>
        <p:spPr>
          <a:xfrm>
            <a:off x="365760" y="3657600"/>
            <a:ext cx="54864" cy="2103120"/>
          </a:xfrm>
          <a:prstGeom prst="rect">
            <a:avLst/>
          </a:prstGeom>
          <a:solidFill>
            <a:srgbClr val="D97706"/>
          </a:solidFill>
          <a:ln w="12700">
            <a:solidFill>
              <a:srgbClr val="D97706"/>
            </a:solidFill>
            <a:prstDash val="solid"/>
          </a:ln>
        </p:spPr>
      </p:sp>
      <p:sp>
        <p:nvSpPr>
          <p:cNvPr id="26" name="Text 24"/>
          <p:cNvSpPr/>
          <p:nvPr/>
        </p:nvSpPr>
        <p:spPr>
          <a:xfrm>
            <a:off x="502920" y="3749040"/>
            <a:ext cx="818388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Our decision — and the trap:</a:t>
            </a:r>
            <a:endParaRPr lang="en-US" sz="1300" dirty="0"/>
          </a:p>
        </p:txBody>
      </p:sp>
      <p:sp>
        <p:nvSpPr>
          <p:cNvPr id="27" name="Text 25"/>
          <p:cNvSpPr/>
          <p:nvPr/>
        </p:nvSpPr>
        <p:spPr>
          <a:xfrm>
            <a:off x="502920" y="4041648"/>
            <a:ext cx="8183880" cy="1627632"/>
          </a:xfrm>
          <a:prstGeom prst="rect">
            <a:avLst/>
          </a:prstGeom>
          <a:noFill/>
          <a:ln/>
        </p:spPr>
        <p:txBody>
          <a:bodyPr wrap="square" rtlCol="0" anchor="t"/>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We use BOTH: head-based (10%) at agent + tail-based (keep errors/slow) at gateway</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Tail-based sampling requires all spans of a trace to hit the SAME gateway instance</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This pins your gateway scaling strategy — sticky routing, not round-robin</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If a gateway instance restarts, you lose partial traces for ~30 sec</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The decision: tail sampling is worth it for the error coverage. But plan the scaling model first.</a:t>
            </a:r>
            <a:endParaRPr lang="en-US" sz="1100" dirty="0"/>
          </a:p>
        </p:txBody>
      </p:sp>
      <p:sp>
        <p:nvSpPr>
          <p:cNvPr id="28" name="Shape 26"/>
          <p:cNvSpPr/>
          <p:nvPr/>
        </p:nvSpPr>
        <p:spPr>
          <a:xfrm>
            <a:off x="0" y="6583680"/>
            <a:ext cx="12192000" cy="274320"/>
          </a:xfrm>
          <a:prstGeom prst="rect">
            <a:avLst/>
          </a:prstGeom>
          <a:solidFill>
            <a:srgbClr val="1B2A4A"/>
          </a:solidFill>
          <a:ln w="12700">
            <a:solidFill>
              <a:srgbClr val="1B2A4A"/>
            </a:solidFill>
            <a:prstDash val="solid"/>
          </a:ln>
        </p:spPr>
      </p:sp>
      <p:sp>
        <p:nvSpPr>
          <p:cNvPr id="29" name="Text 27"/>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4 — THE THREE TRAPS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400" b="1" dirty="0">
                <a:solidFill>
                  <a:srgbClr val="1E3A5F"/>
                </a:solidFill>
                <a:latin typeface="Calibri" pitchFamily="34" charset="0"/>
                <a:ea typeface="Calibri" pitchFamily="34" charset="-122"/>
                <a:cs typeface="Calibri" pitchFamily="34" charset="-120"/>
              </a:rPr>
              <a:t>Trap 3: The alerting rewrite is 30% of your work</a:t>
            </a:r>
            <a:endParaRPr lang="en-US" sz="2400" dirty="0"/>
          </a:p>
        </p:txBody>
      </p:sp>
      <p:sp>
        <p:nvSpPr>
          <p:cNvPr id="5" name="Text 3"/>
          <p:cNvSpPr/>
          <p:nvPr/>
        </p:nvSpPr>
        <p:spPr>
          <a:xfrm>
            <a:off x="365760" y="914400"/>
            <a:ext cx="2560320" cy="822960"/>
          </a:xfrm>
          <a:prstGeom prst="rect">
            <a:avLst/>
          </a:prstGeom>
          <a:noFill/>
          <a:ln/>
        </p:spPr>
        <p:txBody>
          <a:bodyPr wrap="square" rtlCol="0" anchor="ctr"/>
          <a:lstStyle/>
          <a:p>
            <a:pPr algn="ctr" indent="0" marL="0">
              <a:buNone/>
            </a:pPr>
            <a:r>
              <a:rPr lang="en-US" sz="5400" b="1" dirty="0">
                <a:solidFill>
                  <a:srgbClr val="DC3545"/>
                </a:solidFill>
                <a:latin typeface="Calibri" pitchFamily="34" charset="0"/>
                <a:ea typeface="Calibri" pitchFamily="34" charset="-122"/>
                <a:cs typeface="Calibri" pitchFamily="34" charset="-120"/>
              </a:rPr>
              <a:t>120</a:t>
            </a:r>
            <a:endParaRPr lang="en-US" sz="5400" dirty="0"/>
          </a:p>
        </p:txBody>
      </p:sp>
      <p:sp>
        <p:nvSpPr>
          <p:cNvPr id="6" name="Text 4"/>
          <p:cNvSpPr/>
          <p:nvPr/>
        </p:nvSpPr>
        <p:spPr>
          <a:xfrm>
            <a:off x="365760" y="1691640"/>
            <a:ext cx="2560320" cy="320040"/>
          </a:xfrm>
          <a:prstGeom prst="rect">
            <a:avLst/>
          </a:prstGeom>
          <a:noFill/>
          <a:ln/>
        </p:spPr>
        <p:txBody>
          <a:bodyPr wrap="square" rtlCol="0" anchor="ctr"/>
          <a:lstStyle/>
          <a:p>
            <a:pPr algn="ctr" indent="0" marL="0">
              <a:buNone/>
            </a:pPr>
            <a:r>
              <a:rPr lang="en-US" sz="1300" b="1" dirty="0">
                <a:solidFill>
                  <a:srgbClr val="2D6A9F"/>
                </a:solidFill>
                <a:latin typeface="Calibri" pitchFamily="34" charset="0"/>
                <a:ea typeface="Calibri" pitchFamily="34" charset="-122"/>
                <a:cs typeface="Calibri" pitchFamily="34" charset="-120"/>
              </a:rPr>
              <a:t>alert rules rewritten</a:t>
            </a:r>
            <a:endParaRPr lang="en-US" sz="1300" dirty="0"/>
          </a:p>
        </p:txBody>
      </p:sp>
      <p:sp>
        <p:nvSpPr>
          <p:cNvPr id="7" name="Text 5"/>
          <p:cNvSpPr/>
          <p:nvPr/>
        </p:nvSpPr>
        <p:spPr>
          <a:xfrm>
            <a:off x="365760" y="2029968"/>
            <a:ext cx="2560320" cy="365760"/>
          </a:xfrm>
          <a:prstGeom prst="rect">
            <a:avLst/>
          </a:prstGeom>
          <a:noFill/>
          <a:ln/>
        </p:spPr>
        <p:txBody>
          <a:bodyPr wrap="square" rtlCol="0" anchor="ctr"/>
          <a:lstStyle/>
          <a:p>
            <a:pPr algn="ctr" indent="0" marL="0">
              <a:buNone/>
            </a:pPr>
            <a:r>
              <a:rPr lang="en-US" sz="1000" i="1" dirty="0">
                <a:solidFill>
                  <a:srgbClr val="1E3A5F"/>
                </a:solidFill>
                <a:latin typeface="Calibri" pitchFamily="34" charset="0"/>
                <a:ea typeface="Calibri" pitchFamily="34" charset="-122"/>
                <a:cs typeface="Calibri" pitchFamily="34" charset="-120"/>
              </a:rPr>
              <a:t>Datadog monitors → PromQL</a:t>
            </a:r>
            <a:endParaRPr lang="en-US" sz="1000" dirty="0"/>
          </a:p>
        </p:txBody>
      </p:sp>
      <p:sp>
        <p:nvSpPr>
          <p:cNvPr id="8" name="Text 6"/>
          <p:cNvSpPr/>
          <p:nvPr/>
        </p:nvSpPr>
        <p:spPr>
          <a:xfrm>
            <a:off x="3200400" y="914400"/>
            <a:ext cx="2560320" cy="822960"/>
          </a:xfrm>
          <a:prstGeom prst="rect">
            <a:avLst/>
          </a:prstGeom>
          <a:noFill/>
          <a:ln/>
        </p:spPr>
        <p:txBody>
          <a:bodyPr wrap="square" rtlCol="0" anchor="ctr"/>
          <a:lstStyle/>
          <a:p>
            <a:pPr algn="ctr" indent="0" marL="0">
              <a:buNone/>
            </a:pPr>
            <a:r>
              <a:rPr lang="en-US" sz="5400" b="1" dirty="0">
                <a:solidFill>
                  <a:srgbClr val="D97706"/>
                </a:solidFill>
                <a:latin typeface="Calibri" pitchFamily="34" charset="0"/>
                <a:ea typeface="Calibri" pitchFamily="34" charset="-122"/>
                <a:cs typeface="Calibri" pitchFamily="34" charset="-120"/>
              </a:rPr>
              <a:t>15</a:t>
            </a:r>
            <a:endParaRPr lang="en-US" sz="5400" dirty="0"/>
          </a:p>
        </p:txBody>
      </p:sp>
      <p:sp>
        <p:nvSpPr>
          <p:cNvPr id="9" name="Text 7"/>
          <p:cNvSpPr/>
          <p:nvPr/>
        </p:nvSpPr>
        <p:spPr>
          <a:xfrm>
            <a:off x="3200400" y="1691640"/>
            <a:ext cx="2560320" cy="320040"/>
          </a:xfrm>
          <a:prstGeom prst="rect">
            <a:avLst/>
          </a:prstGeom>
          <a:noFill/>
          <a:ln/>
        </p:spPr>
        <p:txBody>
          <a:bodyPr wrap="square" rtlCol="0" anchor="ctr"/>
          <a:lstStyle/>
          <a:p>
            <a:pPr algn="ctr" indent="0" marL="0">
              <a:buNone/>
            </a:pPr>
            <a:r>
              <a:rPr lang="en-US" sz="1300" b="1" dirty="0">
                <a:solidFill>
                  <a:srgbClr val="2D6A9F"/>
                </a:solidFill>
                <a:latin typeface="Calibri" pitchFamily="34" charset="0"/>
                <a:ea typeface="Calibri" pitchFamily="34" charset="-122"/>
                <a:cs typeface="Calibri" pitchFamily="34" charset="-120"/>
              </a:rPr>
              <a:t>wrong in staging</a:t>
            </a:r>
            <a:endParaRPr lang="en-US" sz="1300" dirty="0"/>
          </a:p>
        </p:txBody>
      </p:sp>
      <p:sp>
        <p:nvSpPr>
          <p:cNvPr id="10" name="Text 8"/>
          <p:cNvSpPr/>
          <p:nvPr/>
        </p:nvSpPr>
        <p:spPr>
          <a:xfrm>
            <a:off x="3200400" y="2029968"/>
            <a:ext cx="2560320" cy="365760"/>
          </a:xfrm>
          <a:prstGeom prst="rect">
            <a:avLst/>
          </a:prstGeom>
          <a:noFill/>
          <a:ln/>
        </p:spPr>
        <p:txBody>
          <a:bodyPr wrap="square" rtlCol="0" anchor="ctr"/>
          <a:lstStyle/>
          <a:p>
            <a:pPr algn="ctr" indent="0" marL="0">
              <a:buNone/>
            </a:pPr>
            <a:r>
              <a:rPr lang="en-US" sz="1000" i="1" dirty="0">
                <a:solidFill>
                  <a:srgbClr val="1E3A5F"/>
                </a:solidFill>
                <a:latin typeface="Calibri" pitchFamily="34" charset="0"/>
                <a:ea typeface="Calibri" pitchFamily="34" charset="-122"/>
                <a:cs typeface="Calibri" pitchFamily="34" charset="-120"/>
              </a:rPr>
              <a:t>~13% behavioral drift</a:t>
            </a:r>
            <a:endParaRPr lang="en-US" sz="1000" dirty="0"/>
          </a:p>
        </p:txBody>
      </p:sp>
      <p:sp>
        <p:nvSpPr>
          <p:cNvPr id="11" name="Text 9"/>
          <p:cNvSpPr/>
          <p:nvPr/>
        </p:nvSpPr>
        <p:spPr>
          <a:xfrm>
            <a:off x="6035040" y="914400"/>
            <a:ext cx="2560320" cy="822960"/>
          </a:xfrm>
          <a:prstGeom prst="rect">
            <a:avLst/>
          </a:prstGeom>
          <a:noFill/>
          <a:ln/>
        </p:spPr>
        <p:txBody>
          <a:bodyPr wrap="square" rtlCol="0" anchor="ctr"/>
          <a:lstStyle/>
          <a:p>
            <a:pPr algn="ctr" indent="0" marL="0">
              <a:buNone/>
            </a:pPr>
            <a:r>
              <a:rPr lang="en-US" sz="5400" b="1" dirty="0">
                <a:solidFill>
                  <a:srgbClr val="DC3545"/>
                </a:solidFill>
                <a:latin typeface="Calibri" pitchFamily="34" charset="0"/>
                <a:ea typeface="Calibri" pitchFamily="34" charset="-122"/>
                <a:cs typeface="Calibri" pitchFamily="34" charset="-120"/>
              </a:rPr>
              <a:t>8 wk</a:t>
            </a:r>
            <a:endParaRPr lang="en-US" sz="5400" dirty="0"/>
          </a:p>
        </p:txBody>
      </p:sp>
      <p:sp>
        <p:nvSpPr>
          <p:cNvPr id="12" name="Text 10"/>
          <p:cNvSpPr/>
          <p:nvPr/>
        </p:nvSpPr>
        <p:spPr>
          <a:xfrm>
            <a:off x="6035040" y="1691640"/>
            <a:ext cx="2560320" cy="320040"/>
          </a:xfrm>
          <a:prstGeom prst="rect">
            <a:avLst/>
          </a:prstGeom>
          <a:noFill/>
          <a:ln/>
        </p:spPr>
        <p:txBody>
          <a:bodyPr wrap="square" rtlCol="0" anchor="ctr"/>
          <a:lstStyle/>
          <a:p>
            <a:pPr algn="ctr" indent="0" marL="0">
              <a:buNone/>
            </a:pPr>
            <a:r>
              <a:rPr lang="en-US" sz="1300" b="1" dirty="0">
                <a:solidFill>
                  <a:srgbClr val="2D6A9F"/>
                </a:solidFill>
                <a:latin typeface="Calibri" pitchFamily="34" charset="0"/>
                <a:ea typeface="Calibri" pitchFamily="34" charset="-122"/>
                <a:cs typeface="Calibri" pitchFamily="34" charset="-120"/>
              </a:rPr>
              <a:t>actual effort</a:t>
            </a:r>
            <a:endParaRPr lang="en-US" sz="1300" dirty="0"/>
          </a:p>
        </p:txBody>
      </p:sp>
      <p:sp>
        <p:nvSpPr>
          <p:cNvPr id="13" name="Text 11"/>
          <p:cNvSpPr/>
          <p:nvPr/>
        </p:nvSpPr>
        <p:spPr>
          <a:xfrm>
            <a:off x="6035040" y="2029968"/>
            <a:ext cx="2560320" cy="365760"/>
          </a:xfrm>
          <a:prstGeom prst="rect">
            <a:avLst/>
          </a:prstGeom>
          <a:noFill/>
          <a:ln/>
        </p:spPr>
        <p:txBody>
          <a:bodyPr wrap="square" rtlCol="0" anchor="ctr"/>
          <a:lstStyle/>
          <a:p>
            <a:pPr algn="ctr" indent="0" marL="0">
              <a:buNone/>
            </a:pPr>
            <a:r>
              <a:rPr lang="en-US" sz="1000" i="1" dirty="0">
                <a:solidFill>
                  <a:srgbClr val="1E3A5F"/>
                </a:solidFill>
                <a:latin typeface="Calibri" pitchFamily="34" charset="0"/>
                <a:ea typeface="Calibri" pitchFamily="34" charset="-122"/>
                <a:cs typeface="Calibri" pitchFamily="34" charset="-120"/>
              </a:rPr>
              <a:t>Planned: 3 days</a:t>
            </a:r>
            <a:endParaRPr lang="en-US" sz="1000" dirty="0"/>
          </a:p>
        </p:txBody>
      </p:sp>
      <p:sp>
        <p:nvSpPr>
          <p:cNvPr id="14" name="Shape 12"/>
          <p:cNvSpPr/>
          <p:nvPr/>
        </p:nvSpPr>
        <p:spPr>
          <a:xfrm>
            <a:off x="365760" y="2651760"/>
            <a:ext cx="8412480" cy="338328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15" name="Shape 13"/>
          <p:cNvSpPr/>
          <p:nvPr/>
        </p:nvSpPr>
        <p:spPr>
          <a:xfrm>
            <a:off x="365760" y="2651760"/>
            <a:ext cx="54864" cy="3383280"/>
          </a:xfrm>
          <a:prstGeom prst="rect">
            <a:avLst/>
          </a:prstGeom>
          <a:solidFill>
            <a:srgbClr val="DC3545"/>
          </a:solidFill>
          <a:ln w="12700">
            <a:solidFill>
              <a:srgbClr val="DC3545"/>
            </a:solidFill>
            <a:prstDash val="solid"/>
          </a:ln>
        </p:spPr>
      </p:sp>
      <p:sp>
        <p:nvSpPr>
          <p:cNvPr id="16" name="Text 14"/>
          <p:cNvSpPr/>
          <p:nvPr/>
        </p:nvSpPr>
        <p:spPr>
          <a:xfrm>
            <a:off x="502920" y="2743200"/>
            <a:ext cx="818388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What triggers a full rewrite (not just a port):</a:t>
            </a:r>
            <a:endParaRPr lang="en-US" sz="1300" dirty="0"/>
          </a:p>
        </p:txBody>
      </p:sp>
      <p:sp>
        <p:nvSpPr>
          <p:cNvPr id="17" name="Text 15"/>
          <p:cNvSpPr/>
          <p:nvPr/>
        </p:nvSpPr>
        <p:spPr>
          <a:xfrm>
            <a:off x="502920" y="3035808"/>
            <a:ext cx="8183880" cy="2907792"/>
          </a:xfrm>
          <a:prstGeom prst="rect">
            <a:avLst/>
          </a:prstGeom>
          <a:noFill/>
          <a:ln/>
        </p:spPr>
        <p:txBody>
          <a:bodyPr wrap="square" rtlCol="0" anchor="t"/>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"No data" behavior: Datadog alerts on missing data differently than Prometheus (absent() vs. default value)</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"As count" vs. "as rate": Datadog monitors can toggle this; PromQL has distinct functions (increase() vs. rate())</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Threshold recovery: Datadog has configurable recovery thresholds; Prometheus uses "for" duration</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Multi-condition monitors: Datadog "AND" conditions require separate recording rules in Prometheus</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The semantic test: rerun every alert against 2 weeks of production data and verify it would have fired when it should have</a:t>
            </a:r>
            <a:endParaRPr lang="en-US" sz="1100" dirty="0"/>
          </a:p>
        </p:txBody>
      </p:sp>
      <p:sp>
        <p:nvSpPr>
          <p:cNvPr id="18" name="Shape 16"/>
          <p:cNvSpPr/>
          <p:nvPr/>
        </p:nvSpPr>
        <p:spPr>
          <a:xfrm>
            <a:off x="0" y="6583680"/>
            <a:ext cx="12192000" cy="274320"/>
          </a:xfrm>
          <a:prstGeom prst="rect">
            <a:avLst/>
          </a:prstGeom>
          <a:solidFill>
            <a:srgbClr val="1B2A4A"/>
          </a:solidFill>
          <a:ln w="12700">
            <a:solidFill>
              <a:srgbClr val="1B2A4A"/>
            </a:solidFill>
            <a:prstDash val="solid"/>
          </a:ln>
        </p:spPr>
      </p:sp>
      <p:sp>
        <p:nvSpPr>
          <p:cNvPr id="19" name="Text 17"/>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4 — THE THREE TRAPS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600" b="1" dirty="0">
                <a:solidFill>
                  <a:srgbClr val="1E3A5F"/>
                </a:solidFill>
                <a:latin typeface="Calibri" pitchFamily="34" charset="0"/>
                <a:ea typeface="Calibri" pitchFamily="34" charset="-122"/>
                <a:cs typeface="Calibri" pitchFamily="34" charset="-120"/>
              </a:rPr>
              <a:t>The synthesized lesson</a:t>
            </a:r>
            <a:endParaRPr lang="en-US" sz="2600" dirty="0"/>
          </a:p>
        </p:txBody>
      </p:sp>
      <p:sp>
        <p:nvSpPr>
          <p:cNvPr id="5" name="Shape 3"/>
          <p:cNvSpPr/>
          <p:nvPr/>
        </p:nvSpPr>
        <p:spPr>
          <a:xfrm>
            <a:off x="365760" y="914400"/>
            <a:ext cx="8412480" cy="2377440"/>
          </a:xfrm>
          <a:prstGeom prst="rect">
            <a:avLst/>
          </a:prstGeom>
          <a:solidFill>
            <a:srgbClr val="1B2A4A"/>
          </a:solidFill>
          <a:ln w="12700">
            <a:solidFill>
              <a:srgbClr val="1B2A4A"/>
            </a:solidFill>
            <a:prstDash val="solid"/>
          </a:ln>
        </p:spPr>
      </p:sp>
      <p:sp>
        <p:nvSpPr>
          <p:cNvPr id="6" name="Text 4"/>
          <p:cNvSpPr/>
          <p:nvPr/>
        </p:nvSpPr>
        <p:spPr>
          <a:xfrm>
            <a:off x="457200" y="914400"/>
            <a:ext cx="8229600" cy="2377440"/>
          </a:xfrm>
          <a:prstGeom prst="rect">
            <a:avLst/>
          </a:prstGeom>
          <a:noFill/>
          <a:ln/>
          <a:effectLst>
            <a:outerShdw sx="100000" sy="100000" kx="0" ky="0" algn="bl" rotWithShape="0" blurRad="76200" dist="38100" dir="2700000">
              <a:srgbClr val="00000040">
                <a:alpha val="25000"/>
              </a:srgbClr>
            </a:outerShdw>
          </a:effectLst>
        </p:spPr>
        <p:txBody>
          <a:bodyPr wrap="square" rtlCol="0" anchor="ctr"/>
          <a:lstStyle/>
          <a:p>
            <a:pPr algn="ctr" indent="0" marL="0">
              <a:buNone/>
            </a:pPr>
            <a:r>
              <a:rPr lang="en-US" sz="3000" b="1" dirty="0">
                <a:solidFill>
                  <a:srgbClr val="E8F4FD"/>
                </a:solidFill>
                <a:latin typeface="Calibri" pitchFamily="34" charset="0"/>
                <a:ea typeface="Calibri" pitchFamily="34" charset="-122"/>
                <a:cs typeface="Calibri" pitchFamily="34" charset="-120"/>
              </a:rPr>
              <a:t>"OTel doesn't eliminate</a:t>
            </a:r>
            <a:endParaRPr lang="en-US" sz="3000" dirty="0"/>
          </a:p>
          <a:p>
            <a:pPr algn="ctr" indent="0" marL="0">
              <a:buNone/>
            </a:pPr>
            <a:r>
              <a:rPr lang="en-US" sz="3000" b="1" dirty="0">
                <a:solidFill>
                  <a:srgbClr val="E8F4FD"/>
                </a:solidFill>
                <a:latin typeface="Calibri" pitchFamily="34" charset="0"/>
                <a:ea typeface="Calibri" pitchFamily="34" charset="-122"/>
                <a:cs typeface="Calibri" pitchFamily="34" charset="-120"/>
              </a:rPr>
              <a:t>observability debt —</a:t>
            </a:r>
            <a:endParaRPr lang="en-US" sz="3000" dirty="0"/>
          </a:p>
          <a:p>
            <a:pPr algn="ctr" indent="0" marL="0">
              <a:buNone/>
            </a:pPr>
            <a:r>
              <a:rPr lang="en-US" sz="3000" b="1" dirty="0">
                <a:solidFill>
                  <a:srgbClr val="E8F4FD"/>
                </a:solidFill>
                <a:latin typeface="Calibri" pitchFamily="34" charset="0"/>
                <a:ea typeface="Calibri" pitchFamily="34" charset="-122"/>
                <a:cs typeface="Calibri" pitchFamily="34" charset="-120"/>
              </a:rPr>
              <a:t>it moves it."</a:t>
            </a:r>
            <a:endParaRPr lang="en-US" sz="3000" dirty="0"/>
          </a:p>
        </p:txBody>
      </p:sp>
      <p:sp>
        <p:nvSpPr>
          <p:cNvPr id="7" name="Text 5"/>
          <p:cNvSpPr/>
          <p:nvPr/>
        </p:nvSpPr>
        <p:spPr>
          <a:xfrm>
            <a:off x="365760" y="3429000"/>
            <a:ext cx="8412480" cy="457200"/>
          </a:xfrm>
          <a:prstGeom prst="rect">
            <a:avLst/>
          </a:prstGeom>
          <a:noFill/>
          <a:ln/>
        </p:spPr>
        <p:txBody>
          <a:bodyPr wrap="square" rtlCol="0" anchor="ctr"/>
          <a:lstStyle/>
          <a:p>
            <a:pPr algn="ctr" indent="0" marL="0">
              <a:buNone/>
            </a:pPr>
            <a:r>
              <a:rPr lang="en-US" sz="1600" dirty="0">
                <a:solidFill>
                  <a:srgbClr val="2D6A9F"/>
                </a:solidFill>
                <a:latin typeface="Calibri" pitchFamily="34" charset="0"/>
                <a:ea typeface="Calibri" pitchFamily="34" charset="-122"/>
                <a:cs typeface="Calibri" pitchFamily="34" charset="-120"/>
              </a:rPr>
              <a:t>From your vendor's invoice   →   To your platform team's capacity</a:t>
            </a:r>
            <a:endParaRPr lang="en-US" sz="1600" dirty="0"/>
          </a:p>
        </p:txBody>
      </p:sp>
      <p:sp>
        <p:nvSpPr>
          <p:cNvPr id="8" name="Shape 6"/>
          <p:cNvSpPr/>
          <p:nvPr/>
        </p:nvSpPr>
        <p:spPr>
          <a:xfrm>
            <a:off x="365760" y="4023360"/>
            <a:ext cx="8412480" cy="192024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9" name="Shape 7"/>
          <p:cNvSpPr/>
          <p:nvPr/>
        </p:nvSpPr>
        <p:spPr>
          <a:xfrm>
            <a:off x="365760" y="4023360"/>
            <a:ext cx="54864" cy="1920240"/>
          </a:xfrm>
          <a:prstGeom prst="rect">
            <a:avLst/>
          </a:prstGeom>
          <a:solidFill>
            <a:srgbClr val="00B4D8"/>
          </a:solidFill>
          <a:ln w="12700">
            <a:solidFill>
              <a:srgbClr val="00B4D8"/>
            </a:solidFill>
            <a:prstDash val="solid"/>
          </a:ln>
        </p:spPr>
      </p:sp>
      <p:sp>
        <p:nvSpPr>
          <p:cNvPr id="10" name="Text 8"/>
          <p:cNvSpPr/>
          <p:nvPr/>
        </p:nvSpPr>
        <p:spPr>
          <a:xfrm>
            <a:off x="502920" y="4114800"/>
            <a:ext cx="818388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What this means for your migration:</a:t>
            </a:r>
            <a:endParaRPr lang="en-US" sz="1300" dirty="0"/>
          </a:p>
        </p:txBody>
      </p:sp>
      <p:sp>
        <p:nvSpPr>
          <p:cNvPr id="11" name="Text 9"/>
          <p:cNvSpPr/>
          <p:nvPr/>
        </p:nvSpPr>
        <p:spPr>
          <a:xfrm>
            <a:off x="502920" y="4407408"/>
            <a:ext cx="8183880" cy="1444752"/>
          </a:xfrm>
          <a:prstGeom prst="rect">
            <a:avLst/>
          </a:prstGeom>
          <a:noFill/>
          <a:ln/>
        </p:spPr>
        <p:txBody>
          <a:bodyPr wrap="square" rtlCol="0" anchor="t"/>
          <a:lstStyle/>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Cardinality discipline is still required — just in compute terms, not billing terms</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Sampling architecture needs a decision before you write a line of config, not after it breaks</a:t>
            </a:r>
            <a:pPr indent="0" marL="0">
              <a:buNone/>
            </a:pPr>
            <a:endParaRPr lang="en-US" sz="1200" dirty="0"/>
          </a:p>
          <a:p>
            <a:pPr marL="342900" indent="-342900">
              <a:buSzPct val="100000"/>
              <a:buChar char="•"/>
            </a:pPr>
            <a:r>
              <a:rPr lang="en-US" sz="1200" dirty="0">
                <a:solidFill>
                  <a:srgbClr val="1E3A5F"/>
                </a:solidFill>
                <a:latin typeface="Calibri" pitchFamily="34" charset="0"/>
                <a:ea typeface="Calibri" pitchFamily="34" charset="-122"/>
                <a:cs typeface="Calibri" pitchFamily="34" charset="-120"/>
              </a:rPr>
              <a:t>Alerting rewrite is 30% of the work — plan for it like a project, not a task</a:t>
            </a:r>
            <a:endParaRPr lang="en-US" sz="1200" dirty="0"/>
          </a:p>
        </p:txBody>
      </p:sp>
      <p:sp>
        <p:nvSpPr>
          <p:cNvPr id="12" name="Shape 10"/>
          <p:cNvSpPr/>
          <p:nvPr/>
        </p:nvSpPr>
        <p:spPr>
          <a:xfrm>
            <a:off x="0" y="6583680"/>
            <a:ext cx="12192000" cy="274320"/>
          </a:xfrm>
          <a:prstGeom prst="rect">
            <a:avLst/>
          </a:prstGeom>
          <a:solidFill>
            <a:srgbClr val="1B2A4A"/>
          </a:solidFill>
          <a:ln w="12700">
            <a:solidFill>
              <a:srgbClr val="1B2A4A"/>
            </a:solidFill>
            <a:prstDash val="solid"/>
          </a:ln>
        </p:spPr>
      </p:sp>
      <p:sp>
        <p:nvSpPr>
          <p:cNvPr id="13" name="Text 11"/>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4 — THE THREE TRAPS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2A4A"/>
          </a:solidFill>
          <a:ln w="12700">
            <a:solidFill>
              <a:srgbClr val="1B2A4A"/>
            </a:solidFill>
            <a:prstDash val="solid"/>
          </a:ln>
        </p:spPr>
      </p:sp>
      <p:sp>
        <p:nvSpPr>
          <p:cNvPr id="3" name="Text 1"/>
          <p:cNvSpPr/>
          <p:nvPr/>
        </p:nvSpPr>
        <p:spPr>
          <a:xfrm>
            <a:off x="365760" y="274320"/>
            <a:ext cx="1645920" cy="320040"/>
          </a:xfrm>
          <a:prstGeom prst="rect">
            <a:avLst/>
          </a:prstGeom>
          <a:noFill/>
          <a:ln/>
        </p:spPr>
        <p:txBody>
          <a:bodyPr wrap="square" rtlCol="0" anchor="ctr"/>
          <a:lstStyle/>
          <a:p>
            <a:pPr algn="l" indent="0" marL="0">
              <a:buNone/>
            </a:pPr>
            <a:r>
              <a:rPr lang="en-US" sz="1100" b="1" dirty="0">
                <a:solidFill>
                  <a:srgbClr val="00B4D8"/>
                </a:solidFill>
                <a:latin typeface="Calibri" pitchFamily="34" charset="0"/>
                <a:ea typeface="Calibri" pitchFamily="34" charset="-122"/>
                <a:cs typeface="Calibri" pitchFamily="34" charset="-120"/>
              </a:rPr>
              <a:t>SECTION 5</a:t>
            </a:r>
            <a:endParaRPr lang="en-US" sz="1100" dirty="0"/>
          </a:p>
        </p:txBody>
      </p:sp>
      <p:sp>
        <p:nvSpPr>
          <p:cNvPr id="4" name="Text 2"/>
          <p:cNvSpPr/>
          <p:nvPr/>
        </p:nvSpPr>
        <p:spPr>
          <a:xfrm>
            <a:off x="365760" y="2560320"/>
            <a:ext cx="8229600" cy="1645920"/>
          </a:xfrm>
          <a:prstGeom prst="rect">
            <a:avLst/>
          </a:prstGeom>
          <a:noFill/>
          <a:ln/>
          <a:effectLst>
            <a:outerShdw sx="100000" sy="100000" kx="0" ky="0" algn="bl" rotWithShape="0" blurRad="76200" dist="38100" dir="2700000">
              <a:srgbClr val="00000040">
                <a:alpha val="25000"/>
              </a:srgbClr>
            </a:outerShdw>
          </a:effectLst>
        </p:spPr>
        <p:txBody>
          <a:bodyPr wrap="square" rtlCol="0" anchor="ctr"/>
          <a:lstStyle/>
          <a:p>
            <a:pPr algn="l" indent="0" marL="0">
              <a:buNone/>
            </a:pPr>
            <a:r>
              <a:rPr lang="en-US" sz="4000" b="1" dirty="0">
                <a:solidFill>
                  <a:srgbClr val="E8F4FD"/>
                </a:solidFill>
                <a:latin typeface="Calibri" pitchFamily="34" charset="0"/>
                <a:ea typeface="Calibri" pitchFamily="34" charset="-122"/>
                <a:cs typeface="Calibri" pitchFamily="34" charset="-120"/>
              </a:rPr>
              <a:t>What we'd do differently</a:t>
            </a:r>
            <a:endParaRPr lang="en-US" sz="4000" dirty="0"/>
          </a:p>
        </p:txBody>
      </p:sp>
      <p:sp>
        <p:nvSpPr>
          <p:cNvPr id="5" name="Text 3"/>
          <p:cNvSpPr/>
          <p:nvPr/>
        </p:nvSpPr>
        <p:spPr>
          <a:xfrm>
            <a:off x="365760" y="4297680"/>
            <a:ext cx="8229600" cy="457200"/>
          </a:xfrm>
          <a:prstGeom prst="rect">
            <a:avLst/>
          </a:prstGeom>
          <a:noFill/>
          <a:ln/>
        </p:spPr>
        <p:txBody>
          <a:bodyPr wrap="square" rtlCol="0" anchor="ctr"/>
          <a:lstStyle/>
          <a:p>
            <a:pPr algn="l" indent="0" marL="0">
              <a:buNone/>
            </a:pPr>
            <a:r>
              <a:rPr lang="en-US" sz="1800" dirty="0">
                <a:solidFill>
                  <a:srgbClr val="00B4D8"/>
                </a:solidFill>
                <a:latin typeface="Calibri" pitchFamily="34" charset="0"/>
                <a:ea typeface="Calibri" pitchFamily="34" charset="-122"/>
                <a:cs typeface="Calibri" pitchFamily="34" charset="-120"/>
              </a:rPr>
              <a:t>Three things to steal. Two things to avoid.</a:t>
            </a:r>
            <a:endParaRPr lang="en-US" sz="1800" dirty="0"/>
          </a:p>
        </p:txBody>
      </p:sp>
      <p:sp>
        <p:nvSpPr>
          <p:cNvPr id="6" name="Shape 4"/>
          <p:cNvSpPr/>
          <p:nvPr/>
        </p:nvSpPr>
        <p:spPr>
          <a:xfrm>
            <a:off x="7406640" y="6400800"/>
            <a:ext cx="109728" cy="109728"/>
          </a:xfrm>
          <a:prstGeom prst="ellipse">
            <a:avLst/>
          </a:prstGeom>
          <a:solidFill>
            <a:srgbClr val="2D6A9F"/>
          </a:solidFill>
          <a:ln w="12700">
            <a:solidFill>
              <a:srgbClr val="2D6A9F"/>
            </a:solidFill>
            <a:prstDash val="solid"/>
          </a:ln>
        </p:spPr>
      </p:sp>
      <p:sp>
        <p:nvSpPr>
          <p:cNvPr id="7" name="Shape 5"/>
          <p:cNvSpPr/>
          <p:nvPr/>
        </p:nvSpPr>
        <p:spPr>
          <a:xfrm>
            <a:off x="7607808" y="6400800"/>
            <a:ext cx="109728" cy="109728"/>
          </a:xfrm>
          <a:prstGeom prst="ellipse">
            <a:avLst/>
          </a:prstGeom>
          <a:solidFill>
            <a:srgbClr val="2D6A9F"/>
          </a:solidFill>
          <a:ln w="12700">
            <a:solidFill>
              <a:srgbClr val="2D6A9F"/>
            </a:solidFill>
            <a:prstDash val="solid"/>
          </a:ln>
        </p:spPr>
      </p:sp>
      <p:sp>
        <p:nvSpPr>
          <p:cNvPr id="8" name="Shape 6"/>
          <p:cNvSpPr/>
          <p:nvPr/>
        </p:nvSpPr>
        <p:spPr>
          <a:xfrm>
            <a:off x="7808976" y="6400800"/>
            <a:ext cx="109728" cy="109728"/>
          </a:xfrm>
          <a:prstGeom prst="ellipse">
            <a:avLst/>
          </a:prstGeom>
          <a:solidFill>
            <a:srgbClr val="2D6A9F"/>
          </a:solidFill>
          <a:ln w="12700">
            <a:solidFill>
              <a:srgbClr val="2D6A9F"/>
            </a:solidFill>
            <a:prstDash val="solid"/>
          </a:ln>
        </p:spPr>
      </p:sp>
      <p:sp>
        <p:nvSpPr>
          <p:cNvPr id="9" name="Shape 7"/>
          <p:cNvSpPr/>
          <p:nvPr/>
        </p:nvSpPr>
        <p:spPr>
          <a:xfrm>
            <a:off x="8010144" y="6400800"/>
            <a:ext cx="109728" cy="109728"/>
          </a:xfrm>
          <a:prstGeom prst="ellipse">
            <a:avLst/>
          </a:prstGeom>
          <a:solidFill>
            <a:srgbClr val="2D6A9F"/>
          </a:solidFill>
          <a:ln w="12700">
            <a:solidFill>
              <a:srgbClr val="2D6A9F"/>
            </a:solidFill>
            <a:prstDash val="solid"/>
          </a:ln>
        </p:spPr>
      </p:sp>
      <p:sp>
        <p:nvSpPr>
          <p:cNvPr id="10" name="Shape 8"/>
          <p:cNvSpPr/>
          <p:nvPr/>
        </p:nvSpPr>
        <p:spPr>
          <a:xfrm>
            <a:off x="8211312" y="6400800"/>
            <a:ext cx="109728" cy="109728"/>
          </a:xfrm>
          <a:prstGeom prst="ellipse">
            <a:avLst/>
          </a:prstGeom>
          <a:solidFill>
            <a:srgbClr val="00B4D8"/>
          </a:solidFill>
          <a:ln w="12700">
            <a:solidFill>
              <a:srgbClr val="00B4D8"/>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94360"/>
          </a:xfrm>
          <a:prstGeom prst="rect">
            <a:avLst/>
          </a:prstGeom>
          <a:noFill/>
          <a:ln/>
        </p:spPr>
        <p:txBody>
          <a:bodyPr wrap="square" rtlCol="0" anchor="ctr"/>
          <a:lstStyle/>
          <a:p>
            <a:pPr algn="l" indent="0" marL="0">
              <a:buNone/>
            </a:pPr>
            <a:r>
              <a:rPr lang="en-US" sz="2200" b="1" dirty="0">
                <a:solidFill>
                  <a:srgbClr val="1E3A5F"/>
                </a:solidFill>
                <a:latin typeface="Calibri" pitchFamily="34" charset="0"/>
                <a:ea typeface="Calibri" pitchFamily="34" charset="-122"/>
                <a:cs typeface="Calibri" pitchFamily="34" charset="-120"/>
              </a:rPr>
              <a:t>That Q3 budget line item? Here's what it looks like now.</a:t>
            </a:r>
            <a:endParaRPr lang="en-US" sz="2200" dirty="0"/>
          </a:p>
        </p:txBody>
      </p:sp>
      <p:sp>
        <p:nvSpPr>
          <p:cNvPr id="5" name="Text 3"/>
          <p:cNvSpPr/>
          <p:nvPr/>
        </p:nvSpPr>
        <p:spPr>
          <a:xfrm>
            <a:off x="91440" y="1143000"/>
            <a:ext cx="1188720" cy="365760"/>
          </a:xfrm>
          <a:prstGeom prst="rect">
            <a:avLst/>
          </a:prstGeom>
          <a:noFill/>
          <a:ln/>
        </p:spPr>
        <p:txBody>
          <a:bodyPr wrap="square" rtlCol="0" anchor="ctr"/>
          <a:lstStyle/>
          <a:p>
            <a:pPr algn="r" indent="0" marL="0">
              <a:buNone/>
            </a:pPr>
            <a:r>
              <a:rPr lang="en-US" sz="1300" b="1" dirty="0">
                <a:solidFill>
                  <a:srgbClr val="1E3A5F"/>
                </a:solidFill>
                <a:latin typeface="Calibri" pitchFamily="34" charset="0"/>
                <a:ea typeface="Calibri" pitchFamily="34" charset="-122"/>
                <a:cs typeface="Calibri" pitchFamily="34" charset="-120"/>
              </a:rPr>
              <a:t>2023</a:t>
            </a:r>
            <a:endParaRPr lang="en-US" sz="1300" dirty="0"/>
          </a:p>
        </p:txBody>
      </p:sp>
      <p:sp>
        <p:nvSpPr>
          <p:cNvPr id="6" name="Shape 4"/>
          <p:cNvSpPr/>
          <p:nvPr/>
        </p:nvSpPr>
        <p:spPr>
          <a:xfrm>
            <a:off x="1371600" y="1097280"/>
            <a:ext cx="1143000" cy="411480"/>
          </a:xfrm>
          <a:prstGeom prst="rect">
            <a:avLst/>
          </a:prstGeom>
          <a:solidFill>
            <a:srgbClr val="00B4D8"/>
          </a:solidFill>
          <a:ln w="12700">
            <a:solidFill>
              <a:srgbClr val="00B4D8"/>
            </a:solidFill>
            <a:prstDash val="solid"/>
          </a:ln>
        </p:spPr>
      </p:sp>
      <p:sp>
        <p:nvSpPr>
          <p:cNvPr id="7" name="Text 5"/>
          <p:cNvSpPr/>
          <p:nvPr/>
        </p:nvSpPr>
        <p:spPr>
          <a:xfrm>
            <a:off x="1463040" y="1170432"/>
            <a:ext cx="1097280" cy="27432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$180k</a:t>
            </a:r>
            <a:endParaRPr lang="en-US" sz="1300" dirty="0"/>
          </a:p>
        </p:txBody>
      </p:sp>
      <p:sp>
        <p:nvSpPr>
          <p:cNvPr id="8" name="Text 6"/>
          <p:cNvSpPr/>
          <p:nvPr/>
        </p:nvSpPr>
        <p:spPr>
          <a:xfrm>
            <a:off x="2606040" y="1170432"/>
            <a:ext cx="2286000" cy="274320"/>
          </a:xfrm>
          <a:prstGeom prst="rect">
            <a:avLst/>
          </a:prstGeom>
          <a:noFill/>
          <a:ln/>
        </p:spPr>
        <p:txBody>
          <a:bodyPr wrap="square" rtlCol="0" anchor="ctr"/>
          <a:lstStyle/>
          <a:p>
            <a:pPr algn="l" indent="0" marL="0">
              <a:buNone/>
            </a:pPr>
            <a:r>
              <a:rPr lang="en-US" sz="1100" dirty="0">
                <a:solidFill>
                  <a:srgbClr val="2D6A9F"/>
                </a:solidFill>
                <a:latin typeface="Calibri" pitchFamily="34" charset="0"/>
                <a:ea typeface="Calibri" pitchFamily="34" charset="-122"/>
                <a:cs typeface="Calibri" pitchFamily="34" charset="-120"/>
              </a:rPr>
              <a:t>Datadog</a:t>
            </a:r>
            <a:endParaRPr lang="en-US" sz="1100" dirty="0"/>
          </a:p>
        </p:txBody>
      </p:sp>
      <p:sp>
        <p:nvSpPr>
          <p:cNvPr id="9" name="Text 7"/>
          <p:cNvSpPr/>
          <p:nvPr/>
        </p:nvSpPr>
        <p:spPr>
          <a:xfrm>
            <a:off x="91440" y="2057400"/>
            <a:ext cx="1188720" cy="365760"/>
          </a:xfrm>
          <a:prstGeom prst="rect">
            <a:avLst/>
          </a:prstGeom>
          <a:noFill/>
          <a:ln/>
        </p:spPr>
        <p:txBody>
          <a:bodyPr wrap="square" rtlCol="0" anchor="ctr"/>
          <a:lstStyle/>
          <a:p>
            <a:pPr algn="r" indent="0" marL="0">
              <a:buNone/>
            </a:pPr>
            <a:r>
              <a:rPr lang="en-US" sz="1300" b="1" dirty="0">
                <a:solidFill>
                  <a:srgbClr val="1E3A5F"/>
                </a:solidFill>
                <a:latin typeface="Calibri" pitchFamily="34" charset="0"/>
                <a:ea typeface="Calibri" pitchFamily="34" charset="-122"/>
                <a:cs typeface="Calibri" pitchFamily="34" charset="-120"/>
              </a:rPr>
              <a:t>2024</a:t>
            </a:r>
            <a:endParaRPr lang="en-US" sz="1300" dirty="0"/>
          </a:p>
        </p:txBody>
      </p:sp>
      <p:sp>
        <p:nvSpPr>
          <p:cNvPr id="10" name="Shape 8"/>
          <p:cNvSpPr/>
          <p:nvPr/>
        </p:nvSpPr>
        <p:spPr>
          <a:xfrm>
            <a:off x="1371600" y="2011680"/>
            <a:ext cx="2423160" cy="411480"/>
          </a:xfrm>
          <a:prstGeom prst="rect">
            <a:avLst/>
          </a:prstGeom>
          <a:solidFill>
            <a:srgbClr val="00B4D8"/>
          </a:solidFill>
          <a:ln w="12700">
            <a:solidFill>
              <a:srgbClr val="00B4D8"/>
            </a:solidFill>
            <a:prstDash val="solid"/>
          </a:ln>
        </p:spPr>
      </p:sp>
      <p:sp>
        <p:nvSpPr>
          <p:cNvPr id="11" name="Text 9"/>
          <p:cNvSpPr/>
          <p:nvPr/>
        </p:nvSpPr>
        <p:spPr>
          <a:xfrm>
            <a:off x="1463040" y="2084832"/>
            <a:ext cx="1097280" cy="27432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$380k</a:t>
            </a:r>
            <a:endParaRPr lang="en-US" sz="1300" dirty="0"/>
          </a:p>
        </p:txBody>
      </p:sp>
      <p:sp>
        <p:nvSpPr>
          <p:cNvPr id="12" name="Text 10"/>
          <p:cNvSpPr/>
          <p:nvPr/>
        </p:nvSpPr>
        <p:spPr>
          <a:xfrm>
            <a:off x="3886200" y="2084832"/>
            <a:ext cx="2286000" cy="274320"/>
          </a:xfrm>
          <a:prstGeom prst="rect">
            <a:avLst/>
          </a:prstGeom>
          <a:noFill/>
          <a:ln/>
        </p:spPr>
        <p:txBody>
          <a:bodyPr wrap="square" rtlCol="0" anchor="ctr"/>
          <a:lstStyle/>
          <a:p>
            <a:pPr algn="l" indent="0" marL="0">
              <a:buNone/>
            </a:pPr>
            <a:r>
              <a:rPr lang="en-US" sz="1100" dirty="0">
                <a:solidFill>
                  <a:srgbClr val="2D6A9F"/>
                </a:solidFill>
                <a:latin typeface="Calibri" pitchFamily="34" charset="0"/>
                <a:ea typeface="Calibri" pitchFamily="34" charset="-122"/>
                <a:cs typeface="Calibri" pitchFamily="34" charset="-120"/>
              </a:rPr>
              <a:t>Datadog</a:t>
            </a:r>
            <a:endParaRPr lang="en-US" sz="1100" dirty="0"/>
          </a:p>
        </p:txBody>
      </p:sp>
      <p:sp>
        <p:nvSpPr>
          <p:cNvPr id="13" name="Text 11"/>
          <p:cNvSpPr/>
          <p:nvPr/>
        </p:nvSpPr>
        <p:spPr>
          <a:xfrm>
            <a:off x="91440" y="2971800"/>
            <a:ext cx="1188720" cy="365760"/>
          </a:xfrm>
          <a:prstGeom prst="rect">
            <a:avLst/>
          </a:prstGeom>
          <a:noFill/>
          <a:ln/>
        </p:spPr>
        <p:txBody>
          <a:bodyPr wrap="square" rtlCol="0" anchor="ctr"/>
          <a:lstStyle/>
          <a:p>
            <a:pPr algn="r" indent="0" marL="0">
              <a:buNone/>
            </a:pPr>
            <a:r>
              <a:rPr lang="en-US" sz="1300" b="1" dirty="0">
                <a:solidFill>
                  <a:srgbClr val="1E3A5F"/>
                </a:solidFill>
                <a:latin typeface="Calibri" pitchFamily="34" charset="0"/>
                <a:ea typeface="Calibri" pitchFamily="34" charset="-122"/>
                <a:cs typeface="Calibri" pitchFamily="34" charset="-120"/>
              </a:rPr>
              <a:t>2025</a:t>
            </a:r>
            <a:endParaRPr lang="en-US" sz="1300" dirty="0"/>
          </a:p>
        </p:txBody>
      </p:sp>
      <p:sp>
        <p:nvSpPr>
          <p:cNvPr id="14" name="Shape 12"/>
          <p:cNvSpPr/>
          <p:nvPr/>
        </p:nvSpPr>
        <p:spPr>
          <a:xfrm>
            <a:off x="1371600" y="2926080"/>
            <a:ext cx="3749040" cy="411480"/>
          </a:xfrm>
          <a:prstGeom prst="rect">
            <a:avLst/>
          </a:prstGeom>
          <a:solidFill>
            <a:srgbClr val="00B4D8"/>
          </a:solidFill>
          <a:ln w="12700">
            <a:solidFill>
              <a:srgbClr val="00B4D8"/>
            </a:solidFill>
            <a:prstDash val="solid"/>
          </a:ln>
        </p:spPr>
      </p:sp>
      <p:sp>
        <p:nvSpPr>
          <p:cNvPr id="15" name="Text 13"/>
          <p:cNvSpPr/>
          <p:nvPr/>
        </p:nvSpPr>
        <p:spPr>
          <a:xfrm>
            <a:off x="1463040" y="2999232"/>
            <a:ext cx="1097280" cy="27432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$590k</a:t>
            </a:r>
            <a:endParaRPr lang="en-US" sz="1300" dirty="0"/>
          </a:p>
        </p:txBody>
      </p:sp>
      <p:sp>
        <p:nvSpPr>
          <p:cNvPr id="16" name="Text 14"/>
          <p:cNvSpPr/>
          <p:nvPr/>
        </p:nvSpPr>
        <p:spPr>
          <a:xfrm>
            <a:off x="5212080" y="2999232"/>
            <a:ext cx="2286000" cy="274320"/>
          </a:xfrm>
          <a:prstGeom prst="rect">
            <a:avLst/>
          </a:prstGeom>
          <a:noFill/>
          <a:ln/>
        </p:spPr>
        <p:txBody>
          <a:bodyPr wrap="square" rtlCol="0" anchor="ctr"/>
          <a:lstStyle/>
          <a:p>
            <a:pPr algn="l" indent="0" marL="0">
              <a:buNone/>
            </a:pPr>
            <a:r>
              <a:rPr lang="en-US" sz="1100" dirty="0">
                <a:solidFill>
                  <a:srgbClr val="2D6A9F"/>
                </a:solidFill>
                <a:latin typeface="Calibri" pitchFamily="34" charset="0"/>
                <a:ea typeface="Calibri" pitchFamily="34" charset="-122"/>
                <a:cs typeface="Calibri" pitchFamily="34" charset="-120"/>
              </a:rPr>
              <a:t>Datadog</a:t>
            </a:r>
            <a:endParaRPr lang="en-US" sz="1100" dirty="0"/>
          </a:p>
        </p:txBody>
      </p:sp>
      <p:sp>
        <p:nvSpPr>
          <p:cNvPr id="17" name="Text 15"/>
          <p:cNvSpPr/>
          <p:nvPr/>
        </p:nvSpPr>
        <p:spPr>
          <a:xfrm>
            <a:off x="91440" y="3886200"/>
            <a:ext cx="1188720" cy="365760"/>
          </a:xfrm>
          <a:prstGeom prst="rect">
            <a:avLst/>
          </a:prstGeom>
          <a:noFill/>
          <a:ln/>
        </p:spPr>
        <p:txBody>
          <a:bodyPr wrap="square" rtlCol="0" anchor="ctr"/>
          <a:lstStyle/>
          <a:p>
            <a:pPr algn="r" indent="0" marL="0">
              <a:buNone/>
            </a:pPr>
            <a:r>
              <a:rPr lang="en-US" sz="1300" b="1" dirty="0">
                <a:solidFill>
                  <a:srgbClr val="1E3A5F"/>
                </a:solidFill>
                <a:latin typeface="Calibri" pitchFamily="34" charset="0"/>
                <a:ea typeface="Calibri" pitchFamily="34" charset="-122"/>
                <a:cs typeface="Calibri" pitchFamily="34" charset="-120"/>
              </a:rPr>
              <a:t>2026</a:t>
            </a:r>
            <a:endParaRPr lang="en-US" sz="1300" dirty="0"/>
          </a:p>
          <a:p>
            <a:pPr algn="r" indent="0" marL="0">
              <a:buNone/>
            </a:pPr>
            <a:r>
              <a:rPr lang="en-US" sz="1300" b="1" dirty="0">
                <a:solidFill>
                  <a:srgbClr val="1E3A5F"/>
                </a:solidFill>
                <a:latin typeface="Calibri" pitchFamily="34" charset="0"/>
                <a:ea typeface="Calibri" pitchFamily="34" charset="-122"/>
                <a:cs typeface="Calibri" pitchFamily="34" charset="-120"/>
              </a:rPr>
              <a:t>(OTel)</a:t>
            </a:r>
            <a:endParaRPr lang="en-US" sz="1300" dirty="0"/>
          </a:p>
        </p:txBody>
      </p:sp>
      <p:sp>
        <p:nvSpPr>
          <p:cNvPr id="18" name="Shape 16"/>
          <p:cNvSpPr/>
          <p:nvPr/>
        </p:nvSpPr>
        <p:spPr>
          <a:xfrm>
            <a:off x="1371600" y="3840480"/>
            <a:ext cx="1325880" cy="411480"/>
          </a:xfrm>
          <a:prstGeom prst="rect">
            <a:avLst/>
          </a:prstGeom>
          <a:solidFill>
            <a:srgbClr val="2D7D46"/>
          </a:solidFill>
          <a:ln w="12700">
            <a:solidFill>
              <a:srgbClr val="2D7D46"/>
            </a:solidFill>
            <a:prstDash val="solid"/>
          </a:ln>
        </p:spPr>
      </p:sp>
      <p:sp>
        <p:nvSpPr>
          <p:cNvPr id="19" name="Text 17"/>
          <p:cNvSpPr/>
          <p:nvPr/>
        </p:nvSpPr>
        <p:spPr>
          <a:xfrm>
            <a:off x="1463040" y="3913632"/>
            <a:ext cx="1097280" cy="27432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$210k</a:t>
            </a:r>
            <a:endParaRPr lang="en-US" sz="1300" dirty="0"/>
          </a:p>
        </p:txBody>
      </p:sp>
      <p:sp>
        <p:nvSpPr>
          <p:cNvPr id="20" name="Text 18"/>
          <p:cNvSpPr/>
          <p:nvPr/>
        </p:nvSpPr>
        <p:spPr>
          <a:xfrm>
            <a:off x="2788920" y="3913632"/>
            <a:ext cx="2286000" cy="274320"/>
          </a:xfrm>
          <a:prstGeom prst="rect">
            <a:avLst/>
          </a:prstGeom>
          <a:noFill/>
          <a:ln/>
        </p:spPr>
        <p:txBody>
          <a:bodyPr wrap="square" rtlCol="0" anchor="ctr"/>
          <a:lstStyle/>
          <a:p>
            <a:pPr algn="l" indent="0" marL="0">
              <a:buNone/>
            </a:pPr>
            <a:r>
              <a:rPr lang="en-US" sz="1100" b="1" dirty="0">
                <a:solidFill>
                  <a:srgbClr val="2D7D46"/>
                </a:solidFill>
                <a:latin typeface="Calibri" pitchFamily="34" charset="0"/>
                <a:ea typeface="Calibri" pitchFamily="34" charset="-122"/>
                <a:cs typeface="Calibri" pitchFamily="34" charset="-120"/>
              </a:rPr>
              <a:t>OTel + infra</a:t>
            </a:r>
            <a:endParaRPr lang="en-US" sz="1100" dirty="0"/>
          </a:p>
        </p:txBody>
      </p:sp>
      <p:sp>
        <p:nvSpPr>
          <p:cNvPr id="21" name="Shape 19"/>
          <p:cNvSpPr/>
          <p:nvPr/>
        </p:nvSpPr>
        <p:spPr>
          <a:xfrm>
            <a:off x="2103120" y="3840480"/>
            <a:ext cx="0" cy="-1463040"/>
          </a:xfrm>
          <a:prstGeom prst="line">
            <a:avLst/>
          </a:prstGeom>
          <a:noFill/>
          <a:ln w="25400">
            <a:solidFill>
              <a:srgbClr val="2D7D46"/>
            </a:solidFill>
            <a:prstDash val="solid"/>
            <a:tailEnd type="open"/>
          </a:ln>
        </p:spPr>
      </p:sp>
      <p:sp>
        <p:nvSpPr>
          <p:cNvPr id="22" name="Text 20"/>
          <p:cNvSpPr/>
          <p:nvPr/>
        </p:nvSpPr>
        <p:spPr>
          <a:xfrm>
            <a:off x="2194560" y="2560320"/>
            <a:ext cx="914400" cy="320040"/>
          </a:xfrm>
          <a:prstGeom prst="rect">
            <a:avLst/>
          </a:prstGeom>
          <a:noFill/>
          <a:ln/>
        </p:spPr>
        <p:txBody>
          <a:bodyPr wrap="square" rtlCol="0" anchor="ctr"/>
          <a:lstStyle/>
          <a:p>
            <a:pPr algn="l" indent="0" marL="0">
              <a:buNone/>
            </a:pPr>
            <a:r>
              <a:rPr lang="en-US" sz="1400" b="1" dirty="0">
                <a:solidFill>
                  <a:srgbClr val="2D7D46"/>
                </a:solidFill>
                <a:latin typeface="Calibri" pitchFamily="34" charset="0"/>
                <a:ea typeface="Calibri" pitchFamily="34" charset="-122"/>
                <a:cs typeface="Calibri" pitchFamily="34" charset="-120"/>
              </a:rPr>
              <a:t>−65%</a:t>
            </a:r>
            <a:endParaRPr lang="en-US" sz="1400" dirty="0"/>
          </a:p>
        </p:txBody>
      </p:sp>
      <p:sp>
        <p:nvSpPr>
          <p:cNvPr id="23" name="Shape 21"/>
          <p:cNvSpPr/>
          <p:nvPr/>
        </p:nvSpPr>
        <p:spPr>
          <a:xfrm>
            <a:off x="365760" y="4983480"/>
            <a:ext cx="8412480" cy="868680"/>
          </a:xfrm>
          <a:prstGeom prst="rect">
            <a:avLst/>
          </a:prstGeom>
          <a:solidFill>
            <a:srgbClr val="1B2A4A"/>
          </a:solidFill>
          <a:ln w="12700">
            <a:solidFill>
              <a:srgbClr val="1B2A4A"/>
            </a:solidFill>
            <a:prstDash val="solid"/>
          </a:ln>
        </p:spPr>
      </p:sp>
      <p:sp>
        <p:nvSpPr>
          <p:cNvPr id="24" name="Text 22"/>
          <p:cNvSpPr/>
          <p:nvPr/>
        </p:nvSpPr>
        <p:spPr>
          <a:xfrm>
            <a:off x="457200" y="4983480"/>
            <a:ext cx="8229600" cy="868680"/>
          </a:xfrm>
          <a:prstGeom prst="rect">
            <a:avLst/>
          </a:prstGeom>
          <a:noFill/>
          <a:ln/>
        </p:spPr>
        <p:txBody>
          <a:bodyPr wrap="square" rtlCol="0" anchor="ctr"/>
          <a:lstStyle/>
          <a:p>
            <a:pPr algn="ctr" indent="0" marL="0">
              <a:buNone/>
            </a:pPr>
            <a:r>
              <a:rPr lang="en-US" sz="1500" i="1" dirty="0">
                <a:solidFill>
                  <a:srgbClr val="00B4D8"/>
                </a:solidFill>
                <a:latin typeface="Calibri" pitchFamily="34" charset="0"/>
                <a:ea typeface="Calibri" pitchFamily="34" charset="-122"/>
                <a:cs typeface="Calibri" pitchFamily="34" charset="-120"/>
              </a:rPr>
              <a:t>"OTel moves the debt. This is what that looks like when it moves."</a:t>
            </a:r>
            <a:endParaRPr lang="en-US" sz="1500" dirty="0"/>
          </a:p>
        </p:txBody>
      </p:sp>
      <p:sp>
        <p:nvSpPr>
          <p:cNvPr id="25" name="Shape 23"/>
          <p:cNvSpPr/>
          <p:nvPr/>
        </p:nvSpPr>
        <p:spPr>
          <a:xfrm>
            <a:off x="0" y="6583680"/>
            <a:ext cx="12192000" cy="274320"/>
          </a:xfrm>
          <a:prstGeom prst="rect">
            <a:avLst/>
          </a:prstGeom>
          <a:solidFill>
            <a:srgbClr val="1B2A4A"/>
          </a:solidFill>
          <a:ln w="12700">
            <a:solidFill>
              <a:srgbClr val="1B2A4A"/>
            </a:solidFill>
            <a:prstDash val="solid"/>
          </a:ln>
        </p:spPr>
      </p:sp>
      <p:sp>
        <p:nvSpPr>
          <p:cNvPr id="26" name="Text 24"/>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5 — WHAT WE'D DO DIFFERENTLY</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600" b="1" dirty="0">
                <a:solidFill>
                  <a:srgbClr val="1E3A5F"/>
                </a:solidFill>
                <a:latin typeface="Calibri" pitchFamily="34" charset="0"/>
                <a:ea typeface="Calibri" pitchFamily="34" charset="-122"/>
                <a:cs typeface="Calibri" pitchFamily="34" charset="-120"/>
              </a:rPr>
              <a:t>Three things we'd do differently</a:t>
            </a:r>
            <a:endParaRPr lang="en-US" sz="2600" dirty="0"/>
          </a:p>
        </p:txBody>
      </p:sp>
      <p:sp>
        <p:nvSpPr>
          <p:cNvPr id="5" name="Shape 3"/>
          <p:cNvSpPr/>
          <p:nvPr/>
        </p:nvSpPr>
        <p:spPr>
          <a:xfrm>
            <a:off x="320040" y="914400"/>
            <a:ext cx="2697480" cy="512064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6" name="Shape 4"/>
          <p:cNvSpPr/>
          <p:nvPr/>
        </p:nvSpPr>
        <p:spPr>
          <a:xfrm>
            <a:off x="320040" y="914400"/>
            <a:ext cx="54864" cy="5120640"/>
          </a:xfrm>
          <a:prstGeom prst="rect">
            <a:avLst/>
          </a:prstGeom>
          <a:solidFill>
            <a:srgbClr val="00B4D8"/>
          </a:solidFill>
          <a:ln w="12700">
            <a:solidFill>
              <a:srgbClr val="00B4D8"/>
            </a:solidFill>
            <a:prstDash val="solid"/>
          </a:ln>
        </p:spPr>
      </p:sp>
      <p:sp>
        <p:nvSpPr>
          <p:cNvPr id="7" name="Text 5"/>
          <p:cNvSpPr/>
          <p:nvPr/>
        </p:nvSpPr>
        <p:spPr>
          <a:xfrm>
            <a:off x="457200" y="1005840"/>
            <a:ext cx="246888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01  Start with traces only</a:t>
            </a:r>
            <a:endParaRPr lang="en-US" sz="1300" dirty="0"/>
          </a:p>
        </p:txBody>
      </p:sp>
      <p:sp>
        <p:nvSpPr>
          <p:cNvPr id="8" name="Text 6"/>
          <p:cNvSpPr/>
          <p:nvPr/>
        </p:nvSpPr>
        <p:spPr>
          <a:xfrm>
            <a:off x="457200" y="1298448"/>
            <a:ext cx="2468880" cy="4645152"/>
          </a:xfrm>
          <a:prstGeom prst="rect">
            <a:avLst/>
          </a:prstGeom>
          <a:noFill/>
          <a:ln/>
        </p:spPr>
        <p:txBody>
          <a:bodyPr wrap="square" rtlCol="0" anchor="t"/>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Don't touch metrics or logs until 100% of traces are in Tempo and running stable for 2 weeks</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Traces have the best ROI-to-risk ratio: fast to migrate, fast to validate, builds team confidence</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Starting with metrics caused us to take on the alerting rewrite too early</a:t>
            </a:r>
            <a:endParaRPr lang="en-US" sz="1100" dirty="0"/>
          </a:p>
        </p:txBody>
      </p:sp>
      <p:sp>
        <p:nvSpPr>
          <p:cNvPr id="9" name="Shape 7"/>
          <p:cNvSpPr/>
          <p:nvPr/>
        </p:nvSpPr>
        <p:spPr>
          <a:xfrm>
            <a:off x="3200400" y="914400"/>
            <a:ext cx="2697480" cy="512064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10" name="Shape 8"/>
          <p:cNvSpPr/>
          <p:nvPr/>
        </p:nvSpPr>
        <p:spPr>
          <a:xfrm>
            <a:off x="3200400" y="914400"/>
            <a:ext cx="54864" cy="5120640"/>
          </a:xfrm>
          <a:prstGeom prst="rect">
            <a:avLst/>
          </a:prstGeom>
          <a:solidFill>
            <a:srgbClr val="00B4D8"/>
          </a:solidFill>
          <a:ln w="12700">
            <a:solidFill>
              <a:srgbClr val="00B4D8"/>
            </a:solidFill>
            <a:prstDash val="solid"/>
          </a:ln>
        </p:spPr>
      </p:sp>
      <p:sp>
        <p:nvSpPr>
          <p:cNvPr id="11" name="Text 9"/>
          <p:cNvSpPr/>
          <p:nvPr/>
        </p:nvSpPr>
        <p:spPr>
          <a:xfrm>
            <a:off x="3337560" y="1005840"/>
            <a:ext cx="246888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02  Do sampling architecture in week 2</a:t>
            </a:r>
            <a:endParaRPr lang="en-US" sz="1300" dirty="0"/>
          </a:p>
        </p:txBody>
      </p:sp>
      <p:sp>
        <p:nvSpPr>
          <p:cNvPr id="12" name="Text 10"/>
          <p:cNvSpPr/>
          <p:nvPr/>
        </p:nvSpPr>
        <p:spPr>
          <a:xfrm>
            <a:off x="3337560" y="1298448"/>
            <a:ext cx="2468880" cy="4645152"/>
          </a:xfrm>
          <a:prstGeom prst="rect">
            <a:avLst/>
          </a:prstGeom>
          <a:noFill/>
          <a:ln/>
        </p:spPr>
        <p:txBody>
          <a:bodyPr wrap="square" rtlCol="0" anchor="t"/>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Before any service goes to production with OTel</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Document: head-based vs tail-based decision for each service tier</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Gateway scaling model decided before you need it, not during an incident</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Costs 3 days of design — saves weeks of re-architecture</a:t>
            </a:r>
            <a:endParaRPr lang="en-US" sz="1100" dirty="0"/>
          </a:p>
        </p:txBody>
      </p:sp>
      <p:sp>
        <p:nvSpPr>
          <p:cNvPr id="13" name="Shape 11"/>
          <p:cNvSpPr/>
          <p:nvPr/>
        </p:nvSpPr>
        <p:spPr>
          <a:xfrm>
            <a:off x="6080760" y="914400"/>
            <a:ext cx="2697480" cy="5120640"/>
          </a:xfrm>
          <a:prstGeom prst="rect">
            <a:avLst/>
          </a:prstGeom>
          <a:solidFill>
            <a:srgbClr val="FFFFFF"/>
          </a:solidFill>
          <a:ln w="6350">
            <a:solidFill>
              <a:srgbClr val="E2E8F0"/>
            </a:solidFill>
            <a:prstDash val="solid"/>
          </a:ln>
          <a:effectLst>
            <a:outerShdw sx="100000" sy="100000" kx="0" ky="0" algn="bl" rotWithShape="0" blurRad="50800" dist="25400" dir="2700000">
              <a:srgbClr val="00000020">
                <a:alpha val="15000"/>
              </a:srgbClr>
            </a:outerShdw>
          </a:effectLst>
        </p:spPr>
      </p:sp>
      <p:sp>
        <p:nvSpPr>
          <p:cNvPr id="14" name="Shape 12"/>
          <p:cNvSpPr/>
          <p:nvPr/>
        </p:nvSpPr>
        <p:spPr>
          <a:xfrm>
            <a:off x="6080760" y="914400"/>
            <a:ext cx="54864" cy="5120640"/>
          </a:xfrm>
          <a:prstGeom prst="rect">
            <a:avLst/>
          </a:prstGeom>
          <a:solidFill>
            <a:srgbClr val="00B4D8"/>
          </a:solidFill>
          <a:ln w="12700">
            <a:solidFill>
              <a:srgbClr val="00B4D8"/>
            </a:solidFill>
            <a:prstDash val="solid"/>
          </a:ln>
        </p:spPr>
      </p:sp>
      <p:sp>
        <p:nvSpPr>
          <p:cNvPr id="15" name="Text 13"/>
          <p:cNvSpPr/>
          <p:nvPr/>
        </p:nvSpPr>
        <p:spPr>
          <a:xfrm>
            <a:off x="6217920" y="1005840"/>
            <a:ext cx="2468880" cy="256032"/>
          </a:xfrm>
          <a:prstGeom prst="rect">
            <a:avLst/>
          </a:prstGeom>
          <a:noFill/>
          <a:ln/>
        </p:spPr>
        <p:txBody>
          <a:bodyPr wrap="square" rtlCol="0" anchor="ctr"/>
          <a:lstStyle/>
          <a:p>
            <a:pPr algn="l" indent="0" marL="0">
              <a:buNone/>
            </a:pPr>
            <a:r>
              <a:rPr lang="en-US" sz="1300" b="1" dirty="0">
                <a:solidFill>
                  <a:srgbClr val="1E3A5F"/>
                </a:solidFill>
                <a:latin typeface="Calibri" pitchFamily="34" charset="0"/>
                <a:ea typeface="Calibri" pitchFamily="34" charset="-122"/>
                <a:cs typeface="Calibri" pitchFamily="34" charset="-120"/>
              </a:rPr>
              <a:t>03  Budget the alerting rewrite as a project</a:t>
            </a:r>
            <a:endParaRPr lang="en-US" sz="1300" dirty="0"/>
          </a:p>
        </p:txBody>
      </p:sp>
      <p:sp>
        <p:nvSpPr>
          <p:cNvPr id="16" name="Text 14"/>
          <p:cNvSpPr/>
          <p:nvPr/>
        </p:nvSpPr>
        <p:spPr>
          <a:xfrm>
            <a:off x="6217920" y="1298448"/>
            <a:ext cx="2468880" cy="4645152"/>
          </a:xfrm>
          <a:prstGeom prst="rect">
            <a:avLst/>
          </a:prstGeom>
          <a:noFill/>
          <a:ln/>
        </p:spPr>
        <p:txBody>
          <a:bodyPr wrap="square" rtlCol="0" anchor="t"/>
          <a:lstStyle/>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30% of your metrics migration effort — not a task, a project</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Assign a dedicated owner (not the same person migrating metrics)</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Run the semantic test: replay 2 weeks of metric data and compare fire/no-fire</a:t>
            </a:r>
            <a:pPr indent="0" marL="0">
              <a:buNone/>
            </a:pPr>
            <a:endParaRPr lang="en-US" sz="1100" dirty="0"/>
          </a:p>
          <a:p>
            <a:pPr marL="342900" indent="-342900">
              <a:buSzPct val="100000"/>
              <a:buChar char="•"/>
            </a:pPr>
            <a:r>
              <a:rPr lang="en-US" sz="1100" dirty="0">
                <a:solidFill>
                  <a:srgbClr val="1E3A5F"/>
                </a:solidFill>
                <a:latin typeface="Calibri" pitchFamily="34" charset="0"/>
                <a:ea typeface="Calibri" pitchFamily="34" charset="-122"/>
                <a:cs typeface="Calibri" pitchFamily="34" charset="-120"/>
              </a:rPr>
              <a:t>Don't declare metrics complete until alerting parity is verified</a:t>
            </a:r>
            <a:endParaRPr lang="en-US" sz="1100" dirty="0"/>
          </a:p>
        </p:txBody>
      </p:sp>
      <p:sp>
        <p:nvSpPr>
          <p:cNvPr id="17" name="Text 15"/>
          <p:cNvSpPr/>
          <p:nvPr/>
        </p:nvSpPr>
        <p:spPr>
          <a:xfrm>
            <a:off x="365760" y="6172200"/>
            <a:ext cx="8412480" cy="365760"/>
          </a:xfrm>
          <a:prstGeom prst="rect">
            <a:avLst/>
          </a:prstGeom>
          <a:noFill/>
          <a:ln/>
        </p:spPr>
        <p:txBody>
          <a:bodyPr wrap="square" rtlCol="0" anchor="ctr"/>
          <a:lstStyle/>
          <a:p>
            <a:pPr algn="ctr" indent="0" marL="0">
              <a:buNone/>
            </a:pPr>
            <a:r>
              <a:rPr lang="en-US" sz="1300" i="1" dirty="0">
                <a:solidFill>
                  <a:srgbClr val="2D6A9F"/>
                </a:solidFill>
                <a:latin typeface="Calibri" pitchFamily="34" charset="0"/>
                <a:ea typeface="Calibri" pitchFamily="34" charset="-122"/>
                <a:cs typeface="Calibri" pitchFamily="34" charset="-120"/>
              </a:rPr>
              <a:t>"OTel moves the debt — here's how to move it on your terms."</a:t>
            </a:r>
            <a:endParaRPr lang="en-US" sz="1300" dirty="0"/>
          </a:p>
        </p:txBody>
      </p:sp>
      <p:sp>
        <p:nvSpPr>
          <p:cNvPr id="18" name="Shape 16"/>
          <p:cNvSpPr/>
          <p:nvPr/>
        </p:nvSpPr>
        <p:spPr>
          <a:xfrm>
            <a:off x="0" y="6583680"/>
            <a:ext cx="12192000" cy="274320"/>
          </a:xfrm>
          <a:prstGeom prst="rect">
            <a:avLst/>
          </a:prstGeom>
          <a:solidFill>
            <a:srgbClr val="1B2A4A"/>
          </a:solidFill>
          <a:ln w="12700">
            <a:solidFill>
              <a:srgbClr val="1B2A4A"/>
            </a:solidFill>
            <a:prstDash val="solid"/>
          </a:ln>
        </p:spPr>
      </p:sp>
      <p:sp>
        <p:nvSpPr>
          <p:cNvPr id="19" name="Text 17"/>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5 — WHAT WE'D DO DIFFERENTLY</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8FAFC"/>
          </a:solidFill>
          <a:ln w="12700">
            <a:solidFill>
              <a:srgbClr val="F8FAFC"/>
            </a:solidFill>
            <a:prstDash val="solid"/>
          </a:ln>
        </p:spPr>
      </p:sp>
      <p:sp>
        <p:nvSpPr>
          <p:cNvPr id="3" name="Shape 1"/>
          <p:cNvSpPr/>
          <p:nvPr/>
        </p:nvSpPr>
        <p:spPr>
          <a:xfrm>
            <a:off x="0" y="0"/>
            <a:ext cx="12192000" cy="45720"/>
          </a:xfrm>
          <a:prstGeom prst="rect">
            <a:avLst/>
          </a:prstGeom>
          <a:solidFill>
            <a:srgbClr val="00B4D8"/>
          </a:solidFill>
          <a:ln w="12700">
            <a:solidFill>
              <a:srgbClr val="00B4D8"/>
            </a:solidFill>
            <a:prstDash val="solid"/>
          </a:ln>
        </p:spPr>
      </p:sp>
      <p:sp>
        <p:nvSpPr>
          <p:cNvPr id="4" name="Text 2"/>
          <p:cNvSpPr/>
          <p:nvPr/>
        </p:nvSpPr>
        <p:spPr>
          <a:xfrm>
            <a:off x="365760" y="164592"/>
            <a:ext cx="8229600" cy="548640"/>
          </a:xfrm>
          <a:prstGeom prst="rect">
            <a:avLst/>
          </a:prstGeom>
          <a:noFill/>
          <a:ln/>
        </p:spPr>
        <p:txBody>
          <a:bodyPr wrap="square" rtlCol="0" anchor="ctr"/>
          <a:lstStyle/>
          <a:p>
            <a:pPr algn="l" indent="0" marL="0">
              <a:buNone/>
            </a:pPr>
            <a:r>
              <a:rPr lang="en-US" sz="2600" b="1" dirty="0">
                <a:solidFill>
                  <a:srgbClr val="1E3A5F"/>
                </a:solidFill>
                <a:latin typeface="Calibri" pitchFamily="34" charset="0"/>
                <a:ea typeface="Calibri" pitchFamily="34" charset="-122"/>
                <a:cs typeface="Calibri" pitchFamily="34" charset="-120"/>
              </a:rPr>
              <a:t>Your first steps</a:t>
            </a:r>
            <a:endParaRPr lang="en-US" sz="2600" dirty="0"/>
          </a:p>
        </p:txBody>
      </p:sp>
      <p:sp>
        <p:nvSpPr>
          <p:cNvPr id="5" name="Shape 3"/>
          <p:cNvSpPr/>
          <p:nvPr/>
        </p:nvSpPr>
        <p:spPr>
          <a:xfrm>
            <a:off x="365760" y="822960"/>
            <a:ext cx="4114800" cy="457200"/>
          </a:xfrm>
          <a:prstGeom prst="rect">
            <a:avLst/>
          </a:prstGeom>
          <a:solidFill>
            <a:srgbClr val="1B2A4A"/>
          </a:solidFill>
          <a:ln w="12700">
            <a:solidFill>
              <a:srgbClr val="1B2A4A"/>
            </a:solidFill>
            <a:prstDash val="solid"/>
          </a:ln>
        </p:spPr>
      </p:sp>
      <p:sp>
        <p:nvSpPr>
          <p:cNvPr id="6" name="Text 4"/>
          <p:cNvSpPr/>
          <p:nvPr/>
        </p:nvSpPr>
        <p:spPr>
          <a:xfrm>
            <a:off x="365760" y="822960"/>
            <a:ext cx="4114800" cy="457200"/>
          </a:xfrm>
          <a:prstGeom prst="rect">
            <a:avLst/>
          </a:prstGeom>
          <a:noFill/>
          <a:ln/>
        </p:spPr>
        <p:txBody>
          <a:bodyPr wrap="square" rtlCol="0" anchor="ctr"/>
          <a:lstStyle/>
          <a:p>
            <a:pPr algn="ctr" indent="0" marL="0">
              <a:buNone/>
            </a:pPr>
            <a:r>
              <a:rPr lang="en-US" sz="1500" b="1" dirty="0">
                <a:solidFill>
                  <a:srgbClr val="00B4D8"/>
                </a:solidFill>
                <a:latin typeface="Calibri" pitchFamily="34" charset="0"/>
                <a:ea typeface="Calibri" pitchFamily="34" charset="-122"/>
                <a:cs typeface="Calibri" pitchFamily="34" charset="-120"/>
              </a:rPr>
              <a:t>Engineering Leaders</a:t>
            </a:r>
            <a:endParaRPr lang="en-US" sz="1500" dirty="0"/>
          </a:p>
        </p:txBody>
      </p:sp>
      <p:sp>
        <p:nvSpPr>
          <p:cNvPr id="7" name="Shape 5"/>
          <p:cNvSpPr/>
          <p:nvPr/>
        </p:nvSpPr>
        <p:spPr>
          <a:xfrm>
            <a:off x="4663440" y="822960"/>
            <a:ext cx="4114800" cy="457200"/>
          </a:xfrm>
          <a:prstGeom prst="rect">
            <a:avLst/>
          </a:prstGeom>
          <a:solidFill>
            <a:srgbClr val="1B2A4A"/>
          </a:solidFill>
          <a:ln w="12700">
            <a:solidFill>
              <a:srgbClr val="1B2A4A"/>
            </a:solidFill>
            <a:prstDash val="solid"/>
          </a:ln>
        </p:spPr>
      </p:sp>
      <p:sp>
        <p:nvSpPr>
          <p:cNvPr id="8" name="Text 6"/>
          <p:cNvSpPr/>
          <p:nvPr/>
        </p:nvSpPr>
        <p:spPr>
          <a:xfrm>
            <a:off x="4663440" y="822960"/>
            <a:ext cx="4114800" cy="457200"/>
          </a:xfrm>
          <a:prstGeom prst="rect">
            <a:avLst/>
          </a:prstGeom>
          <a:noFill/>
          <a:ln/>
        </p:spPr>
        <p:txBody>
          <a:bodyPr wrap="square" rtlCol="0" anchor="ctr"/>
          <a:lstStyle/>
          <a:p>
            <a:pPr algn="ctr" indent="0" marL="0">
              <a:buNone/>
            </a:pPr>
            <a:r>
              <a:rPr lang="en-US" sz="1500" b="1" dirty="0">
                <a:solidFill>
                  <a:srgbClr val="00B4D8"/>
                </a:solidFill>
                <a:latin typeface="Calibri" pitchFamily="34" charset="0"/>
                <a:ea typeface="Calibri" pitchFamily="34" charset="-122"/>
                <a:cs typeface="Calibri" pitchFamily="34" charset="-120"/>
              </a:rPr>
              <a:t>Platform ICs</a:t>
            </a:r>
            <a:endParaRPr lang="en-US" sz="1500" dirty="0"/>
          </a:p>
        </p:txBody>
      </p:sp>
      <p:sp>
        <p:nvSpPr>
          <p:cNvPr id="9" name="Shape 7"/>
          <p:cNvSpPr/>
          <p:nvPr/>
        </p:nvSpPr>
        <p:spPr>
          <a:xfrm>
            <a:off x="4434840" y="822960"/>
            <a:ext cx="0" cy="5486400"/>
          </a:xfrm>
          <a:prstGeom prst="line">
            <a:avLst/>
          </a:prstGeom>
          <a:noFill/>
          <a:ln w="6350">
            <a:solidFill>
              <a:srgbClr val="E2E8F0"/>
            </a:solidFill>
            <a:prstDash val="solid"/>
          </a:ln>
        </p:spPr>
      </p:sp>
      <p:sp>
        <p:nvSpPr>
          <p:cNvPr id="10" name="Shape 8"/>
          <p:cNvSpPr/>
          <p:nvPr/>
        </p:nvSpPr>
        <p:spPr>
          <a:xfrm>
            <a:off x="457200" y="1417320"/>
            <a:ext cx="365760" cy="365760"/>
          </a:xfrm>
          <a:prstGeom prst="ellipse">
            <a:avLst/>
          </a:prstGeom>
          <a:solidFill>
            <a:srgbClr val="00B4D8"/>
          </a:solidFill>
          <a:ln w="12700">
            <a:solidFill>
              <a:srgbClr val="00B4D8"/>
            </a:solidFill>
            <a:prstDash val="solid"/>
          </a:ln>
        </p:spPr>
      </p:sp>
      <p:sp>
        <p:nvSpPr>
          <p:cNvPr id="11" name="Text 9"/>
          <p:cNvSpPr/>
          <p:nvPr/>
        </p:nvSpPr>
        <p:spPr>
          <a:xfrm>
            <a:off x="457200" y="141732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10"/>
          <p:cNvSpPr/>
          <p:nvPr/>
        </p:nvSpPr>
        <p:spPr>
          <a:xfrm>
            <a:off x="914400" y="1435608"/>
            <a:ext cx="3566160" cy="320040"/>
          </a:xfrm>
          <a:prstGeom prst="rect">
            <a:avLst/>
          </a:prstGeom>
          <a:noFill/>
          <a:ln/>
        </p:spPr>
        <p:txBody>
          <a:bodyPr wrap="square"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Run a cost audit this week</a:t>
            </a:r>
            <a:endParaRPr lang="en-US" sz="1200" dirty="0"/>
          </a:p>
        </p:txBody>
      </p:sp>
      <p:sp>
        <p:nvSpPr>
          <p:cNvPr id="13" name="Text 11"/>
          <p:cNvSpPr/>
          <p:nvPr/>
        </p:nvSpPr>
        <p:spPr>
          <a:xfrm>
            <a:off x="914400" y="1764792"/>
            <a:ext cx="3566160" cy="1051560"/>
          </a:xfrm>
          <a:prstGeom prst="rect">
            <a:avLst/>
          </a:prstGeom>
          <a:noFill/>
          <a:ln/>
        </p:spPr>
        <p:txBody>
          <a:bodyPr wrap="square" rtlCol="0" anchor="ctr"/>
          <a:lstStyle/>
          <a:p>
            <a:pPr algn="l" indent="0" marL="0">
              <a:buNone/>
            </a:pPr>
            <a:r>
              <a:rPr lang="en-US" sz="1000" dirty="0">
                <a:solidFill>
                  <a:srgbClr val="1E3A5F"/>
                </a:solidFill>
                <a:latin typeface="Calibri" pitchFamily="34" charset="0"/>
                <a:ea typeface="Calibri" pitchFamily="34" charset="-122"/>
                <a:cs typeface="Calibri" pitchFamily="34" charset="-120"/>
              </a:rPr>
              <a:t>Pull your observability vendor spend for the last 12 months. Project 24 months at the current growth rate. That's the cost of inaction.</a:t>
            </a:r>
            <a:endParaRPr lang="en-US" sz="1000" dirty="0"/>
          </a:p>
        </p:txBody>
      </p:sp>
      <p:sp>
        <p:nvSpPr>
          <p:cNvPr id="14" name="Shape 12"/>
          <p:cNvSpPr/>
          <p:nvPr/>
        </p:nvSpPr>
        <p:spPr>
          <a:xfrm>
            <a:off x="457200" y="2926080"/>
            <a:ext cx="365760" cy="365760"/>
          </a:xfrm>
          <a:prstGeom prst="ellipse">
            <a:avLst/>
          </a:prstGeom>
          <a:solidFill>
            <a:srgbClr val="00B4D8"/>
          </a:solidFill>
          <a:ln w="12700">
            <a:solidFill>
              <a:srgbClr val="00B4D8"/>
            </a:solidFill>
            <a:prstDash val="solid"/>
          </a:ln>
        </p:spPr>
      </p:sp>
      <p:sp>
        <p:nvSpPr>
          <p:cNvPr id="15" name="Text 13"/>
          <p:cNvSpPr/>
          <p:nvPr/>
        </p:nvSpPr>
        <p:spPr>
          <a:xfrm>
            <a:off x="457200" y="292608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914400" y="2944368"/>
            <a:ext cx="3566160" cy="320040"/>
          </a:xfrm>
          <a:prstGeom prst="rect">
            <a:avLst/>
          </a:prstGeom>
          <a:noFill/>
          <a:ln/>
        </p:spPr>
        <p:txBody>
          <a:bodyPr wrap="square"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Calculate headcount cost</a:t>
            </a:r>
            <a:endParaRPr lang="en-US" sz="1200" dirty="0"/>
          </a:p>
        </p:txBody>
      </p:sp>
      <p:sp>
        <p:nvSpPr>
          <p:cNvPr id="17" name="Text 15"/>
          <p:cNvSpPr/>
          <p:nvPr/>
        </p:nvSpPr>
        <p:spPr>
          <a:xfrm>
            <a:off x="914400" y="3273552"/>
            <a:ext cx="3566160" cy="1051560"/>
          </a:xfrm>
          <a:prstGeom prst="rect">
            <a:avLst/>
          </a:prstGeom>
          <a:noFill/>
          <a:ln/>
        </p:spPr>
        <p:txBody>
          <a:bodyPr wrap="square" rtlCol="0" anchor="ctr"/>
          <a:lstStyle/>
          <a:p>
            <a:pPr algn="l" indent="0" marL="0">
              <a:buNone/>
            </a:pPr>
            <a:r>
              <a:rPr lang="en-US" sz="1000" dirty="0">
                <a:solidFill>
                  <a:srgbClr val="1E3A5F"/>
                </a:solidFill>
                <a:latin typeface="Calibri" pitchFamily="34" charset="0"/>
                <a:ea typeface="Calibri" pitchFamily="34" charset="-122"/>
                <a:cs typeface="Calibri" pitchFamily="34" charset="-120"/>
              </a:rPr>
              <a:t>One platform engineer for 10 months = roughly $200k loaded. Subtract from your projected savings. If the math is positive in under 18 months, the business case exists.</a:t>
            </a:r>
            <a:endParaRPr lang="en-US" sz="1000" dirty="0"/>
          </a:p>
        </p:txBody>
      </p:sp>
      <p:sp>
        <p:nvSpPr>
          <p:cNvPr id="18" name="Shape 16"/>
          <p:cNvSpPr/>
          <p:nvPr/>
        </p:nvSpPr>
        <p:spPr>
          <a:xfrm>
            <a:off x="457200" y="4434840"/>
            <a:ext cx="365760" cy="365760"/>
          </a:xfrm>
          <a:prstGeom prst="ellipse">
            <a:avLst/>
          </a:prstGeom>
          <a:solidFill>
            <a:srgbClr val="00B4D8"/>
          </a:solidFill>
          <a:ln w="12700">
            <a:solidFill>
              <a:srgbClr val="00B4D8"/>
            </a:solidFill>
            <a:prstDash val="solid"/>
          </a:ln>
        </p:spPr>
      </p:sp>
      <p:sp>
        <p:nvSpPr>
          <p:cNvPr id="19" name="Text 17"/>
          <p:cNvSpPr/>
          <p:nvPr/>
        </p:nvSpPr>
        <p:spPr>
          <a:xfrm>
            <a:off x="457200" y="44348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914400" y="4453128"/>
            <a:ext cx="3566160" cy="320040"/>
          </a:xfrm>
          <a:prstGeom prst="rect">
            <a:avLst/>
          </a:prstGeom>
          <a:noFill/>
          <a:ln/>
        </p:spPr>
        <p:txBody>
          <a:bodyPr wrap="square"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Greenlight a pilot scope</a:t>
            </a:r>
            <a:endParaRPr lang="en-US" sz="1200" dirty="0"/>
          </a:p>
        </p:txBody>
      </p:sp>
      <p:sp>
        <p:nvSpPr>
          <p:cNvPr id="21" name="Text 19"/>
          <p:cNvSpPr/>
          <p:nvPr/>
        </p:nvSpPr>
        <p:spPr>
          <a:xfrm>
            <a:off x="914400" y="4782312"/>
            <a:ext cx="3566160" cy="1051560"/>
          </a:xfrm>
          <a:prstGeom prst="rect">
            <a:avLst/>
          </a:prstGeom>
          <a:noFill/>
          <a:ln/>
        </p:spPr>
        <p:txBody>
          <a:bodyPr wrap="square" rtlCol="0" anchor="ctr"/>
          <a:lstStyle/>
          <a:p>
            <a:pPr algn="l" indent="0" marL="0">
              <a:buNone/>
            </a:pPr>
            <a:r>
              <a:rPr lang="en-US" sz="1000" dirty="0">
                <a:solidFill>
                  <a:srgbClr val="1E3A5F"/>
                </a:solidFill>
                <a:latin typeface="Calibri" pitchFamily="34" charset="0"/>
                <a:ea typeface="Calibri" pitchFamily="34" charset="-122"/>
                <a:cs typeface="Calibri" pitchFamily="34" charset="-120"/>
              </a:rPr>
              <a:t>Not "migrate everything." Pick one non-critical service, run it through the OTel collector to Tempo for traces only. 6-week pilot. Evaluate before committing the roadmap.</a:t>
            </a:r>
            <a:endParaRPr lang="en-US" sz="1000" dirty="0"/>
          </a:p>
        </p:txBody>
      </p:sp>
      <p:sp>
        <p:nvSpPr>
          <p:cNvPr id="22" name="Shape 20"/>
          <p:cNvSpPr/>
          <p:nvPr/>
        </p:nvSpPr>
        <p:spPr>
          <a:xfrm>
            <a:off x="4754880" y="1417320"/>
            <a:ext cx="365760" cy="365760"/>
          </a:xfrm>
          <a:prstGeom prst="ellipse">
            <a:avLst/>
          </a:prstGeom>
          <a:solidFill>
            <a:srgbClr val="00B4D8"/>
          </a:solidFill>
          <a:ln w="12700">
            <a:solidFill>
              <a:srgbClr val="00B4D8"/>
            </a:solidFill>
            <a:prstDash val="solid"/>
          </a:ln>
        </p:spPr>
      </p:sp>
      <p:sp>
        <p:nvSpPr>
          <p:cNvPr id="23" name="Text 21"/>
          <p:cNvSpPr/>
          <p:nvPr/>
        </p:nvSpPr>
        <p:spPr>
          <a:xfrm>
            <a:off x="4754880" y="141732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4" name="Text 22"/>
          <p:cNvSpPr/>
          <p:nvPr/>
        </p:nvSpPr>
        <p:spPr>
          <a:xfrm>
            <a:off x="5212080" y="1435608"/>
            <a:ext cx="3566160" cy="320040"/>
          </a:xfrm>
          <a:prstGeom prst="rect">
            <a:avLst/>
          </a:prstGeom>
          <a:noFill/>
          <a:ln/>
        </p:spPr>
        <p:txBody>
          <a:bodyPr wrap="square"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Start with traces</a:t>
            </a:r>
            <a:endParaRPr lang="en-US" sz="1200" dirty="0"/>
          </a:p>
        </p:txBody>
      </p:sp>
      <p:sp>
        <p:nvSpPr>
          <p:cNvPr id="25" name="Text 23"/>
          <p:cNvSpPr/>
          <p:nvPr/>
        </p:nvSpPr>
        <p:spPr>
          <a:xfrm>
            <a:off x="5212080" y="1764792"/>
            <a:ext cx="3566160" cy="1051560"/>
          </a:xfrm>
          <a:prstGeom prst="rect">
            <a:avLst/>
          </a:prstGeom>
          <a:noFill/>
          <a:ln/>
        </p:spPr>
        <p:txBody>
          <a:bodyPr wrap="square" rtlCol="0" anchor="ctr"/>
          <a:lstStyle/>
          <a:p>
            <a:pPr algn="l" indent="0" marL="0">
              <a:buNone/>
            </a:pPr>
            <a:r>
              <a:rPr lang="en-US" sz="1000" dirty="0">
                <a:solidFill>
                  <a:srgbClr val="1E3A5F"/>
                </a:solidFill>
                <a:latin typeface="Calibri" pitchFamily="34" charset="0"/>
                <a:ea typeface="Calibri" pitchFamily="34" charset="-122"/>
                <a:cs typeface="Calibri" pitchFamily="34" charset="-120"/>
              </a:rPr>
              <a:t>One service, OTLP traces to Tempo. Use the OTel Helm chart. Get it running, run it stable for 2 weeks, write the runbook. This is your proof of concept.</a:t>
            </a:r>
            <a:endParaRPr lang="en-US" sz="1000" dirty="0"/>
          </a:p>
        </p:txBody>
      </p:sp>
      <p:sp>
        <p:nvSpPr>
          <p:cNvPr id="26" name="Shape 24"/>
          <p:cNvSpPr/>
          <p:nvPr/>
        </p:nvSpPr>
        <p:spPr>
          <a:xfrm>
            <a:off x="4754880" y="2926080"/>
            <a:ext cx="365760" cy="365760"/>
          </a:xfrm>
          <a:prstGeom prst="ellipse">
            <a:avLst/>
          </a:prstGeom>
          <a:solidFill>
            <a:srgbClr val="00B4D8"/>
          </a:solidFill>
          <a:ln w="12700">
            <a:solidFill>
              <a:srgbClr val="00B4D8"/>
            </a:solidFill>
            <a:prstDash val="solid"/>
          </a:ln>
        </p:spPr>
      </p:sp>
      <p:sp>
        <p:nvSpPr>
          <p:cNvPr id="27" name="Text 25"/>
          <p:cNvSpPr/>
          <p:nvPr/>
        </p:nvSpPr>
        <p:spPr>
          <a:xfrm>
            <a:off x="4754880" y="292608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Text 26"/>
          <p:cNvSpPr/>
          <p:nvPr/>
        </p:nvSpPr>
        <p:spPr>
          <a:xfrm>
            <a:off x="5212080" y="2944368"/>
            <a:ext cx="3566160" cy="320040"/>
          </a:xfrm>
          <a:prstGeom prst="rect">
            <a:avLst/>
          </a:prstGeom>
          <a:noFill/>
          <a:ln/>
        </p:spPr>
        <p:txBody>
          <a:bodyPr wrap="square"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Decide sampling in week 2</a:t>
            </a:r>
            <a:endParaRPr lang="en-US" sz="1200" dirty="0"/>
          </a:p>
        </p:txBody>
      </p:sp>
      <p:sp>
        <p:nvSpPr>
          <p:cNvPr id="29" name="Text 27"/>
          <p:cNvSpPr/>
          <p:nvPr/>
        </p:nvSpPr>
        <p:spPr>
          <a:xfrm>
            <a:off x="5212080" y="3273552"/>
            <a:ext cx="3566160" cy="1051560"/>
          </a:xfrm>
          <a:prstGeom prst="rect">
            <a:avLst/>
          </a:prstGeom>
          <a:noFill/>
          <a:ln/>
        </p:spPr>
        <p:txBody>
          <a:bodyPr wrap="square" rtlCol="0" anchor="ctr"/>
          <a:lstStyle/>
          <a:p>
            <a:pPr algn="l" indent="0" marL="0">
              <a:buNone/>
            </a:pPr>
            <a:r>
              <a:rPr lang="en-US" sz="1000" dirty="0">
                <a:solidFill>
                  <a:srgbClr val="1E3A5F"/>
                </a:solidFill>
                <a:latin typeface="Calibri" pitchFamily="34" charset="0"/>
                <a:ea typeface="Calibri" pitchFamily="34" charset="-122"/>
                <a:cs typeface="Calibri" pitchFamily="34" charset="-120"/>
              </a:rPr>
              <a:t>Answer one question: for this service, is tail-based or head-based sampling the right model? Document the decision and the rationale. Don't skip this.</a:t>
            </a:r>
            <a:endParaRPr lang="en-US" sz="1000" dirty="0"/>
          </a:p>
        </p:txBody>
      </p:sp>
      <p:sp>
        <p:nvSpPr>
          <p:cNvPr id="30" name="Shape 28"/>
          <p:cNvSpPr/>
          <p:nvPr/>
        </p:nvSpPr>
        <p:spPr>
          <a:xfrm>
            <a:off x="4754880" y="4434840"/>
            <a:ext cx="365760" cy="365760"/>
          </a:xfrm>
          <a:prstGeom prst="ellipse">
            <a:avLst/>
          </a:prstGeom>
          <a:solidFill>
            <a:srgbClr val="00B4D8"/>
          </a:solidFill>
          <a:ln w="12700">
            <a:solidFill>
              <a:srgbClr val="00B4D8"/>
            </a:solidFill>
            <a:prstDash val="solid"/>
          </a:ln>
        </p:spPr>
      </p:sp>
      <p:sp>
        <p:nvSpPr>
          <p:cNvPr id="31" name="Text 29"/>
          <p:cNvSpPr/>
          <p:nvPr/>
        </p:nvSpPr>
        <p:spPr>
          <a:xfrm>
            <a:off x="4754880" y="443484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30"/>
          <p:cNvSpPr/>
          <p:nvPr/>
        </p:nvSpPr>
        <p:spPr>
          <a:xfrm>
            <a:off x="5212080" y="4453128"/>
            <a:ext cx="3566160" cy="320040"/>
          </a:xfrm>
          <a:prstGeom prst="rect">
            <a:avLst/>
          </a:prstGeom>
          <a:noFill/>
          <a:ln/>
        </p:spPr>
        <p:txBody>
          <a:bodyPr wrap="square" rtlCol="0" anchor="ctr"/>
          <a:lstStyle/>
          <a:p>
            <a:pPr algn="l" indent="0" marL="0">
              <a:buNone/>
            </a:pPr>
            <a:r>
              <a:rPr lang="en-US" sz="1200" b="1" dirty="0">
                <a:solidFill>
                  <a:srgbClr val="1E3A5F"/>
                </a:solidFill>
                <a:latin typeface="Calibri" pitchFamily="34" charset="0"/>
                <a:ea typeface="Calibri" pitchFamily="34" charset="-122"/>
                <a:cs typeface="Calibri" pitchFamily="34" charset="-120"/>
              </a:rPr>
              <a:t>Inventory your alert rules before touching metrics</a:t>
            </a:r>
            <a:endParaRPr lang="en-US" sz="1200" dirty="0"/>
          </a:p>
        </p:txBody>
      </p:sp>
      <p:sp>
        <p:nvSpPr>
          <p:cNvPr id="33" name="Text 31"/>
          <p:cNvSpPr/>
          <p:nvPr/>
        </p:nvSpPr>
        <p:spPr>
          <a:xfrm>
            <a:off x="5212080" y="4782312"/>
            <a:ext cx="3566160" cy="1051560"/>
          </a:xfrm>
          <a:prstGeom prst="rect">
            <a:avLst/>
          </a:prstGeom>
          <a:noFill/>
          <a:ln/>
        </p:spPr>
        <p:txBody>
          <a:bodyPr wrap="square" rtlCol="0" anchor="ctr"/>
          <a:lstStyle/>
          <a:p>
            <a:pPr algn="l" indent="0" marL="0">
              <a:buNone/>
            </a:pPr>
            <a:r>
              <a:rPr lang="en-US" sz="1000" dirty="0">
                <a:solidFill>
                  <a:srgbClr val="1E3A5F"/>
                </a:solidFill>
                <a:latin typeface="Calibri" pitchFamily="34" charset="0"/>
                <a:ea typeface="Calibri" pitchFamily="34" charset="-122"/>
                <a:cs typeface="Calibri" pitchFamily="34" charset="-120"/>
              </a:rPr>
              <a:t>Count your Datadog monitors. Budget 0.3× your metrics migration timeline for the alerting rewrite. Flag this to your lead before the metrics migration starts.</a:t>
            </a:r>
            <a:endParaRPr lang="en-US" sz="1000" dirty="0"/>
          </a:p>
        </p:txBody>
      </p:sp>
      <p:sp>
        <p:nvSpPr>
          <p:cNvPr id="34" name="Shape 32"/>
          <p:cNvSpPr/>
          <p:nvPr/>
        </p:nvSpPr>
        <p:spPr>
          <a:xfrm>
            <a:off x="0" y="6583680"/>
            <a:ext cx="12192000" cy="274320"/>
          </a:xfrm>
          <a:prstGeom prst="rect">
            <a:avLst/>
          </a:prstGeom>
          <a:solidFill>
            <a:srgbClr val="1B2A4A"/>
          </a:solidFill>
          <a:ln w="12700">
            <a:solidFill>
              <a:srgbClr val="1B2A4A"/>
            </a:solidFill>
            <a:prstDash val="solid"/>
          </a:ln>
        </p:spPr>
      </p:sp>
      <p:sp>
        <p:nvSpPr>
          <p:cNvPr id="35" name="Text 33"/>
          <p:cNvSpPr/>
          <p:nvPr/>
        </p:nvSpPr>
        <p:spPr>
          <a:xfrm>
            <a:off x="182880" y="6601968"/>
            <a:ext cx="8229600" cy="22860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SECTION 5 — WHAT WE'D DO DIFFERENTLY</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2A4A"/>
          </a:solidFill>
          <a:ln w="12700">
            <a:solidFill>
              <a:srgbClr val="1B2A4A"/>
            </a:solidFill>
            <a:prstDash val="solid"/>
          </a:ln>
        </p:spPr>
      </p:sp>
      <p:sp>
        <p:nvSpPr>
          <p:cNvPr id="3" name="Shape 1"/>
          <p:cNvSpPr/>
          <p:nvPr/>
        </p:nvSpPr>
        <p:spPr>
          <a:xfrm>
            <a:off x="0" y="0"/>
            <a:ext cx="12192000" cy="54864"/>
          </a:xfrm>
          <a:prstGeom prst="rect">
            <a:avLst/>
          </a:prstGeom>
          <a:solidFill>
            <a:srgbClr val="00B4D8"/>
          </a:solidFill>
          <a:ln w="12700">
            <a:solidFill>
              <a:srgbClr val="00B4D8"/>
            </a:solidFill>
            <a:prstDash val="solid"/>
          </a:ln>
        </p:spPr>
      </p:sp>
      <p:sp>
        <p:nvSpPr>
          <p:cNvPr id="4" name="Text 2"/>
          <p:cNvSpPr/>
          <p:nvPr/>
        </p:nvSpPr>
        <p:spPr>
          <a:xfrm>
            <a:off x="457200" y="1371600"/>
            <a:ext cx="8229600" cy="1371600"/>
          </a:xfrm>
          <a:prstGeom prst="rect">
            <a:avLst/>
          </a:prstGeom>
          <a:noFill/>
          <a:ln/>
          <a:effectLst>
            <a:outerShdw sx="100000" sy="100000" kx="0" ky="0" algn="bl" rotWithShape="0" blurRad="76200" dist="38100" dir="2700000">
              <a:srgbClr val="00000040">
                <a:alpha val="25000"/>
              </a:srgbClr>
            </a:outerShdw>
          </a:effectLst>
        </p:spPr>
        <p:txBody>
          <a:bodyPr wrap="square" rtlCol="0" anchor="ctr"/>
          <a:lstStyle/>
          <a:p>
            <a:pPr algn="l" indent="0" marL="0">
              <a:buNone/>
            </a:pPr>
            <a:r>
              <a:rPr lang="en-US" sz="6000" b="1" dirty="0">
                <a:solidFill>
                  <a:srgbClr val="E8F4FD"/>
                </a:solidFill>
                <a:latin typeface="Calibri" pitchFamily="34" charset="0"/>
                <a:ea typeface="Calibri" pitchFamily="34" charset="-122"/>
                <a:cs typeface="Calibri" pitchFamily="34" charset="-120"/>
              </a:rPr>
              <a:t>Questions?</a:t>
            </a:r>
            <a:endParaRPr lang="en-US" sz="6000" dirty="0"/>
          </a:p>
        </p:txBody>
      </p:sp>
      <p:sp>
        <p:nvSpPr>
          <p:cNvPr id="5" name="Text 3"/>
          <p:cNvSpPr/>
          <p:nvPr/>
        </p:nvSpPr>
        <p:spPr>
          <a:xfrm>
            <a:off x="457200" y="2743200"/>
            <a:ext cx="4572000" cy="548640"/>
          </a:xfrm>
          <a:prstGeom prst="rect">
            <a:avLst/>
          </a:prstGeom>
          <a:noFill/>
          <a:ln/>
        </p:spPr>
        <p:txBody>
          <a:bodyPr wrap="square" rtlCol="0" anchor="ctr"/>
          <a:lstStyle/>
          <a:p>
            <a:pPr algn="l" indent="0" marL="0">
              <a:buNone/>
            </a:pPr>
            <a:r>
              <a:rPr lang="en-US" sz="2200" dirty="0">
                <a:solidFill>
                  <a:srgbClr val="00B4D8"/>
                </a:solidFill>
                <a:latin typeface="Calibri" pitchFamily="34" charset="0"/>
                <a:ea typeface="Calibri" pitchFamily="34" charset="-122"/>
                <a:cs typeface="Calibri" pitchFamily="34" charset="-120"/>
              </a:rPr>
              <a:t>10 minutes</a:t>
            </a:r>
            <a:endParaRPr lang="en-US" sz="2200" dirty="0"/>
          </a:p>
        </p:txBody>
      </p:sp>
      <p:sp>
        <p:nvSpPr>
          <p:cNvPr id="6" name="Shape 4"/>
          <p:cNvSpPr/>
          <p:nvPr/>
        </p:nvSpPr>
        <p:spPr>
          <a:xfrm>
            <a:off x="365760" y="3840480"/>
            <a:ext cx="5029200" cy="2286000"/>
          </a:xfrm>
          <a:prstGeom prst="rect">
            <a:avLst/>
          </a:prstGeom>
          <a:solidFill>
            <a:srgbClr val="1E3A5F">
              <a:alpha val="30000"/>
            </a:srgbClr>
          </a:solidFill>
          <a:ln w="6350">
            <a:solidFill>
              <a:srgbClr val="2D6A9F"/>
            </a:solidFill>
            <a:prstDash val="solid"/>
          </a:ln>
        </p:spPr>
      </p:sp>
      <p:sp>
        <p:nvSpPr>
          <p:cNvPr id="7" name="Text 5"/>
          <p:cNvSpPr/>
          <p:nvPr/>
        </p:nvSpPr>
        <p:spPr>
          <a:xfrm>
            <a:off x="457200" y="3977640"/>
            <a:ext cx="4754880" cy="365760"/>
          </a:xfrm>
          <a:prstGeom prst="rect">
            <a:avLst/>
          </a:prstGeom>
          <a:noFill/>
          <a:ln/>
        </p:spPr>
        <p:txBody>
          <a:bodyPr wrap="square" rtlCol="0" anchor="ctr"/>
          <a:lstStyle/>
          <a:p>
            <a:pPr algn="l" indent="0" marL="0">
              <a:buNone/>
            </a:pPr>
            <a:r>
              <a:rPr lang="en-US" sz="1500" b="1" dirty="0">
                <a:solidFill>
                  <a:srgbClr val="00B4D8"/>
                </a:solidFill>
                <a:latin typeface="Calibri" pitchFamily="34" charset="0"/>
                <a:ea typeface="Calibri" pitchFamily="34" charset="-122"/>
                <a:cs typeface="Calibri" pitchFamily="34" charset="-120"/>
              </a:rPr>
              <a:t>Platform Team</a:t>
            </a:r>
            <a:endParaRPr lang="en-US" sz="1500" dirty="0"/>
          </a:p>
        </p:txBody>
      </p:sp>
      <p:sp>
        <p:nvSpPr>
          <p:cNvPr id="8" name="Text 6"/>
          <p:cNvSpPr/>
          <p:nvPr/>
        </p:nvSpPr>
        <p:spPr>
          <a:xfrm>
            <a:off x="457200" y="4370832"/>
            <a:ext cx="4754880" cy="640080"/>
          </a:xfrm>
          <a:prstGeom prst="rect">
            <a:avLst/>
          </a:prstGeom>
          <a:noFill/>
          <a:ln/>
        </p:spPr>
        <p:txBody>
          <a:bodyPr wrap="square" rtlCol="0" anchor="ctr"/>
          <a:lstStyle/>
          <a:p>
            <a:pPr algn="l" indent="0" marL="0">
              <a:buNone/>
            </a:pPr>
            <a:r>
              <a:rPr lang="en-US" sz="1300" dirty="0">
                <a:solidFill>
                  <a:srgbClr val="E8F4FD"/>
                </a:solidFill>
                <a:latin typeface="Calibri" pitchFamily="34" charset="0"/>
                <a:ea typeface="Calibri" pitchFamily="34" charset="-122"/>
                <a:cs typeface="Calibri" pitchFamily="34" charset="-120"/>
              </a:rPr>
              <a:t>platform@[company].com</a:t>
            </a:r>
            <a:endParaRPr lang="en-US" sz="1300" dirty="0"/>
          </a:p>
          <a:p>
            <a:pPr algn="l" indent="0" marL="0">
              <a:buNone/>
            </a:pPr>
            <a:r>
              <a:rPr lang="en-US" sz="1300" dirty="0">
                <a:solidFill>
                  <a:srgbClr val="E8F4FD"/>
                </a:solidFill>
                <a:latin typeface="Calibri" pitchFamily="34" charset="0"/>
                <a:ea typeface="Calibri" pitchFamily="34" charset="-122"/>
                <a:cs typeface="Calibri" pitchFamily="34" charset="-120"/>
              </a:rPr>
              <a:t>Slack: #platform-otel</a:t>
            </a:r>
            <a:endParaRPr lang="en-US" sz="1300" dirty="0"/>
          </a:p>
        </p:txBody>
      </p:sp>
      <p:sp>
        <p:nvSpPr>
          <p:cNvPr id="9" name="Text 7"/>
          <p:cNvSpPr/>
          <p:nvPr/>
        </p:nvSpPr>
        <p:spPr>
          <a:xfrm>
            <a:off x="457200" y="5047488"/>
            <a:ext cx="4754880" cy="548640"/>
          </a:xfrm>
          <a:prstGeom prst="rect">
            <a:avLst/>
          </a:prstGeom>
          <a:noFill/>
          <a:ln/>
        </p:spPr>
        <p:txBody>
          <a:bodyPr wrap="square" rtlCol="0" anchor="ctr"/>
          <a:lstStyle/>
          <a:p>
            <a:pPr algn="l" indent="0" marL="0">
              <a:buNone/>
            </a:pPr>
            <a:r>
              <a:rPr lang="en-US" sz="1200" dirty="0">
                <a:solidFill>
                  <a:srgbClr val="2D6A9F"/>
                </a:solidFill>
                <a:latin typeface="Calibri" pitchFamily="34" charset="0"/>
                <a:ea typeface="Calibri" pitchFamily="34" charset="-122"/>
                <a:cs typeface="Calibri" pitchFamily="34" charset="-120"/>
              </a:rPr>
              <a:t>This deck + recorded session:</a:t>
            </a:r>
            <a:endParaRPr lang="en-US" sz="1200" dirty="0"/>
          </a:p>
          <a:p>
            <a:pPr algn="l" indent="0" marL="0">
              <a:buNone/>
            </a:pPr>
            <a:r>
              <a:rPr lang="en-US" sz="1200" dirty="0">
                <a:solidFill>
                  <a:srgbClr val="2D6A9F"/>
                </a:solidFill>
                <a:latin typeface="Calibri" pitchFamily="34" charset="0"/>
                <a:ea typeface="Calibri" pitchFamily="34" charset="-122"/>
                <a:cs typeface="Calibri" pitchFamily="34" charset="-120"/>
              </a:rPr>
              <a:t>confluence.internal/otel-migration-2026</a:t>
            </a:r>
            <a:endParaRPr lang="en-US" sz="1200" dirty="0"/>
          </a:p>
        </p:txBody>
      </p:sp>
      <p:sp>
        <p:nvSpPr>
          <p:cNvPr id="10" name="Text 8"/>
          <p:cNvSpPr/>
          <p:nvPr/>
        </p:nvSpPr>
        <p:spPr>
          <a:xfrm>
            <a:off x="5669280" y="3840480"/>
            <a:ext cx="3200400" cy="2286000"/>
          </a:xfrm>
          <a:prstGeom prst="rect">
            <a:avLst/>
          </a:prstGeom>
          <a:noFill/>
          <a:ln/>
        </p:spPr>
        <p:txBody>
          <a:bodyPr wrap="square" rtlCol="0" anchor="ctr"/>
          <a:lstStyle/>
          <a:p>
            <a:pPr algn="l" indent="0" marL="0">
              <a:buNone/>
            </a:pPr>
            <a:r>
              <a:rPr lang="en-US" sz="1400" i="1" dirty="0">
                <a:solidFill>
                  <a:srgbClr val="E8F4FD"/>
                </a:solidFill>
                <a:latin typeface="Calibri" pitchFamily="34" charset="0"/>
                <a:ea typeface="Calibri" pitchFamily="34" charset="-122"/>
                <a:cs typeface="Calibri" pitchFamily="34" charset="-120"/>
              </a:rPr>
              <a:t>"OTel doesn't eliminate observability debt — it moves it.</a:t>
            </a:r>
            <a:endParaRPr lang="en-US" sz="1400" dirty="0"/>
          </a:p>
          <a:p>
            <a:pPr algn="l" indent="0" marL="0">
              <a:buNone/>
            </a:pPr>
            <a:r>
              <a:rPr lang="en-US" sz="1400" i="1" dirty="0">
                <a:solidFill>
                  <a:srgbClr val="E8F4FD"/>
                </a:solidFill>
                <a:latin typeface="Calibri" pitchFamily="34" charset="0"/>
                <a:ea typeface="Calibri" pitchFamily="34" charset="-122"/>
                <a:cs typeface="Calibri" pitchFamily="34" charset="-120"/>
              </a:rPr>
              <a:t>Plan accordingly."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$720k/yr to OTel: A Migration Story</dc:title>
  <dc:subject>OTel Migration</dc:subject>
  <dc:creator>Platform Team</dc:creator>
  <cp:lastModifiedBy>Platform Team</cp:lastModifiedBy>
  <cp:revision>1</cp:revision>
  <dcterms:created xsi:type="dcterms:W3CDTF">2026-04-22T07:43:29Z</dcterms:created>
  <dcterms:modified xsi:type="dcterms:W3CDTF">2026-04-22T07:43:29Z</dcterms:modified>
</cp:coreProperties>
</file>